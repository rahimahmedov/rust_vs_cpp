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9" r:id="rId3"/>
    <p:sldId id="298" r:id="rId4"/>
    <p:sldId id="263" r:id="rId5"/>
    <p:sldId id="293" r:id="rId6"/>
    <p:sldId id="258" r:id="rId7"/>
    <p:sldId id="261" r:id="rId8"/>
    <p:sldId id="265" r:id="rId9"/>
    <p:sldId id="268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85" r:id="rId18"/>
    <p:sldId id="281" r:id="rId19"/>
    <p:sldId id="288" r:id="rId20"/>
    <p:sldId id="278" r:id="rId21"/>
    <p:sldId id="302" r:id="rId22"/>
    <p:sldId id="304" r:id="rId23"/>
    <p:sldId id="306" r:id="rId24"/>
    <p:sldId id="308" r:id="rId25"/>
    <p:sldId id="316" r:id="rId26"/>
    <p:sldId id="317" r:id="rId27"/>
    <p:sldId id="318" r:id="rId28"/>
    <p:sldId id="319" r:id="rId29"/>
    <p:sldId id="320" r:id="rId30"/>
  </p:sldIdLst>
  <p:sldSz cx="12192000" cy="6858000"/>
  <p:notesSz cx="6858000" cy="9144000"/>
  <p:defaultTextStyle>
    <a:defPPr>
      <a:defRPr lang="e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46"/>
    <p:restoredTop sz="85044"/>
  </p:normalViewPr>
  <p:slideViewPr>
    <p:cSldViewPr snapToGrid="0">
      <p:cViewPr varScale="1">
        <p:scale>
          <a:sx n="108" d="100"/>
          <a:sy n="108" d="100"/>
        </p:scale>
        <p:origin x="21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B2C63-9184-7B41-897D-B987911E75C8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A970C-2A22-694C-8F30-D4BBC5700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44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A970C-2A22-694C-8F30-D4BBC57008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5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A970C-2A22-694C-8F30-D4BBC5700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3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I'll explain heap and stack memory with a visual diagram to make the concepts </a:t>
            </a:r>
            <a:r>
              <a:rPr lang="en-US" dirty="0" err="1"/>
              <a:t>clear.Let</a:t>
            </a:r>
            <a:r>
              <a:rPr lang="en-US" dirty="0"/>
              <a:t> me create a clear illustrative diagram showing how stack and heap memory work.## The core idea</a:t>
            </a:r>
          </a:p>
          <a:p>
            <a:r>
              <a:rPr lang="en-US" dirty="0"/>
              <a:t>When a program runs, it gets two main regions of memory to work with. They behave very differently because they solve different problems.</a:t>
            </a:r>
          </a:p>
          <a:p>
            <a:r>
              <a:rPr lang="en-US" b="1" dirty="0"/>
              <a:t>The stack</a:t>
            </a:r>
          </a:p>
          <a:p>
            <a:r>
              <a:rPr lang="en-US" dirty="0"/>
              <a:t>The stack handles </a:t>
            </a:r>
            <a:r>
              <a:rPr lang="en-US" b="1" dirty="0"/>
              <a:t>function calls and local variables</a:t>
            </a:r>
            <a:r>
              <a:rPr lang="en-US" dirty="0"/>
              <a:t>. Every time you call a function, the program pushes a new "frame" on top — containing that function's parameters and local variables. When the function returns, its frame is popped off and that memory is instantly reclaimed.</a:t>
            </a:r>
          </a:p>
          <a:p>
            <a:r>
              <a:rPr lang="en-US" dirty="0"/>
              <a:t>It's called a stack because it works exactly like a stack of plates: last in, first out (LIFO). You can only add or remove from the top.</a:t>
            </a:r>
          </a:p>
          <a:p>
            <a:r>
              <a:rPr lang="en-US" dirty="0"/>
              <a:t>The stack is fast because allocation is just moving a pointer up by a few bytes. There's no searching, no bookkeeping. The downside: size must be known at compile time, and the total stack space is limited — recurse too deep and you get a stack overflow.</a:t>
            </a:r>
          </a:p>
          <a:p>
            <a:r>
              <a:rPr lang="en-US" b="1" dirty="0"/>
              <a:t>The heap</a:t>
            </a:r>
          </a:p>
          <a:p>
            <a:r>
              <a:rPr lang="en-US" dirty="0"/>
              <a:t>The heap handles everything else — objects whose size isn't known until runtime, data that needs to outlive the function that created it, or anything large. When you write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Object()</a:t>
            </a:r>
            <a:r>
              <a:rPr lang="en-US" dirty="0"/>
              <a:t> in Java,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malloc()</a:t>
            </a:r>
            <a:r>
              <a:rPr lang="en-US" dirty="0"/>
              <a:t> in C, or create a list in Python, that memory comes from the heap.</a:t>
            </a:r>
          </a:p>
          <a:p>
            <a:r>
              <a:rPr lang="en-US" dirty="0"/>
              <a:t>Unlike the stack's strict ordering, the heap is more like a warehouse where you can request a chunk of any size at any time. The memory manager finds free space, gives you the address, and you (or the garbage collector) are responsible for releasing it later.</a:t>
            </a:r>
          </a:p>
          <a:p>
            <a:r>
              <a:rPr lang="en-US" b="1" dirty="0"/>
              <a:t>How they connect</a:t>
            </a:r>
          </a:p>
          <a:p>
            <a:r>
              <a:rPr lang="en-US" dirty="0"/>
              <a:t>Look at the orange arrow in the diagram — that's a </a:t>
            </a:r>
            <a:r>
              <a:rPr lang="en-US" b="1" dirty="0"/>
              <a:t>pointer</a:t>
            </a:r>
            <a:r>
              <a:rPr lang="en-US" dirty="0"/>
              <a:t>. A local variable on the stack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en-US" dirty="0"/>
              <a:t>) holds the </a:t>
            </a:r>
            <a:r>
              <a:rPr lang="en-US" i="1" dirty="0"/>
              <a:t>address</a:t>
            </a:r>
            <a:r>
              <a:rPr lang="en-US" dirty="0"/>
              <a:t> of an object that lives on the heap. This is how the two regions cooperate: small, short-lived references on the stack point to large, long-lived data on the heap.</a:t>
            </a:r>
          </a:p>
          <a:p>
            <a:r>
              <a:rPr lang="en-US" b="1" dirty="0"/>
              <a:t>Quick comparison</a:t>
            </a:r>
          </a:p>
          <a:p>
            <a:r>
              <a:rPr lang="en-US" dirty="0"/>
              <a:t>Stack Heap Speed Very fast Slower Size Small, fixed Large, growable Lifetime Until function returns Until manually freed or </a:t>
            </a:r>
            <a:r>
              <a:rPr lang="en-US" dirty="0" err="1"/>
              <a:t>GC'd</a:t>
            </a:r>
            <a:r>
              <a:rPr lang="en-US" dirty="0"/>
              <a:t> Order Strict LIFO Random access Common bugs Stack overflow Memory leaks, dangling pointers </a:t>
            </a:r>
          </a:p>
          <a:p>
            <a:r>
              <a:rPr lang="en-US" dirty="0"/>
              <a:t>A simple way to remember it: </a:t>
            </a:r>
            <a:r>
              <a:rPr lang="en-US" b="1" dirty="0"/>
              <a:t>stack = scratch paper for the current function</a:t>
            </a:r>
            <a:r>
              <a:rPr lang="en-US" dirty="0"/>
              <a:t>, </a:t>
            </a:r>
            <a:r>
              <a:rPr lang="en-US" b="1" dirty="0"/>
              <a:t>heap = the filing cabinet shared across the whole program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A970C-2A22-694C-8F30-D4BBC57008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36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According to the provided table of contents for </a:t>
            </a:r>
            <a:r>
              <a:rPr lang="en-US" b="1" dirty="0"/>
              <a:t>"The Rust Programming Language,"</a:t>
            </a:r>
            <a:r>
              <a:rPr lang="en-US" dirty="0"/>
              <a:t> the concept of </a:t>
            </a:r>
            <a:r>
              <a:rPr lang="en-US" b="1" dirty="0"/>
              <a:t>Ownership</a:t>
            </a:r>
            <a:r>
              <a:rPr lang="en-US" dirty="0"/>
              <a:t> is the central focus of Chapter 4,. While the sources list the structure of this section—including </a:t>
            </a:r>
            <a:r>
              <a:rPr lang="en-US" b="1" dirty="0"/>
              <a:t>"What is Ownership?"</a:t>
            </a:r>
            <a:r>
              <a:rPr lang="en-US" dirty="0"/>
              <a:t> (Chapter 4.1) and </a:t>
            </a:r>
            <a:r>
              <a:rPr lang="en-US" b="1" dirty="0"/>
              <a:t>"References and Borrowing"</a:t>
            </a:r>
            <a:r>
              <a:rPr lang="en-US" dirty="0"/>
              <a:t> (Chapter 4.2)—the full explanatory text for these chapters is not included in the current source material.</a:t>
            </a:r>
          </a:p>
          <a:p>
            <a:r>
              <a:rPr lang="en-US" i="1" dirty="0"/>
              <a:t>Please note that the following explanation is based on general knowledge of the Rust language and our previous discussion regarding the borrow mechanism; you may want to independently verify these details:</a:t>
            </a:r>
            <a:endParaRPr lang="en-US" dirty="0"/>
          </a:p>
          <a:p>
            <a:r>
              <a:rPr lang="en-US" b="1" dirty="0"/>
              <a:t>The Purpose of Ownership</a:t>
            </a:r>
          </a:p>
          <a:p>
            <a:r>
              <a:rPr lang="en-US" dirty="0"/>
              <a:t>Ownership is Rust’s unique approach to memory management. It allows the language to make memory safety guarantees without needing a garbage collector or requiring the programmer to manually allocate and free memory (as in C++).</a:t>
            </a:r>
          </a:p>
          <a:p>
            <a:r>
              <a:rPr lang="en-US" b="1" dirty="0"/>
              <a:t>The Three Rules of Ownership</a:t>
            </a:r>
          </a:p>
          <a:p>
            <a:r>
              <a:rPr lang="en-US" dirty="0"/>
              <a:t>The entire system is built upon three fundamental rules that the compiler enforces:</a:t>
            </a:r>
          </a:p>
          <a:p>
            <a:r>
              <a:rPr lang="en-US" b="1" dirty="0"/>
              <a:t>Each value in Rust has an owner:</a:t>
            </a:r>
            <a:r>
              <a:rPr lang="en-US" dirty="0"/>
              <a:t> Every piece of data is associated with a specific variable.</a:t>
            </a:r>
          </a:p>
          <a:p>
            <a:r>
              <a:rPr lang="en-US" b="1" dirty="0"/>
              <a:t>There can only be one owner at a time:</a:t>
            </a:r>
            <a:r>
              <a:rPr lang="en-US" dirty="0"/>
              <a:t> This prevents multiple variables from trying to manage the same memory simultaneously, which avoids "double free" errors.</a:t>
            </a:r>
          </a:p>
          <a:p>
            <a:r>
              <a:rPr lang="en-US" b="1" dirty="0"/>
              <a:t>When the owner goes out of scope, the value is dropped:</a:t>
            </a:r>
            <a:r>
              <a:rPr lang="en-US" dirty="0"/>
              <a:t> Rust automatically cleans up the memory as soon as the variable owning it is no longer needed.</a:t>
            </a:r>
          </a:p>
          <a:p>
            <a:r>
              <a:rPr lang="en-US" b="1" dirty="0"/>
              <a:t>Ownership and the Heap</a:t>
            </a:r>
          </a:p>
          <a:p>
            <a:r>
              <a:rPr lang="en-US" dirty="0"/>
              <a:t>For data stored on the </a:t>
            </a:r>
            <a:r>
              <a:rPr lang="en-US" b="1" dirty="0"/>
              <a:t>heap</a:t>
            </a:r>
            <a:r>
              <a:rPr lang="en-US" dirty="0"/>
              <a:t> (like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en-US" dirty="0"/>
              <a:t> type mentioned in the TOC under Chapter 8.2), ownership determines which part of the code is responsible for that memory.</a:t>
            </a:r>
          </a:p>
          <a:p>
            <a:r>
              <a:rPr lang="en-US" b="1" dirty="0"/>
              <a:t>Move Semantics:</a:t>
            </a:r>
            <a:r>
              <a:rPr lang="en-US" dirty="0"/>
              <a:t> When you assign a heap-based variable to a new variable, Rust </a:t>
            </a:r>
            <a:r>
              <a:rPr lang="en-US" b="1" dirty="0"/>
              <a:t>moves</a:t>
            </a:r>
            <a:r>
              <a:rPr lang="en-US" dirty="0"/>
              <a:t> the ownership. The original variable becomes invalid, ensuring Rule #2 is maintained.</a:t>
            </a:r>
          </a:p>
          <a:p>
            <a:r>
              <a:rPr lang="en-US" b="1" dirty="0"/>
              <a:t>Copy Semantics:</a:t>
            </a:r>
            <a:r>
              <a:rPr lang="en-US" dirty="0"/>
              <a:t> For simple types stored on the </a:t>
            </a:r>
            <a:r>
              <a:rPr lang="en-US" b="1" dirty="0"/>
              <a:t>stack</a:t>
            </a:r>
            <a:r>
              <a:rPr lang="en-US" dirty="0"/>
              <a:t> (like integers), Rust copies the data instead of moving it because copying these values is inexpensive and doesn't involve complex memory management.</a:t>
            </a:r>
          </a:p>
          <a:p>
            <a:r>
              <a:rPr lang="en-US" b="1" dirty="0"/>
              <a:t>Relationship to Borrowing</a:t>
            </a:r>
          </a:p>
          <a:p>
            <a:r>
              <a:rPr lang="en-US" dirty="0"/>
              <a:t>As we discussed in our previous conversation regarding </a:t>
            </a:r>
            <a:r>
              <a:rPr lang="en-US" b="1" dirty="0"/>
              <a:t>References and Borrowing</a:t>
            </a:r>
            <a:r>
              <a:rPr lang="en-US" dirty="0"/>
              <a:t> (Chapter 4.2), you don't always want to take full ownership of a value just to read it. Borrowing allows you to create </a:t>
            </a:r>
            <a:r>
              <a:rPr lang="en-US" b="1" dirty="0"/>
              <a:t>references</a:t>
            </a:r>
            <a:r>
              <a:rPr lang="en-US" dirty="0"/>
              <a:t> that let you access data while the original owner maintains control. This system ensures that data is always valid and that no data races occur at compile time.</a:t>
            </a:r>
          </a:p>
          <a:p>
            <a:r>
              <a:rPr lang="en-US" dirty="0"/>
              <a:t>Since the current sources only provide the chapter titles, would you like me to search for the full text of Chapter 4 to provide a more detailed breakdown with the book's specific examples?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A970C-2A22-694C-8F30-D4BBC57008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48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A970C-2A22-694C-8F30-D4BBC57008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87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A970C-2A22-694C-8F30-D4BBC57008A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6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65EA-6CE2-0C59-6EF7-819837A17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FA5D8-0760-F84B-224A-55536BB97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93F94-DF10-8169-99F9-715A0D96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C5346-F5D2-B6CD-2669-884A48D3B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F8A7D-B3BF-8505-8946-8043EEEE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98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55C4-57E7-2DB0-77B3-4D94164D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5A662-A983-73CB-4B8B-DAEDBD460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8D099-E13A-2905-B198-69C5ABE6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FC35F-669B-772A-B245-5A72AC26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3B4FF-0007-ADE7-4945-709C2EBB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41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FE61-6FD3-52B0-5554-CE4FD5E5A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DD711-CF80-5BF9-A38C-71E4F445A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99CE-79E4-C5A5-F2FE-23112BF4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9DAD-72F0-B156-6C52-6F5AEB34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02683-6B0E-829A-E049-8494E18B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9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FF0DB-B4B7-08DB-3A8B-D863124E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8968A-638B-07E1-92C4-1D548E22C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9FF57-820B-9A2E-8D48-BFB79BF6F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A0580-9581-7843-1470-73D99335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2CA2C-074D-D051-BD9F-BEB681C04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8A37-9DEB-1859-F740-597B5054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57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15874-91EA-FE41-B7D4-73206596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983A8-30E6-61B3-C2D4-A75E41434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C473A-0EE3-3C2D-F713-3B842ADEE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89EB0-9A42-5C06-7703-F77908130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35C0B7-BCBC-9E64-1557-7087574F0D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C8E56-FC79-17D2-CC1D-E3B29346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DB25D-DEF3-F6DF-387C-ACA2152D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C9BFC1-EE81-9F2F-C10E-F6475AD4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3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9C4C-A67D-D7EC-6EE1-A64F67EF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3CBBA5-150F-9C90-8983-B7B65CBCD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BC0D9-FFDE-72A6-5F70-E6E3EF8A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0CB9F-01F6-E078-76F8-38731A5F6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38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92038D-3937-83B2-B555-7120AC760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D1F22-3C50-C19F-2181-DA38F7EA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1ECCA-3F12-66CD-9134-CBEBAB0E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6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64883-DB1B-CE26-C11E-9CE5833C5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61FBF-DB1D-8429-0FDA-46836A1B4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53960-075F-23D8-A7A6-08C25FE83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BD29C-D4E1-64A2-D58B-2F9A052C3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4C29D-9644-801A-FA9C-03C2AE73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69E78-6376-2931-BEE7-95C841F8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5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64508-8701-6ECF-1E34-4BA3FC76B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F63E70-188E-B6B2-CA96-E19E100BE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8193E-B069-9CA9-E158-28055D0FF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71BFC-9229-3D1D-9149-02F99E41C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6CB6C-AD89-0886-6B2E-DB0BEAE5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D78A6-6F6C-0536-830E-993432C0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78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01D-3AD6-7F4A-2C49-4AE31815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79EA0-B1F6-80D2-E98E-B04759F2D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87398-754E-7DB3-D899-5A0243A20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0B9E1-0DB7-4179-5D5F-05C722F7F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F7E4B-51B5-B65A-B5B2-C22C991D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74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942144-346A-69F8-69E1-307214FB8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C46CF-88F6-7007-19C6-203F6337B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4CA70-D1D9-4441-511E-5317F2E25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7352B-6E84-DC42-1D84-703B9383F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117F9-3D09-765B-C83F-942D66E3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9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C47745-71A1-F268-55C1-AFC62E8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55F8-87D7-C31D-B1D8-7384AE145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46B12-82A0-39F8-C82A-AD5DE399C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8A69A-3EA9-0A47-8D25-10A00CFA088E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17E60-072A-2EBD-659D-30F08250F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824F1-8F7D-AF60-EE15-553B88616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AABA3-542F-124A-866F-97BE85F6AD0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8E8EB-A164-D6CA-ACAF-1B0E58FBCE9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255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Daxili İstifadə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793819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156522-5EC7-CE78-78F2-DE9E44BD0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03" b="6361"/>
          <a:stretch>
            <a:fillRect/>
          </a:stretch>
        </p:blipFill>
        <p:spPr>
          <a:xfrm>
            <a:off x="1489504" y="0"/>
            <a:ext cx="9212992" cy="686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380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A40854-7D33-7044-880B-E362D6A4E8B4}"/>
              </a:ext>
            </a:extLst>
          </p:cNvPr>
          <p:cNvSpPr txBox="1"/>
          <p:nvPr/>
        </p:nvSpPr>
        <p:spPr>
          <a:xfrm>
            <a:off x="508000" y="2794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F2937"/>
                </a:solidFill>
              </a:rPr>
              <a:t>What we'll cover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DDA64D-20D3-D24E-8AAD-E9997574494C}"/>
              </a:ext>
            </a:extLst>
          </p:cNvPr>
          <p:cNvSpPr/>
          <p:nvPr/>
        </p:nvSpPr>
        <p:spPr>
          <a:xfrm>
            <a:off x="508000" y="8128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17826-62BB-5A49-82D3-95C61FFAACF0}"/>
              </a:ext>
            </a:extLst>
          </p:cNvPr>
          <p:cNvSpPr txBox="1"/>
          <p:nvPr/>
        </p:nvSpPr>
        <p:spPr>
          <a:xfrm>
            <a:off x="508000" y="939800"/>
            <a:ext cx="1117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B7280"/>
                </a:solidFill>
              </a:rPr>
              <a:t>A Friday tour of Rust — 10 topics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B4A7A23-E52A-874F-9060-E9972746E935}"/>
              </a:ext>
            </a:extLst>
          </p:cNvPr>
          <p:cNvSpPr/>
          <p:nvPr/>
        </p:nvSpPr>
        <p:spPr>
          <a:xfrm>
            <a:off x="508000" y="1397000"/>
            <a:ext cx="2092960" cy="2489200"/>
          </a:xfrm>
          <a:prstGeom prst="roundRect">
            <a:avLst/>
          </a:prstGeom>
          <a:solidFill>
            <a:srgbClr val="FFF8F4"/>
          </a:solidFill>
          <a:ln w="15875" cap="flat" cmpd="sng" algn="ctr">
            <a:solidFill>
              <a:srgbClr val="CE42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92BD18F-EB83-914F-B78D-F0B33E03E752}"/>
              </a:ext>
            </a:extLst>
          </p:cNvPr>
          <p:cNvSpPr/>
          <p:nvPr/>
        </p:nvSpPr>
        <p:spPr>
          <a:xfrm>
            <a:off x="1287780" y="1676400"/>
            <a:ext cx="533400" cy="5334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091EDC-1DC1-8E4A-883E-896102D6B230}"/>
              </a:ext>
            </a:extLst>
          </p:cNvPr>
          <p:cNvSpPr txBox="1"/>
          <p:nvPr/>
        </p:nvSpPr>
        <p:spPr>
          <a:xfrm>
            <a:off x="609600" y="2387600"/>
            <a:ext cx="188976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F2937"/>
                </a:solidFill>
              </a:rPr>
              <a:t>Hello World.rs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160F53-230C-5C40-9B68-B1D2CBE4832E}"/>
              </a:ext>
            </a:extLst>
          </p:cNvPr>
          <p:cNvSpPr/>
          <p:nvPr/>
        </p:nvSpPr>
        <p:spPr>
          <a:xfrm>
            <a:off x="2778760" y="1397000"/>
            <a:ext cx="2092960" cy="2489200"/>
          </a:xfrm>
          <a:prstGeom prst="roundRect">
            <a:avLst/>
          </a:prstGeom>
          <a:solidFill>
            <a:srgbClr val="FFF8F4"/>
          </a:solidFill>
          <a:ln w="15875" cap="flat" cmpd="sng" algn="ctr">
            <a:solidFill>
              <a:srgbClr val="CE42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EFE7F1-AF3D-0F43-A9FA-10F2D3C67F15}"/>
              </a:ext>
            </a:extLst>
          </p:cNvPr>
          <p:cNvSpPr/>
          <p:nvPr/>
        </p:nvSpPr>
        <p:spPr>
          <a:xfrm>
            <a:off x="3558540" y="1676400"/>
            <a:ext cx="533400" cy="5334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037B87-ADBB-2A45-814E-6A3EE3A4A346}"/>
              </a:ext>
            </a:extLst>
          </p:cNvPr>
          <p:cNvSpPr txBox="1"/>
          <p:nvPr/>
        </p:nvSpPr>
        <p:spPr>
          <a:xfrm>
            <a:off x="2880360" y="2387600"/>
            <a:ext cx="188976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F2937"/>
                </a:solidFill>
              </a:rPr>
              <a:t>Rust ownership system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819117A-9562-2849-A4E9-18BD93A42331}"/>
              </a:ext>
            </a:extLst>
          </p:cNvPr>
          <p:cNvSpPr/>
          <p:nvPr/>
        </p:nvSpPr>
        <p:spPr>
          <a:xfrm>
            <a:off x="5049520" y="1397000"/>
            <a:ext cx="2092960" cy="2489200"/>
          </a:xfrm>
          <a:prstGeom prst="roundRect">
            <a:avLst/>
          </a:prstGeom>
          <a:solidFill>
            <a:srgbClr val="FFF8F4"/>
          </a:solidFill>
          <a:ln w="15875" cap="flat" cmpd="sng" algn="ctr">
            <a:solidFill>
              <a:srgbClr val="CE42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74DEF7-F58B-D64E-BDB4-89C7B6D50068}"/>
              </a:ext>
            </a:extLst>
          </p:cNvPr>
          <p:cNvSpPr/>
          <p:nvPr/>
        </p:nvSpPr>
        <p:spPr>
          <a:xfrm>
            <a:off x="5829300" y="1676400"/>
            <a:ext cx="533400" cy="5334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B9E0A4-88FE-694D-A98D-775EBAF1D2A4}"/>
              </a:ext>
            </a:extLst>
          </p:cNvPr>
          <p:cNvSpPr txBox="1"/>
          <p:nvPr/>
        </p:nvSpPr>
        <p:spPr>
          <a:xfrm>
            <a:off x="5151120" y="2387600"/>
            <a:ext cx="188976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1F2937"/>
                </a:solidFill>
              </a:rPr>
              <a:t>Lifetime of references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399E465-B450-6443-840E-94262060A5DF}"/>
              </a:ext>
            </a:extLst>
          </p:cNvPr>
          <p:cNvSpPr/>
          <p:nvPr/>
        </p:nvSpPr>
        <p:spPr>
          <a:xfrm>
            <a:off x="7320280" y="1397000"/>
            <a:ext cx="2092960" cy="2489200"/>
          </a:xfrm>
          <a:prstGeom prst="roundRect">
            <a:avLst/>
          </a:prstGeom>
          <a:solidFill>
            <a:srgbClr val="FFF8F4"/>
          </a:solidFill>
          <a:ln w="15875" cap="flat" cmpd="sng" algn="ctr">
            <a:solidFill>
              <a:srgbClr val="CE42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EA9C93-C4CA-F245-AB43-9A1BC61EA991}"/>
              </a:ext>
            </a:extLst>
          </p:cNvPr>
          <p:cNvSpPr/>
          <p:nvPr/>
        </p:nvSpPr>
        <p:spPr>
          <a:xfrm>
            <a:off x="8100060" y="1676400"/>
            <a:ext cx="533400" cy="5334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3C0D68-2780-AA49-8721-9C7AAE6EE77D}"/>
              </a:ext>
            </a:extLst>
          </p:cNvPr>
          <p:cNvSpPr txBox="1"/>
          <p:nvPr/>
        </p:nvSpPr>
        <p:spPr>
          <a:xfrm>
            <a:off x="7421880" y="2387600"/>
            <a:ext cx="188976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1F2937"/>
                </a:solidFill>
              </a:rPr>
              <a:t>OOP  kind of – Structs, Traits  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7EDDAD9-CAB3-3944-81DE-616A1FA16B88}"/>
              </a:ext>
            </a:extLst>
          </p:cNvPr>
          <p:cNvSpPr/>
          <p:nvPr/>
        </p:nvSpPr>
        <p:spPr>
          <a:xfrm>
            <a:off x="9591040" y="1397000"/>
            <a:ext cx="2092960" cy="2489200"/>
          </a:xfrm>
          <a:prstGeom prst="roundRect">
            <a:avLst/>
          </a:prstGeom>
          <a:solidFill>
            <a:srgbClr val="FFF8F4"/>
          </a:solidFill>
          <a:ln w="15875" cap="flat" cmpd="sng" algn="ctr">
            <a:solidFill>
              <a:srgbClr val="CE42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13B3D9-6CFF-5541-AD26-C242997826F7}"/>
              </a:ext>
            </a:extLst>
          </p:cNvPr>
          <p:cNvSpPr/>
          <p:nvPr/>
        </p:nvSpPr>
        <p:spPr>
          <a:xfrm>
            <a:off x="10370820" y="1676400"/>
            <a:ext cx="533400" cy="5334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017EFA-EB7B-EA40-A90F-603A6DFAD6BA}"/>
              </a:ext>
            </a:extLst>
          </p:cNvPr>
          <p:cNvSpPr txBox="1"/>
          <p:nvPr/>
        </p:nvSpPr>
        <p:spPr>
          <a:xfrm>
            <a:off x="9692640" y="2387600"/>
            <a:ext cx="188976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1F2937"/>
                </a:solidFill>
              </a:rPr>
              <a:t>Enum with Steroids, pattern matching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BB4544A-8FC8-7246-AD0B-93873A53A016}"/>
              </a:ext>
            </a:extLst>
          </p:cNvPr>
          <p:cNvSpPr/>
          <p:nvPr/>
        </p:nvSpPr>
        <p:spPr>
          <a:xfrm>
            <a:off x="508000" y="4114800"/>
            <a:ext cx="2092960" cy="2489200"/>
          </a:xfrm>
          <a:prstGeom prst="roundRect">
            <a:avLst/>
          </a:prstGeom>
          <a:solidFill>
            <a:srgbClr val="FFF8F4"/>
          </a:solidFill>
          <a:ln w="15875" cap="flat" cmpd="sng" algn="ctr">
            <a:solidFill>
              <a:srgbClr val="CE42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EE51EE8-68C4-014B-9D01-856E814F4612}"/>
              </a:ext>
            </a:extLst>
          </p:cNvPr>
          <p:cNvSpPr/>
          <p:nvPr/>
        </p:nvSpPr>
        <p:spPr>
          <a:xfrm>
            <a:off x="1287780" y="4394200"/>
            <a:ext cx="533400" cy="5334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ED2500-9D81-8943-8EF8-78D5ECD175EE}"/>
              </a:ext>
            </a:extLst>
          </p:cNvPr>
          <p:cNvSpPr txBox="1"/>
          <p:nvPr/>
        </p:nvSpPr>
        <p:spPr>
          <a:xfrm>
            <a:off x="609600" y="5105400"/>
            <a:ext cx="188976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1F2937"/>
                </a:solidFill>
              </a:rPr>
              <a:t>Closures and Iterators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B3D4606-042B-494D-A5B9-929EFDE7A2C6}"/>
              </a:ext>
            </a:extLst>
          </p:cNvPr>
          <p:cNvSpPr/>
          <p:nvPr/>
        </p:nvSpPr>
        <p:spPr>
          <a:xfrm>
            <a:off x="2778760" y="4114800"/>
            <a:ext cx="2092960" cy="2489200"/>
          </a:xfrm>
          <a:prstGeom prst="roundRect">
            <a:avLst/>
          </a:prstGeom>
          <a:solidFill>
            <a:srgbClr val="FFF8F4"/>
          </a:solidFill>
          <a:ln w="15875" cap="flat" cmpd="sng" algn="ctr">
            <a:solidFill>
              <a:srgbClr val="CE42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F3E38E6-994E-C748-9A33-A5A4373B01E7}"/>
              </a:ext>
            </a:extLst>
          </p:cNvPr>
          <p:cNvSpPr/>
          <p:nvPr/>
        </p:nvSpPr>
        <p:spPr>
          <a:xfrm>
            <a:off x="3558540" y="4394200"/>
            <a:ext cx="533400" cy="5334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18D440-97E9-C840-8A24-D2A2127A841D}"/>
              </a:ext>
            </a:extLst>
          </p:cNvPr>
          <p:cNvSpPr txBox="1"/>
          <p:nvPr/>
        </p:nvSpPr>
        <p:spPr>
          <a:xfrm>
            <a:off x="2880360" y="5105400"/>
            <a:ext cx="188976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1F2937"/>
                </a:solidFill>
              </a:rPr>
              <a:t>Exceptions  - should not be handled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CAA426C-1E74-FD49-9C7B-828B45DB2F0F}"/>
              </a:ext>
            </a:extLst>
          </p:cNvPr>
          <p:cNvSpPr/>
          <p:nvPr/>
        </p:nvSpPr>
        <p:spPr>
          <a:xfrm>
            <a:off x="5049520" y="4114800"/>
            <a:ext cx="2092960" cy="2489200"/>
          </a:xfrm>
          <a:prstGeom prst="roundRect">
            <a:avLst/>
          </a:prstGeom>
          <a:solidFill>
            <a:srgbClr val="FFF8F4"/>
          </a:solidFill>
          <a:ln w="15875" cap="flat" cmpd="sng" algn="ctr">
            <a:solidFill>
              <a:srgbClr val="CE42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250786-A01B-8241-A066-93DFE2CBDA7F}"/>
              </a:ext>
            </a:extLst>
          </p:cNvPr>
          <p:cNvSpPr/>
          <p:nvPr/>
        </p:nvSpPr>
        <p:spPr>
          <a:xfrm>
            <a:off x="5829300" y="4394200"/>
            <a:ext cx="533400" cy="5334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78BC56-CB5E-814C-AF3B-675183E53CDD}"/>
              </a:ext>
            </a:extLst>
          </p:cNvPr>
          <p:cNvSpPr txBox="1"/>
          <p:nvPr/>
        </p:nvSpPr>
        <p:spPr>
          <a:xfrm>
            <a:off x="5151120" y="5105400"/>
            <a:ext cx="188976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F2937"/>
                </a:solidFill>
              </a:rPr>
              <a:t>Concurrency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DE6E628-0A35-474F-B090-2FAB4BCB026B}"/>
              </a:ext>
            </a:extLst>
          </p:cNvPr>
          <p:cNvSpPr/>
          <p:nvPr/>
        </p:nvSpPr>
        <p:spPr>
          <a:xfrm>
            <a:off x="7320280" y="4114800"/>
            <a:ext cx="2092960" cy="2489200"/>
          </a:xfrm>
          <a:prstGeom prst="roundRect">
            <a:avLst/>
          </a:prstGeom>
          <a:solidFill>
            <a:srgbClr val="FFF8F4"/>
          </a:solidFill>
          <a:ln w="15875" cap="flat" cmpd="sng" algn="ctr">
            <a:solidFill>
              <a:srgbClr val="CE42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7C47E7-5132-0E4B-8FEB-597D89AB3066}"/>
              </a:ext>
            </a:extLst>
          </p:cNvPr>
          <p:cNvSpPr/>
          <p:nvPr/>
        </p:nvSpPr>
        <p:spPr>
          <a:xfrm>
            <a:off x="8100060" y="4394200"/>
            <a:ext cx="533400" cy="5334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333DA4-C2F2-3E46-AD5B-9F3A532354BA}"/>
              </a:ext>
            </a:extLst>
          </p:cNvPr>
          <p:cNvSpPr txBox="1"/>
          <p:nvPr/>
        </p:nvSpPr>
        <p:spPr>
          <a:xfrm>
            <a:off x="7421880" y="5105400"/>
            <a:ext cx="188976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F2937"/>
                </a:solidFill>
              </a:rPr>
              <a:t>Modules and crates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63C3F03-E3FC-274D-88AC-F03DD259A730}"/>
              </a:ext>
            </a:extLst>
          </p:cNvPr>
          <p:cNvSpPr/>
          <p:nvPr/>
        </p:nvSpPr>
        <p:spPr>
          <a:xfrm>
            <a:off x="9591040" y="4114800"/>
            <a:ext cx="2092960" cy="2489200"/>
          </a:xfrm>
          <a:prstGeom prst="roundRect">
            <a:avLst/>
          </a:prstGeom>
          <a:solidFill>
            <a:srgbClr val="FFF8F4"/>
          </a:solidFill>
          <a:ln w="15875" cap="flat" cmpd="sng" algn="ctr">
            <a:solidFill>
              <a:srgbClr val="CE42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DE330CC-68CE-DA46-AD07-DAB1A5D3EC91}"/>
              </a:ext>
            </a:extLst>
          </p:cNvPr>
          <p:cNvSpPr/>
          <p:nvPr/>
        </p:nvSpPr>
        <p:spPr>
          <a:xfrm>
            <a:off x="10370820" y="4394200"/>
            <a:ext cx="533400" cy="5334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0BC9E5-BBF8-3340-B9CF-C00FC49FA9AB}"/>
              </a:ext>
            </a:extLst>
          </p:cNvPr>
          <p:cNvSpPr txBox="1"/>
          <p:nvPr/>
        </p:nvSpPr>
        <p:spPr>
          <a:xfrm>
            <a:off x="9692640" y="5105400"/>
            <a:ext cx="188976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1F2937"/>
                </a:solidFill>
              </a:rPr>
              <a:t>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93505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BBB0-ABB0-896F-3D49-00867A8DE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1" dirty="0">
                <a:solidFill>
                  <a:srgbClr val="1E1E1E"/>
                </a:solidFill>
              </a:rPr>
              <a:t>What is Rust used for?</a:t>
            </a:r>
          </a:p>
        </p:txBody>
      </p:sp>
      <p:pic>
        <p:nvPicPr>
          <p:cNvPr id="4" name="Picture 3" descr="rustDevelopers · ProgrammerHumor.io">
            <a:extLst>
              <a:ext uri="{FF2B5EF4-FFF2-40B4-BE49-F238E27FC236}">
                <a16:creationId xmlns:a16="http://schemas.microsoft.com/office/drawing/2014/main" id="{DF5BED37-7922-2B1B-B169-8CD59DCD3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220" y="2514600"/>
            <a:ext cx="3556000" cy="3556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CE0019-4FE4-414D-B7EB-857E5DFC70EB}"/>
              </a:ext>
            </a:extLst>
          </p:cNvPr>
          <p:cNvSpPr/>
          <p:nvPr/>
        </p:nvSpPr>
        <p:spPr>
          <a:xfrm>
            <a:off x="838200" y="129794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53EED-7840-D24E-A438-DBF4049E6B02}"/>
              </a:ext>
            </a:extLst>
          </p:cNvPr>
          <p:cNvSpPr txBox="1"/>
          <p:nvPr/>
        </p:nvSpPr>
        <p:spPr>
          <a:xfrm>
            <a:off x="6096000" y="1536700"/>
            <a:ext cx="5130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rgbClr val="555555"/>
                </a:solidFill>
              </a:rPr>
              <a:t>Where teams reach for Rust in production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D230A8-3E08-0544-9E75-4DFC2039D66F}"/>
              </a:ext>
            </a:extLst>
          </p:cNvPr>
          <p:cNvSpPr/>
          <p:nvPr/>
        </p:nvSpPr>
        <p:spPr>
          <a:xfrm>
            <a:off x="6172202" y="1879600"/>
            <a:ext cx="101600" cy="558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20D511-D895-E547-9826-BCF86C8C560E}"/>
              </a:ext>
            </a:extLst>
          </p:cNvPr>
          <p:cNvSpPr/>
          <p:nvPr/>
        </p:nvSpPr>
        <p:spPr>
          <a:xfrm>
            <a:off x="6273802" y="1879600"/>
            <a:ext cx="5029200" cy="5588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3EA138-E33D-504A-8FAF-1E34FFB14219}"/>
              </a:ext>
            </a:extLst>
          </p:cNvPr>
          <p:cNvSpPr txBox="1"/>
          <p:nvPr/>
        </p:nvSpPr>
        <p:spPr>
          <a:xfrm>
            <a:off x="6426202" y="19050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1E1E"/>
                </a:solidFill>
              </a:rPr>
              <a:t>Systems &amp; infrastructure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29DCAE-7080-164C-8DAA-BDECF5F5711F}"/>
              </a:ext>
            </a:extLst>
          </p:cNvPr>
          <p:cNvSpPr txBox="1"/>
          <p:nvPr/>
        </p:nvSpPr>
        <p:spPr>
          <a:xfrm>
            <a:off x="6426202" y="21590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55555"/>
                </a:solidFill>
              </a:rPr>
              <a:t>OS kernels, browsers, databases, embedded firmware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7906D4-A089-C84B-BF94-71779FEE427A}"/>
              </a:ext>
            </a:extLst>
          </p:cNvPr>
          <p:cNvSpPr/>
          <p:nvPr/>
        </p:nvSpPr>
        <p:spPr>
          <a:xfrm>
            <a:off x="6172202" y="2463800"/>
            <a:ext cx="101600" cy="5588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C813F2-54C8-314D-A48F-7EC34727DEBC}"/>
              </a:ext>
            </a:extLst>
          </p:cNvPr>
          <p:cNvSpPr/>
          <p:nvPr/>
        </p:nvSpPr>
        <p:spPr>
          <a:xfrm>
            <a:off x="6273802" y="2463800"/>
            <a:ext cx="5029200" cy="5588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29A1AD-0D40-9841-B06C-77D650BEFA3E}"/>
              </a:ext>
            </a:extLst>
          </p:cNvPr>
          <p:cNvSpPr txBox="1"/>
          <p:nvPr/>
        </p:nvSpPr>
        <p:spPr>
          <a:xfrm>
            <a:off x="6426202" y="24892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1E1E"/>
                </a:solidFill>
              </a:rPr>
              <a:t>Web backends &amp; APIs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695208-E729-114C-B615-58414A16CA2C}"/>
              </a:ext>
            </a:extLst>
          </p:cNvPr>
          <p:cNvSpPr txBox="1"/>
          <p:nvPr/>
        </p:nvSpPr>
        <p:spPr>
          <a:xfrm>
            <a:off x="6426202" y="27432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55555"/>
                </a:solidFill>
              </a:rPr>
              <a:t>axum, actix — high-throughput services with low memory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E11F53-C5E6-734E-8CA9-C70C6B2BE12A}"/>
              </a:ext>
            </a:extLst>
          </p:cNvPr>
          <p:cNvSpPr/>
          <p:nvPr/>
        </p:nvSpPr>
        <p:spPr>
          <a:xfrm>
            <a:off x="6172202" y="3048000"/>
            <a:ext cx="101600" cy="558800"/>
          </a:xfrm>
          <a:prstGeom prst="rect">
            <a:avLst/>
          </a:prstGeom>
          <a:solidFill>
            <a:srgbClr val="0069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017959-E64A-E146-BD71-9AF41AB946E5}"/>
              </a:ext>
            </a:extLst>
          </p:cNvPr>
          <p:cNvSpPr/>
          <p:nvPr/>
        </p:nvSpPr>
        <p:spPr>
          <a:xfrm>
            <a:off x="6273802" y="3048000"/>
            <a:ext cx="5029200" cy="5588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90812F-C88D-E74D-900C-321BAC5FFDB6}"/>
              </a:ext>
            </a:extLst>
          </p:cNvPr>
          <p:cNvSpPr txBox="1"/>
          <p:nvPr/>
        </p:nvSpPr>
        <p:spPr>
          <a:xfrm>
            <a:off x="6426202" y="30734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1E1E"/>
                </a:solidFill>
              </a:rPr>
              <a:t>CLI tools &amp; developer tooling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13859-3D96-E340-9CCC-EFB704740C3C}"/>
              </a:ext>
            </a:extLst>
          </p:cNvPr>
          <p:cNvSpPr txBox="1"/>
          <p:nvPr/>
        </p:nvSpPr>
        <p:spPr>
          <a:xfrm>
            <a:off x="6426202" y="33274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55555"/>
                </a:solidFill>
              </a:rPr>
              <a:t>ripgrep, fd, bat, uv — fast, single-binary distribution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15EE85-E335-CD4E-9194-496CE30E769E}"/>
              </a:ext>
            </a:extLst>
          </p:cNvPr>
          <p:cNvSpPr/>
          <p:nvPr/>
        </p:nvSpPr>
        <p:spPr>
          <a:xfrm>
            <a:off x="6172202" y="3632200"/>
            <a:ext cx="101600" cy="5588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E479FF-8A5B-F543-9448-A023EC537F95}"/>
              </a:ext>
            </a:extLst>
          </p:cNvPr>
          <p:cNvSpPr/>
          <p:nvPr/>
        </p:nvSpPr>
        <p:spPr>
          <a:xfrm>
            <a:off x="6273802" y="3632200"/>
            <a:ext cx="5029200" cy="5588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2EBC98-7902-034D-B887-5D4C6FA40924}"/>
              </a:ext>
            </a:extLst>
          </p:cNvPr>
          <p:cNvSpPr txBox="1"/>
          <p:nvPr/>
        </p:nvSpPr>
        <p:spPr>
          <a:xfrm>
            <a:off x="6426202" y="36576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1E1E"/>
                </a:solidFill>
              </a:rPr>
              <a:t>WebAssembly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7F0703-096E-F74A-9C45-1036184542BE}"/>
              </a:ext>
            </a:extLst>
          </p:cNvPr>
          <p:cNvSpPr txBox="1"/>
          <p:nvPr/>
        </p:nvSpPr>
        <p:spPr>
          <a:xfrm>
            <a:off x="6426202" y="39116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55555"/>
                </a:solidFill>
              </a:rPr>
              <a:t>Browser apps, edge workers, plugins (Cloudflare, Figma)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81AA74-9E3D-AB43-8BBA-8728A89D6981}"/>
              </a:ext>
            </a:extLst>
          </p:cNvPr>
          <p:cNvSpPr/>
          <p:nvPr/>
        </p:nvSpPr>
        <p:spPr>
          <a:xfrm>
            <a:off x="6172202" y="4216400"/>
            <a:ext cx="101600" cy="5588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8D2C83-92EA-0940-B689-586E9C9050D8}"/>
              </a:ext>
            </a:extLst>
          </p:cNvPr>
          <p:cNvSpPr/>
          <p:nvPr/>
        </p:nvSpPr>
        <p:spPr>
          <a:xfrm>
            <a:off x="6273802" y="4216400"/>
            <a:ext cx="5029200" cy="5588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C3CF16-4BBC-8046-AB16-645ADE80205D}"/>
              </a:ext>
            </a:extLst>
          </p:cNvPr>
          <p:cNvSpPr txBox="1"/>
          <p:nvPr/>
        </p:nvSpPr>
        <p:spPr>
          <a:xfrm>
            <a:off x="6426202" y="42418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1E1E"/>
                </a:solidFill>
              </a:rPr>
              <a:t>Performance-critical libraries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643A2D-E1C3-1F4B-8E87-23E1A700D8BE}"/>
              </a:ext>
            </a:extLst>
          </p:cNvPr>
          <p:cNvSpPr txBox="1"/>
          <p:nvPr/>
        </p:nvSpPr>
        <p:spPr>
          <a:xfrm>
            <a:off x="6426202" y="44958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55555"/>
                </a:solidFill>
              </a:rPr>
              <a:t>Crypto, ML kernels, game engines, blockchain nodes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AF2A28-5D3A-6E46-B9CC-A4122BB51CF1}"/>
              </a:ext>
            </a:extLst>
          </p:cNvPr>
          <p:cNvSpPr/>
          <p:nvPr/>
        </p:nvSpPr>
        <p:spPr>
          <a:xfrm>
            <a:off x="635000" y="1549400"/>
            <a:ext cx="5308600" cy="304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D04A6F-2368-0A4A-8251-FBA79C6602C6}"/>
              </a:ext>
            </a:extLst>
          </p:cNvPr>
          <p:cNvSpPr txBox="1"/>
          <p:nvPr/>
        </p:nvSpPr>
        <p:spPr>
          <a:xfrm>
            <a:off x="762000" y="15621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Why Rust — memory safety without a GC, at compile time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C11E69-293A-CB40-8B80-158EF35065A6}"/>
              </a:ext>
            </a:extLst>
          </p:cNvPr>
          <p:cNvSpPr/>
          <p:nvPr/>
        </p:nvSpPr>
        <p:spPr>
          <a:xfrm>
            <a:off x="635000" y="1879600"/>
            <a:ext cx="76200" cy="2794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E6CFED-06E9-EB44-8DA0-780D6C77AF5F}"/>
              </a:ext>
            </a:extLst>
          </p:cNvPr>
          <p:cNvSpPr/>
          <p:nvPr/>
        </p:nvSpPr>
        <p:spPr>
          <a:xfrm>
            <a:off x="711200" y="1879600"/>
            <a:ext cx="2527300" cy="2794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8AB391-3787-4048-A4B8-D9E3258ED9F1}"/>
              </a:ext>
            </a:extLst>
          </p:cNvPr>
          <p:cNvSpPr txBox="1"/>
          <p:nvPr/>
        </p:nvSpPr>
        <p:spPr>
          <a:xfrm>
            <a:off x="787400" y="1879600"/>
            <a:ext cx="2425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E1E1E"/>
                </a:solidFill>
              </a:rPr>
              <a:t>No nulls</a:t>
            </a:r>
            <a:r>
              <a:rPr lang="en-US" sz="1000">
                <a:solidFill>
                  <a:srgbClr val="555555"/>
                </a:solidFill>
              </a:rPr>
              <a:t>  · Option&lt;T&gt;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AE8393-DBA8-634B-BBFA-0476F869BE31}"/>
              </a:ext>
            </a:extLst>
          </p:cNvPr>
          <p:cNvSpPr/>
          <p:nvPr/>
        </p:nvSpPr>
        <p:spPr>
          <a:xfrm>
            <a:off x="3340100" y="1879600"/>
            <a:ext cx="76200" cy="2794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7C8A82B-56D9-3448-9E3A-4589C3E8E916}"/>
              </a:ext>
            </a:extLst>
          </p:cNvPr>
          <p:cNvSpPr/>
          <p:nvPr/>
        </p:nvSpPr>
        <p:spPr>
          <a:xfrm>
            <a:off x="3416300" y="1879600"/>
            <a:ext cx="2527300" cy="2794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7F47B2-087A-AA4C-BF76-4344D750DCDD}"/>
              </a:ext>
            </a:extLst>
          </p:cNvPr>
          <p:cNvSpPr txBox="1"/>
          <p:nvPr/>
        </p:nvSpPr>
        <p:spPr>
          <a:xfrm>
            <a:off x="3492500" y="1879600"/>
            <a:ext cx="2425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E1E1E"/>
                </a:solidFill>
              </a:rPr>
              <a:t>No data races</a:t>
            </a:r>
            <a:r>
              <a:rPr lang="en-US" sz="1000">
                <a:solidFill>
                  <a:srgbClr val="555555"/>
                </a:solidFill>
              </a:rPr>
              <a:t>  · Send/Sync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DF809D-B7AA-964A-9B3D-45ADA441E6A4}"/>
              </a:ext>
            </a:extLst>
          </p:cNvPr>
          <p:cNvSpPr/>
          <p:nvPr/>
        </p:nvSpPr>
        <p:spPr>
          <a:xfrm>
            <a:off x="635000" y="2184400"/>
            <a:ext cx="76200" cy="2794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FDEF10-3014-954D-BC5F-503B2A34F4E9}"/>
              </a:ext>
            </a:extLst>
          </p:cNvPr>
          <p:cNvSpPr/>
          <p:nvPr/>
        </p:nvSpPr>
        <p:spPr>
          <a:xfrm>
            <a:off x="711200" y="2184400"/>
            <a:ext cx="2527300" cy="2794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9AC0CC-BEEA-EA4B-B404-9CBA872FB372}"/>
              </a:ext>
            </a:extLst>
          </p:cNvPr>
          <p:cNvSpPr txBox="1"/>
          <p:nvPr/>
        </p:nvSpPr>
        <p:spPr>
          <a:xfrm>
            <a:off x="787400" y="2184400"/>
            <a:ext cx="2425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E1E1E"/>
                </a:solidFill>
              </a:rPr>
              <a:t>No use-after-free</a:t>
            </a:r>
            <a:r>
              <a:rPr lang="en-US" sz="1000">
                <a:solidFill>
                  <a:srgbClr val="555555"/>
                </a:solidFill>
              </a:rPr>
              <a:t>  · ownership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98C305-BAB6-D945-9F37-D663A6953935}"/>
              </a:ext>
            </a:extLst>
          </p:cNvPr>
          <p:cNvSpPr/>
          <p:nvPr/>
        </p:nvSpPr>
        <p:spPr>
          <a:xfrm>
            <a:off x="3340100" y="2184400"/>
            <a:ext cx="76200" cy="2794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9A20B6-B692-F149-9BBF-1085B57BF346}"/>
              </a:ext>
            </a:extLst>
          </p:cNvPr>
          <p:cNvSpPr/>
          <p:nvPr/>
        </p:nvSpPr>
        <p:spPr>
          <a:xfrm>
            <a:off x="3416300" y="2184400"/>
            <a:ext cx="2527300" cy="2794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D2CC08-4D2B-3B42-AA6D-4277A1BF84B4}"/>
              </a:ext>
            </a:extLst>
          </p:cNvPr>
          <p:cNvSpPr txBox="1"/>
          <p:nvPr/>
        </p:nvSpPr>
        <p:spPr>
          <a:xfrm>
            <a:off x="3492500" y="2184400"/>
            <a:ext cx="24257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 dirty="0">
                <a:solidFill>
                  <a:srgbClr val="1E1E1E"/>
                </a:solidFill>
              </a:rPr>
              <a:t>Zero-cost</a:t>
            </a:r>
            <a:r>
              <a:rPr lang="en-US" sz="1000" dirty="0">
                <a:solidFill>
                  <a:srgbClr val="555555"/>
                </a:solidFill>
              </a:rPr>
              <a:t>  · C-level performance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5885E6-E7E5-224D-82D7-B58C394EA8B1}"/>
              </a:ext>
            </a:extLst>
          </p:cNvPr>
          <p:cNvSpPr/>
          <p:nvPr/>
        </p:nvSpPr>
        <p:spPr>
          <a:xfrm>
            <a:off x="6172202" y="4800600"/>
            <a:ext cx="101600" cy="558800"/>
          </a:xfrm>
          <a:prstGeom prst="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FF4270-4FCD-1446-A346-ACEEA4AD8951}"/>
              </a:ext>
            </a:extLst>
          </p:cNvPr>
          <p:cNvSpPr/>
          <p:nvPr/>
        </p:nvSpPr>
        <p:spPr>
          <a:xfrm>
            <a:off x="6273802" y="4800600"/>
            <a:ext cx="5029200" cy="5588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23EC97-AF69-574D-8CBD-877AA4534AA2}"/>
              </a:ext>
            </a:extLst>
          </p:cNvPr>
          <p:cNvSpPr txBox="1"/>
          <p:nvPr/>
        </p:nvSpPr>
        <p:spPr>
          <a:xfrm>
            <a:off x="6426202" y="4826000"/>
            <a:ext cx="4826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E1E1E"/>
                </a:solidFill>
              </a:rPr>
              <a:t>Data engineering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CF68D7-28D9-9146-9FD0-726C1588A5AD}"/>
              </a:ext>
            </a:extLst>
          </p:cNvPr>
          <p:cNvSpPr txBox="1"/>
          <p:nvPr/>
        </p:nvSpPr>
        <p:spPr>
          <a:xfrm>
            <a:off x="6426202" y="5080000"/>
            <a:ext cx="4826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55555"/>
                </a:solidFill>
              </a:rPr>
              <a:t>Polars, DataFusion, Arrow — fast columnar processing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F6D9EB8-97E7-6D48-A992-E11688B43BBD}"/>
              </a:ext>
            </a:extLst>
          </p:cNvPr>
          <p:cNvSpPr/>
          <p:nvPr/>
        </p:nvSpPr>
        <p:spPr>
          <a:xfrm>
            <a:off x="6172202" y="5384800"/>
            <a:ext cx="101600" cy="558800"/>
          </a:xfrm>
          <a:prstGeom prst="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C3FD821-F7EF-0748-8E4B-DCE8C89F67A4}"/>
              </a:ext>
            </a:extLst>
          </p:cNvPr>
          <p:cNvSpPr/>
          <p:nvPr/>
        </p:nvSpPr>
        <p:spPr>
          <a:xfrm>
            <a:off x="6273802" y="5384800"/>
            <a:ext cx="5029200" cy="5588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D9AF87-2F97-5247-BFB8-89822E1F6156}"/>
              </a:ext>
            </a:extLst>
          </p:cNvPr>
          <p:cNvSpPr txBox="1"/>
          <p:nvPr/>
        </p:nvSpPr>
        <p:spPr>
          <a:xfrm>
            <a:off x="6426202" y="5410200"/>
            <a:ext cx="4826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E1E1E"/>
                </a:solidFill>
              </a:rPr>
              <a:t>Data science &amp; ML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F95576-7E32-DD43-B295-F7908632FA24}"/>
              </a:ext>
            </a:extLst>
          </p:cNvPr>
          <p:cNvSpPr txBox="1"/>
          <p:nvPr/>
        </p:nvSpPr>
        <p:spPr>
          <a:xfrm>
            <a:off x="6426202" y="5664200"/>
            <a:ext cx="4826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55555"/>
                </a:solidFill>
              </a:rPr>
              <a:t>Candle, Burn, linfa — native ML frameworks in Rust</a:t>
            </a:r>
          </a:p>
        </p:txBody>
      </p:sp>
    </p:spTree>
    <p:extLst>
      <p:ext uri="{BB962C8B-B14F-4D97-AF65-F5344CB8AC3E}">
        <p14:creationId xmlns:p14="http://schemas.microsoft.com/office/powerpoint/2010/main" val="1527401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61BB3-1BE2-6BA9-46EF-71D699AC1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Hello, World!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AB668-0CE5-FC46-8E6D-7E046F4A173D}"/>
              </a:ext>
            </a:extLst>
          </p:cNvPr>
          <p:cNvSpPr txBox="1"/>
          <p:nvPr/>
        </p:nvSpPr>
        <p:spPr>
          <a:xfrm>
            <a:off x="609600" y="18288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CE422B"/>
                </a:solidFill>
              </a:rPr>
              <a:t>1. Create &amp; run with Cargo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227ACD-8D4A-BC42-9910-53EDBE9489DB}"/>
              </a:ext>
            </a:extLst>
          </p:cNvPr>
          <p:cNvSpPr/>
          <p:nvPr/>
        </p:nvSpPr>
        <p:spPr>
          <a:xfrm>
            <a:off x="609600" y="2209800"/>
            <a:ext cx="330200" cy="3302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F7C925-74F5-E847-AC30-C458F83A9E3C}"/>
              </a:ext>
            </a:extLst>
          </p:cNvPr>
          <p:cNvSpPr/>
          <p:nvPr/>
        </p:nvSpPr>
        <p:spPr>
          <a:xfrm>
            <a:off x="1041400" y="2209800"/>
            <a:ext cx="45720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A8E6A1"/>
                </a:solidFill>
                <a:latin typeface="Consolas"/>
                <a:cs typeface="Consolas"/>
              </a:rPr>
              <a:t>$ cargo new hello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45D30-931B-F345-969B-95E5E6E2D748}"/>
              </a:ext>
            </a:extLst>
          </p:cNvPr>
          <p:cNvSpPr txBox="1"/>
          <p:nvPr/>
        </p:nvSpPr>
        <p:spPr>
          <a:xfrm>
            <a:off x="1041400" y="2565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44444"/>
                </a:solidFill>
              </a:rPr>
              <a:t>Scaffolds project: Cargo.toml + src/main.rs + git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E0B43B-998D-0B46-B91B-5494A69A562E}"/>
              </a:ext>
            </a:extLst>
          </p:cNvPr>
          <p:cNvSpPr/>
          <p:nvPr/>
        </p:nvSpPr>
        <p:spPr>
          <a:xfrm>
            <a:off x="609600" y="2971800"/>
            <a:ext cx="330200" cy="3302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9AC4CE-35A6-DB43-8478-33278DD87A59}"/>
              </a:ext>
            </a:extLst>
          </p:cNvPr>
          <p:cNvSpPr/>
          <p:nvPr/>
        </p:nvSpPr>
        <p:spPr>
          <a:xfrm>
            <a:off x="1041400" y="2971800"/>
            <a:ext cx="45720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A8E6A1"/>
                </a:solidFill>
                <a:latin typeface="Consolas"/>
                <a:cs typeface="Consolas"/>
              </a:rPr>
              <a:t>$ cd hello &amp;&amp; cargo build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FC4E2-4DCC-F64E-A93C-CCB362CAD666}"/>
              </a:ext>
            </a:extLst>
          </p:cNvPr>
          <p:cNvSpPr txBox="1"/>
          <p:nvPr/>
        </p:nvSpPr>
        <p:spPr>
          <a:xfrm>
            <a:off x="1041400" y="3327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44444"/>
                </a:solidFill>
              </a:rPr>
              <a:t>Compiles → target/debug/hello (rustc under the hood)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D263D8-FF14-B043-BAFD-FF644BB24E86}"/>
              </a:ext>
            </a:extLst>
          </p:cNvPr>
          <p:cNvSpPr/>
          <p:nvPr/>
        </p:nvSpPr>
        <p:spPr>
          <a:xfrm>
            <a:off x="609600" y="3733800"/>
            <a:ext cx="330200" cy="3302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34D489-AC7C-A145-8104-D8A5A9D8F77D}"/>
              </a:ext>
            </a:extLst>
          </p:cNvPr>
          <p:cNvSpPr/>
          <p:nvPr/>
        </p:nvSpPr>
        <p:spPr>
          <a:xfrm>
            <a:off x="1041400" y="3733800"/>
            <a:ext cx="45720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A8E6A1"/>
                </a:solidFill>
                <a:latin typeface="Consolas"/>
                <a:cs typeface="Consolas"/>
              </a:rPr>
              <a:t>$ cargo run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4B6B33-EA20-404F-ABD9-7914D28D40D8}"/>
              </a:ext>
            </a:extLst>
          </p:cNvPr>
          <p:cNvSpPr txBox="1"/>
          <p:nvPr/>
        </p:nvSpPr>
        <p:spPr>
          <a:xfrm>
            <a:off x="1041400" y="4089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44444"/>
                </a:solidFill>
              </a:rPr>
              <a:t>Builds if needed, then runs the binary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B2A2990-8FAB-C94D-AE3C-4449D87DB2A6}"/>
              </a:ext>
            </a:extLst>
          </p:cNvPr>
          <p:cNvSpPr/>
          <p:nvPr/>
        </p:nvSpPr>
        <p:spPr>
          <a:xfrm>
            <a:off x="609600" y="4495800"/>
            <a:ext cx="330200" cy="3302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6EBDA0-130A-5E41-9691-423C921CB2EC}"/>
              </a:ext>
            </a:extLst>
          </p:cNvPr>
          <p:cNvSpPr/>
          <p:nvPr/>
        </p:nvSpPr>
        <p:spPr>
          <a:xfrm>
            <a:off x="1041400" y="4495800"/>
            <a:ext cx="45720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A8E6A1"/>
                </a:solidFill>
                <a:latin typeface="Consolas"/>
                <a:cs typeface="Consolas"/>
              </a:rPr>
              <a:t>$ cargo add rand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5C15CD-2DA7-D94C-8F73-B78993E9540B}"/>
              </a:ext>
            </a:extLst>
          </p:cNvPr>
          <p:cNvSpPr txBox="1"/>
          <p:nvPr/>
        </p:nvSpPr>
        <p:spPr>
          <a:xfrm>
            <a:off x="1041400" y="4851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44444"/>
                </a:solidFill>
              </a:rPr>
              <a:t>Adds dependency to Cargo.toml; fetched from crates.io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CE02D2-8101-7542-8AB3-5F1B9007BA20}"/>
              </a:ext>
            </a:extLst>
          </p:cNvPr>
          <p:cNvSpPr txBox="1"/>
          <p:nvPr/>
        </p:nvSpPr>
        <p:spPr>
          <a:xfrm>
            <a:off x="609600" y="5334000"/>
            <a:ext cx="533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E422B"/>
                </a:solidFill>
              </a:rPr>
              <a:t>Cargo.toml (manifest)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3E302A-135A-174D-AF54-793AC6D9A434}"/>
              </a:ext>
            </a:extLst>
          </p:cNvPr>
          <p:cNvSpPr/>
          <p:nvPr/>
        </p:nvSpPr>
        <p:spPr>
          <a:xfrm>
            <a:off x="609600" y="5613400"/>
            <a:ext cx="5003800" cy="1016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5F5F5"/>
                </a:solidFill>
                <a:latin typeface="Consolas"/>
                <a:cs typeface="Consolas"/>
              </a:rPr>
              <a:t>[package]
name = "hello"
edition = "2021"
[dependencies]
rand = "0.8"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F84C88-2665-9945-9C26-CE19C237B72E}"/>
              </a:ext>
            </a:extLst>
          </p:cNvPr>
          <p:cNvSpPr txBox="1"/>
          <p:nvPr/>
        </p:nvSpPr>
        <p:spPr>
          <a:xfrm>
            <a:off x="6146800" y="1828800"/>
            <a:ext cx="546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CE422B"/>
                </a:solidFill>
              </a:rPr>
              <a:t>2. src/main.rs — basic syntax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B354F5-2B58-334F-B5CC-007C8D5436E9}"/>
              </a:ext>
            </a:extLst>
          </p:cNvPr>
          <p:cNvSpPr/>
          <p:nvPr/>
        </p:nvSpPr>
        <p:spPr>
          <a:xfrm>
            <a:off x="6146800" y="2209800"/>
            <a:ext cx="5461000" cy="2540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5F5F5"/>
                </a:solidFill>
                <a:latin typeface="Consolas"/>
                <a:cs typeface="Consolas"/>
              </a:rPr>
              <a:t>// Entry point of every Rust program
fn main() {
    let name = "World";
    let count: i32 = 3;
    for i in 1..=count {
        println!("Hello, {}! ({})", name, i);
    }
}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E0AC8C0-BB88-8F45-839C-A7814DD90D9B}"/>
              </a:ext>
            </a:extLst>
          </p:cNvPr>
          <p:cNvSpPr/>
          <p:nvPr/>
        </p:nvSpPr>
        <p:spPr>
          <a:xfrm>
            <a:off x="6146800" y="4876800"/>
            <a:ext cx="1397000" cy="2794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5F5F5"/>
                </a:solidFill>
                <a:latin typeface="Consolas"/>
                <a:cs typeface="Consolas"/>
              </a:rPr>
              <a:t>fn main()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0EDB3E-17F9-C64E-A97E-489989D93F6D}"/>
              </a:ext>
            </a:extLst>
          </p:cNvPr>
          <p:cNvSpPr txBox="1"/>
          <p:nvPr/>
        </p:nvSpPr>
        <p:spPr>
          <a:xfrm>
            <a:off x="7620000" y="4876800"/>
            <a:ext cx="3987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1E1E1E"/>
                </a:solidFill>
              </a:rPr>
              <a:t>program entry point — required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9DC19F7-14E3-E14F-9EF6-1361A191D020}"/>
              </a:ext>
            </a:extLst>
          </p:cNvPr>
          <p:cNvSpPr/>
          <p:nvPr/>
        </p:nvSpPr>
        <p:spPr>
          <a:xfrm>
            <a:off x="6146800" y="5181600"/>
            <a:ext cx="1397000" cy="2794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5F5F5"/>
                </a:solidFill>
                <a:latin typeface="Consolas"/>
                <a:cs typeface="Consolas"/>
              </a:rPr>
              <a:t>let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144CCB-11EF-AF46-A1BB-0D6B2B6C390E}"/>
              </a:ext>
            </a:extLst>
          </p:cNvPr>
          <p:cNvSpPr txBox="1"/>
          <p:nvPr/>
        </p:nvSpPr>
        <p:spPr>
          <a:xfrm>
            <a:off x="7620000" y="5181600"/>
            <a:ext cx="3987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1E1E1E"/>
                </a:solidFill>
              </a:rPr>
              <a:t>immutable binding (let mut to mutate)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24766AC-DE24-4341-8961-9D3743F848D5}"/>
              </a:ext>
            </a:extLst>
          </p:cNvPr>
          <p:cNvSpPr/>
          <p:nvPr/>
        </p:nvSpPr>
        <p:spPr>
          <a:xfrm>
            <a:off x="6146800" y="5486400"/>
            <a:ext cx="1397000" cy="2794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5F5F5"/>
                </a:solidFill>
                <a:latin typeface="Consolas"/>
                <a:cs typeface="Consolas"/>
              </a:rPr>
              <a:t>: i32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763AAF-79C4-DE4B-AE95-6C0D387456B8}"/>
              </a:ext>
            </a:extLst>
          </p:cNvPr>
          <p:cNvSpPr txBox="1"/>
          <p:nvPr/>
        </p:nvSpPr>
        <p:spPr>
          <a:xfrm>
            <a:off x="7620000" y="5486400"/>
            <a:ext cx="3987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1E1E1E"/>
                </a:solidFill>
              </a:rPr>
              <a:t>type annotation — 32-bit signed int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C5CE2CD-78CF-4E40-AC7A-A5C02FD5AB47}"/>
              </a:ext>
            </a:extLst>
          </p:cNvPr>
          <p:cNvSpPr/>
          <p:nvPr/>
        </p:nvSpPr>
        <p:spPr>
          <a:xfrm>
            <a:off x="6146800" y="5791200"/>
            <a:ext cx="1397000" cy="2794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5F5F5"/>
                </a:solidFill>
                <a:latin typeface="Consolas"/>
                <a:cs typeface="Consolas"/>
              </a:rPr>
              <a:t>1..=count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F7DD12-9F5B-0345-8529-B94F12F93595}"/>
              </a:ext>
            </a:extLst>
          </p:cNvPr>
          <p:cNvSpPr txBox="1"/>
          <p:nvPr/>
        </p:nvSpPr>
        <p:spPr>
          <a:xfrm>
            <a:off x="7620000" y="5791200"/>
            <a:ext cx="3987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1E1E1E"/>
                </a:solidFill>
              </a:rPr>
              <a:t>inclusive range (1, 2, 3)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2B95288-8C3B-BA4A-9CD1-9E1CC029044F}"/>
              </a:ext>
            </a:extLst>
          </p:cNvPr>
          <p:cNvSpPr/>
          <p:nvPr/>
        </p:nvSpPr>
        <p:spPr>
          <a:xfrm>
            <a:off x="6146800" y="6096000"/>
            <a:ext cx="1397000" cy="2794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5F5F5"/>
                </a:solidFill>
                <a:latin typeface="Consolas"/>
                <a:cs typeface="Consolas"/>
              </a:rPr>
              <a:t>println!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283218-4B7D-3C40-AECD-FB76E4F7DCEF}"/>
              </a:ext>
            </a:extLst>
          </p:cNvPr>
          <p:cNvSpPr txBox="1"/>
          <p:nvPr/>
        </p:nvSpPr>
        <p:spPr>
          <a:xfrm>
            <a:off x="7620000" y="6096000"/>
            <a:ext cx="3987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1E1E1E"/>
                </a:solidFill>
              </a:rPr>
              <a:t>macro (note the !) — formatted print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6391F21-2401-E441-B529-1B6F84043477}"/>
              </a:ext>
            </a:extLst>
          </p:cNvPr>
          <p:cNvSpPr/>
          <p:nvPr/>
        </p:nvSpPr>
        <p:spPr>
          <a:xfrm>
            <a:off x="6146800" y="6400800"/>
            <a:ext cx="1397000" cy="2794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5F5F5"/>
                </a:solidFill>
                <a:latin typeface="Consolas"/>
                <a:cs typeface="Consolas"/>
              </a:rPr>
              <a:t>{}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DC0269-FA85-E244-A2C8-52E49636F470}"/>
              </a:ext>
            </a:extLst>
          </p:cNvPr>
          <p:cNvSpPr txBox="1"/>
          <p:nvPr/>
        </p:nvSpPr>
        <p:spPr>
          <a:xfrm>
            <a:off x="7620000" y="6400800"/>
            <a:ext cx="3987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1E1E1E"/>
                </a:solidFill>
              </a:rPr>
              <a:t>placeholder filled by following args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5C7E0C-9B89-73BE-D8B4-036D4CE96887}"/>
              </a:ext>
            </a:extLst>
          </p:cNvPr>
          <p:cNvSpPr/>
          <p:nvPr/>
        </p:nvSpPr>
        <p:spPr>
          <a:xfrm>
            <a:off x="939800" y="13970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05368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448EC-D753-0F47-BB6A-53A801894562}"/>
              </a:ext>
            </a:extLst>
          </p:cNvPr>
          <p:cNvSpPr txBox="1"/>
          <p:nvPr/>
        </p:nvSpPr>
        <p:spPr>
          <a:xfrm>
            <a:off x="838200" y="317500"/>
            <a:ext cx="1051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</a:rPr>
              <a:t>Rust Basics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9D5AEA-DF83-7A49-B903-9DEDCA6A095F}"/>
              </a:ext>
            </a:extLst>
          </p:cNvPr>
          <p:cNvSpPr/>
          <p:nvPr/>
        </p:nvSpPr>
        <p:spPr>
          <a:xfrm>
            <a:off x="838200" y="890649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EEDA8E-2EC6-B648-9955-BF7E3E39E812}"/>
              </a:ext>
            </a:extLst>
          </p:cNvPr>
          <p:cNvSpPr txBox="1"/>
          <p:nvPr/>
        </p:nvSpPr>
        <p:spPr>
          <a:xfrm>
            <a:off x="838200" y="1066800"/>
            <a:ext cx="10515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55555"/>
                </a:solidFill>
              </a:rPr>
              <a:t>Syntax Quick References: Variables, control flow, references, arrays, and slices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D1253-E1FF-3548-A3C7-5EFDC2489B97}"/>
              </a:ext>
            </a:extLst>
          </p:cNvPr>
          <p:cNvSpPr/>
          <p:nvPr/>
        </p:nvSpPr>
        <p:spPr>
          <a:xfrm>
            <a:off x="381000" y="1502992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B16159-4EC7-1441-AB8A-595FAF152A3F}"/>
              </a:ext>
            </a:extLst>
          </p:cNvPr>
          <p:cNvSpPr/>
          <p:nvPr/>
        </p:nvSpPr>
        <p:spPr>
          <a:xfrm>
            <a:off x="381000" y="1833192"/>
            <a:ext cx="3683000" cy="1790988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964B66-5E83-3243-9FFD-BA5259689C5D}"/>
              </a:ext>
            </a:extLst>
          </p:cNvPr>
          <p:cNvSpPr txBox="1"/>
          <p:nvPr/>
        </p:nvSpPr>
        <p:spPr>
          <a:xfrm>
            <a:off x="508000" y="1553792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Variables — let / mut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81EA59-1680-4548-A189-6B498451A8D0}"/>
              </a:ext>
            </a:extLst>
          </p:cNvPr>
          <p:cNvSpPr txBox="1"/>
          <p:nvPr/>
        </p:nvSpPr>
        <p:spPr>
          <a:xfrm>
            <a:off x="508000" y="1909392"/>
            <a:ext cx="3429000" cy="161582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let x = 5;            // immutable by default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// x = 6;             // ERROR: cannot assign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let mut y = 5;        // mutable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y += 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const MAX: u32 = 100; // compile-time const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let x = x + 1;        // shadowing — new binding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let x = "hello";       // type can change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let (a, b) = (1, 2);  // </a:t>
            </a:r>
            <a:r>
              <a:rPr lang="en-US" sz="900" dirty="0" err="1">
                <a:solidFill>
                  <a:srgbClr val="F5F5F5"/>
                </a:solidFill>
                <a:latin typeface="Consolas"/>
                <a:cs typeface="Consolas"/>
              </a:rPr>
              <a:t>destructuring</a:t>
            </a:r>
            <a:endParaRPr lang="en-US" sz="900" dirty="0">
              <a:solidFill>
                <a:srgbClr val="F5F5F5"/>
              </a:solidFill>
              <a:latin typeface="Consolas"/>
              <a:cs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676509-C9F5-4D4E-9834-EA8785F7D716}"/>
              </a:ext>
            </a:extLst>
          </p:cNvPr>
          <p:cNvSpPr/>
          <p:nvPr/>
        </p:nvSpPr>
        <p:spPr>
          <a:xfrm>
            <a:off x="4318000" y="1502992"/>
            <a:ext cx="3683000" cy="3302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2A6C19-A6E6-B342-902D-74DEBD9EECE1}"/>
              </a:ext>
            </a:extLst>
          </p:cNvPr>
          <p:cNvSpPr/>
          <p:nvPr/>
        </p:nvSpPr>
        <p:spPr>
          <a:xfrm>
            <a:off x="4318000" y="1833192"/>
            <a:ext cx="3683000" cy="1790988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A0683D-FCEB-D449-8D7A-AA3C639AB302}"/>
              </a:ext>
            </a:extLst>
          </p:cNvPr>
          <p:cNvSpPr txBox="1"/>
          <p:nvPr/>
        </p:nvSpPr>
        <p:spPr>
          <a:xfrm>
            <a:off x="4445000" y="1553792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Conditions — if as expression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240614-744B-DE41-AF86-B4AB378E13EC}"/>
              </a:ext>
            </a:extLst>
          </p:cNvPr>
          <p:cNvSpPr txBox="1"/>
          <p:nvPr/>
        </p:nvSpPr>
        <p:spPr>
          <a:xfrm>
            <a:off x="4445000" y="1909392"/>
            <a:ext cx="3429000" cy="161582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let n = 7;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if n % 2 == 0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    </a:t>
            </a:r>
            <a:r>
              <a:rPr lang="en-US" sz="900" dirty="0" err="1">
                <a:solidFill>
                  <a:srgbClr val="F5F5F5"/>
                </a:solidFill>
                <a:latin typeface="Consolas"/>
                <a:cs typeface="Consolas"/>
              </a:rPr>
              <a:t>println</a:t>
            </a: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!("even");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} else if n &gt; 0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    </a:t>
            </a:r>
            <a:r>
              <a:rPr lang="en-US" sz="900" dirty="0" err="1">
                <a:solidFill>
                  <a:srgbClr val="F5F5F5"/>
                </a:solidFill>
                <a:latin typeface="Consolas"/>
                <a:cs typeface="Consolas"/>
              </a:rPr>
              <a:t>println</a:t>
            </a: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!("odd, positive");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} else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    </a:t>
            </a:r>
            <a:r>
              <a:rPr lang="en-US" sz="900" dirty="0" err="1">
                <a:solidFill>
                  <a:srgbClr val="F5F5F5"/>
                </a:solidFill>
                <a:latin typeface="Consolas"/>
                <a:cs typeface="Consolas"/>
              </a:rPr>
              <a:t>println</a:t>
            </a: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!("negative");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// if is an expression — branches must match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let label = if n &gt; 0 { "pos" } else { "neg" };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E8074E-7F32-3F49-8DF6-9B19445439E0}"/>
              </a:ext>
            </a:extLst>
          </p:cNvPr>
          <p:cNvSpPr/>
          <p:nvPr/>
        </p:nvSpPr>
        <p:spPr>
          <a:xfrm>
            <a:off x="8255000" y="1502992"/>
            <a:ext cx="3683000" cy="330200"/>
          </a:xfrm>
          <a:prstGeom prst="rect">
            <a:avLst/>
          </a:prstGeom>
          <a:solidFill>
            <a:srgbClr val="0069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111FFD-3436-D247-88E1-F74EDE265855}"/>
              </a:ext>
            </a:extLst>
          </p:cNvPr>
          <p:cNvSpPr/>
          <p:nvPr/>
        </p:nvSpPr>
        <p:spPr>
          <a:xfrm>
            <a:off x="8255000" y="1833192"/>
            <a:ext cx="3683000" cy="1790988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2FBBBB-79A5-B34E-99D7-D1CE7E791E91}"/>
              </a:ext>
            </a:extLst>
          </p:cNvPr>
          <p:cNvSpPr txBox="1"/>
          <p:nvPr/>
        </p:nvSpPr>
        <p:spPr>
          <a:xfrm>
            <a:off x="8382000" y="1553792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Loops — loop / while / for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51D743-4304-3643-B6CA-3676EFD94825}"/>
              </a:ext>
            </a:extLst>
          </p:cNvPr>
          <p:cNvSpPr txBox="1"/>
          <p:nvPr/>
        </p:nvSpPr>
        <p:spPr>
          <a:xfrm>
            <a:off x="8382000" y="1909392"/>
            <a:ext cx="3429000" cy="161582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for i in 0..5 { /* 0,1,2,3,4 */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for i in 0..=5 { /* inclusive */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for x in &amp;v { println!("{x}");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let mut n = 0;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while n &lt; 3 { n += 1;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// loop returns a value via break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let answer = loop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    if ready() { break 42;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353093-6843-F64A-9995-4D3F95F91D19}"/>
              </a:ext>
            </a:extLst>
          </p:cNvPr>
          <p:cNvSpPr/>
          <p:nvPr/>
        </p:nvSpPr>
        <p:spPr>
          <a:xfrm>
            <a:off x="381000" y="3770086"/>
            <a:ext cx="3683000" cy="330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BAE5D8-E290-284D-8A22-3DB719CE7C9B}"/>
              </a:ext>
            </a:extLst>
          </p:cNvPr>
          <p:cNvSpPr/>
          <p:nvPr/>
        </p:nvSpPr>
        <p:spPr>
          <a:xfrm>
            <a:off x="381000" y="4100286"/>
            <a:ext cx="3683000" cy="1843314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1D60A3-64D8-024D-AAC0-87243A9417B0}"/>
              </a:ext>
            </a:extLst>
          </p:cNvPr>
          <p:cNvSpPr txBox="1"/>
          <p:nvPr/>
        </p:nvSpPr>
        <p:spPr>
          <a:xfrm>
            <a:off x="508000" y="3820886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References &amp; dereferencing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774FD6-BF62-FF4C-941F-1743EDA13A56}"/>
              </a:ext>
            </a:extLst>
          </p:cNvPr>
          <p:cNvSpPr txBox="1"/>
          <p:nvPr/>
        </p:nvSpPr>
        <p:spPr>
          <a:xfrm>
            <a:off x="508000" y="4176486"/>
            <a:ext cx="3429000" cy="13388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let s = String::from("hi");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let r: &amp;String = &amp;s;       // shared ref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srgbClr val="F5F5F5"/>
                </a:solidFill>
                <a:latin typeface="Consolas"/>
                <a:cs typeface="Consolas"/>
              </a:rPr>
              <a:t>println</a:t>
            </a: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!("{}", r);          // auto-</a:t>
            </a:r>
            <a:r>
              <a:rPr lang="en-US" sz="900" dirty="0" err="1">
                <a:solidFill>
                  <a:srgbClr val="F5F5F5"/>
                </a:solidFill>
                <a:latin typeface="Consolas"/>
                <a:cs typeface="Consolas"/>
              </a:rPr>
              <a:t>deref</a:t>
            </a:r>
            <a:endParaRPr lang="en-US" sz="9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let mut n = 10;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let m: &amp;mut i32 = &amp;mut n;  // exclusive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*m += 1;                   // explicit </a:t>
            </a:r>
            <a:r>
              <a:rPr lang="en-US" sz="900" dirty="0" err="1">
                <a:solidFill>
                  <a:srgbClr val="F5F5F5"/>
                </a:solidFill>
                <a:latin typeface="Consolas"/>
                <a:cs typeface="Consolas"/>
              </a:rPr>
              <a:t>deref</a:t>
            </a:r>
            <a:endParaRPr lang="en-US" sz="9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5F5F5"/>
                </a:solidFill>
                <a:latin typeface="Consolas"/>
                <a:cs typeface="Consolas"/>
              </a:rPr>
              <a:t>// rule: many &amp;T  OR  one &amp;mut 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8E68A3-B305-5A41-AD00-DDAE897D0ACF}"/>
              </a:ext>
            </a:extLst>
          </p:cNvPr>
          <p:cNvSpPr/>
          <p:nvPr/>
        </p:nvSpPr>
        <p:spPr>
          <a:xfrm>
            <a:off x="4318000" y="3770086"/>
            <a:ext cx="3683000" cy="330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4635AD-55F9-B949-8257-71CBD8DC1B62}"/>
              </a:ext>
            </a:extLst>
          </p:cNvPr>
          <p:cNvSpPr/>
          <p:nvPr/>
        </p:nvSpPr>
        <p:spPr>
          <a:xfrm>
            <a:off x="4318000" y="4100286"/>
            <a:ext cx="3683000" cy="1843314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7E4EA7-513A-F140-8000-8688C4FDEC3B}"/>
              </a:ext>
            </a:extLst>
          </p:cNvPr>
          <p:cNvSpPr txBox="1"/>
          <p:nvPr/>
        </p:nvSpPr>
        <p:spPr>
          <a:xfrm>
            <a:off x="4445000" y="3820886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Arrays — fixed size [T; N]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C999B5-C35E-0F43-B758-AAF50882AAB9}"/>
              </a:ext>
            </a:extLst>
          </p:cNvPr>
          <p:cNvSpPr txBox="1"/>
          <p:nvPr/>
        </p:nvSpPr>
        <p:spPr>
          <a:xfrm>
            <a:off x="4445000" y="4176486"/>
            <a:ext cx="3429000" cy="14773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let a: [i32; 4] = [1, 2, 3, 4];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let zeros = [0u8; 8];     // [0;8]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println!("{}", a[0]);      // index access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println!("{}", a.len());   //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// bounds checked — panic on OOB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// let bad = a[10];       // panics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for x in a.iter() { println!("{x}");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// size is part of type: [i32;4] != [i32;5]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6BB555-F219-9548-AB6A-E92AEDB47678}"/>
              </a:ext>
            </a:extLst>
          </p:cNvPr>
          <p:cNvSpPr/>
          <p:nvPr/>
        </p:nvSpPr>
        <p:spPr>
          <a:xfrm>
            <a:off x="8255000" y="3770086"/>
            <a:ext cx="3683000" cy="330200"/>
          </a:xfrm>
          <a:prstGeom prst="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5A701B-4AFA-BA49-81DB-4E9094CFE0DE}"/>
              </a:ext>
            </a:extLst>
          </p:cNvPr>
          <p:cNvSpPr/>
          <p:nvPr/>
        </p:nvSpPr>
        <p:spPr>
          <a:xfrm>
            <a:off x="8255000" y="4100286"/>
            <a:ext cx="3683000" cy="1843314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D08692-C3CE-8B43-B4A8-2C1CFCA4CC50}"/>
              </a:ext>
            </a:extLst>
          </p:cNvPr>
          <p:cNvSpPr txBox="1"/>
          <p:nvPr/>
        </p:nvSpPr>
        <p:spPr>
          <a:xfrm>
            <a:off x="8382000" y="3820886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Slices — &amp;[T] view into 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BDF0AF-121F-B847-82D7-94D840E61DA9}"/>
              </a:ext>
            </a:extLst>
          </p:cNvPr>
          <p:cNvSpPr txBox="1"/>
          <p:nvPr/>
        </p:nvSpPr>
        <p:spPr>
          <a:xfrm>
            <a:off x="8382000" y="4176486"/>
            <a:ext cx="3429000" cy="14773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let a = [10, 20, 30, 40, 50];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let all:  &amp;[i32] = &amp;a;        // whole array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let mid:  &amp;[i32] = &amp;a[1..4];  // [20,30,40]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let head: &amp;[i32] = &amp;a[..2];   // [10,20]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let tail: &amp;[i32] = &amp;a[3..];   // [40,50]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fn sum(xs: &amp;[i32]) -&gt; i32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    xs.iter().sum()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6271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460415-12B7-6545-B56C-43C6EF3692CC}"/>
              </a:ext>
            </a:extLst>
          </p:cNvPr>
          <p:cNvSpPr txBox="1"/>
          <p:nvPr/>
        </p:nvSpPr>
        <p:spPr>
          <a:xfrm>
            <a:off x="508000" y="254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F2937"/>
                </a:solidFill>
              </a:rPr>
              <a:t>Stack vs Heap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CD0A6-FF5E-7648-B427-1C7A28447B60}"/>
              </a:ext>
            </a:extLst>
          </p:cNvPr>
          <p:cNvSpPr txBox="1"/>
          <p:nvPr/>
        </p:nvSpPr>
        <p:spPr>
          <a:xfrm>
            <a:off x="508000" y="863600"/>
            <a:ext cx="1117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B7280"/>
                </a:solidFill>
              </a:rPr>
              <a:t>Two regions of memory with very different rules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FE8B57-40C8-6842-9646-E99841811BF0}"/>
              </a:ext>
            </a:extLst>
          </p:cNvPr>
          <p:cNvSpPr/>
          <p:nvPr/>
        </p:nvSpPr>
        <p:spPr>
          <a:xfrm>
            <a:off x="635000" y="1397000"/>
            <a:ext cx="5334000" cy="558800"/>
          </a:xfrm>
          <a:prstGeom prst="rect">
            <a:avLst/>
          </a:prstGeom>
          <a:solidFill>
            <a:srgbClr val="2E7D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187511-D0D4-3145-A758-F3F574ED5DC6}"/>
              </a:ext>
            </a:extLst>
          </p:cNvPr>
          <p:cNvSpPr/>
          <p:nvPr/>
        </p:nvSpPr>
        <p:spPr>
          <a:xfrm>
            <a:off x="1016000" y="2159000"/>
            <a:ext cx="2032000" cy="381000"/>
          </a:xfrm>
          <a:prstGeom prst="rect">
            <a:avLst/>
          </a:prstGeom>
          <a:solidFill>
            <a:srgbClr val="E8F1EE"/>
          </a:solidFill>
          <a:ln w="19050" cap="flat" cmpd="sng" algn="ctr">
            <a:solidFill>
              <a:srgbClr val="2E7D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</a:rPr>
              <a:t>main()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800CAA-E6E2-1B4E-A965-00EC912BCAFD}"/>
              </a:ext>
            </a:extLst>
          </p:cNvPr>
          <p:cNvSpPr/>
          <p:nvPr/>
        </p:nvSpPr>
        <p:spPr>
          <a:xfrm>
            <a:off x="1016000" y="2590800"/>
            <a:ext cx="2032000" cy="381000"/>
          </a:xfrm>
          <a:prstGeom prst="rect">
            <a:avLst/>
          </a:prstGeom>
          <a:solidFill>
            <a:srgbClr val="E8F1EE"/>
          </a:solidFill>
          <a:ln w="19050" cap="flat" cmpd="sng" algn="ctr">
            <a:solidFill>
              <a:srgbClr val="2E7D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</a:rPr>
              <a:t>foo()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CD31F-0619-1D44-92B0-F81355EC43C3}"/>
              </a:ext>
            </a:extLst>
          </p:cNvPr>
          <p:cNvSpPr/>
          <p:nvPr/>
        </p:nvSpPr>
        <p:spPr>
          <a:xfrm>
            <a:off x="1016000" y="3022600"/>
            <a:ext cx="2032000" cy="381000"/>
          </a:xfrm>
          <a:prstGeom prst="rect">
            <a:avLst/>
          </a:prstGeom>
          <a:solidFill>
            <a:srgbClr val="E8F1EE"/>
          </a:solidFill>
          <a:ln w="19050" cap="flat" cmpd="sng" algn="ctr">
            <a:solidFill>
              <a:srgbClr val="2E7D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2937"/>
                </a:solidFill>
              </a:rPr>
              <a:t>bar()  ← top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09463426-06A9-3444-A682-2B8E6C0C7C02}"/>
              </a:ext>
            </a:extLst>
          </p:cNvPr>
          <p:cNvSpPr/>
          <p:nvPr/>
        </p:nvSpPr>
        <p:spPr>
          <a:xfrm>
            <a:off x="3251200" y="2260600"/>
            <a:ext cx="304800" cy="1143000"/>
          </a:xfrm>
          <a:prstGeom prst="downArrow">
            <a:avLst/>
          </a:prstGeom>
          <a:solidFill>
            <a:srgbClr val="2E7D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370C5-CE44-8F4C-B8CF-4217DB2704E9}"/>
              </a:ext>
            </a:extLst>
          </p:cNvPr>
          <p:cNvSpPr txBox="1"/>
          <p:nvPr/>
        </p:nvSpPr>
        <p:spPr>
          <a:xfrm>
            <a:off x="3606800" y="24130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2E7D6B"/>
                </a:solidFill>
              </a:rPr>
              <a:t>grows
down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E1A4F1-A9BA-3B45-8A75-6A5B3551EE97}"/>
              </a:ext>
            </a:extLst>
          </p:cNvPr>
          <p:cNvSpPr txBox="1"/>
          <p:nvPr/>
        </p:nvSpPr>
        <p:spPr>
          <a:xfrm>
            <a:off x="838200" y="3683000"/>
            <a:ext cx="4927600" cy="13490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Fast: just move a pointer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LIFO: push on call, pop on return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Fixed, known size at compile time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Auto-freed when function exits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Limited capacity (~MBs)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112547-1444-7041-9D89-CABE5D7B2B40}"/>
              </a:ext>
            </a:extLst>
          </p:cNvPr>
          <p:cNvSpPr/>
          <p:nvPr/>
        </p:nvSpPr>
        <p:spPr>
          <a:xfrm>
            <a:off x="6223000" y="1397000"/>
            <a:ext cx="5334000" cy="558800"/>
          </a:xfrm>
          <a:prstGeom prst="rect">
            <a:avLst/>
          </a:prstGeom>
          <a:solidFill>
            <a:srgbClr val="C65D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HEAP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9F53F5-4304-4B43-93BF-A881E6CF9AD2}"/>
              </a:ext>
            </a:extLst>
          </p:cNvPr>
          <p:cNvSpPr/>
          <p:nvPr/>
        </p:nvSpPr>
        <p:spPr>
          <a:xfrm>
            <a:off x="6604000" y="2159000"/>
            <a:ext cx="889000" cy="482600"/>
          </a:xfrm>
          <a:prstGeom prst="rect">
            <a:avLst/>
          </a:prstGeom>
          <a:solidFill>
            <a:srgbClr val="FBEBE3"/>
          </a:solidFill>
          <a:ln w="19050" cap="flat" cmpd="sng" algn="ctr">
            <a:solidFill>
              <a:srgbClr val="C65D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1F2937"/>
                </a:solidFill>
              </a:rPr>
              <a:t>0x42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EA0222-6806-D046-839F-E650BD009558}"/>
              </a:ext>
            </a:extLst>
          </p:cNvPr>
          <p:cNvSpPr/>
          <p:nvPr/>
        </p:nvSpPr>
        <p:spPr>
          <a:xfrm>
            <a:off x="7874000" y="2286000"/>
            <a:ext cx="1143000" cy="355600"/>
          </a:xfrm>
          <a:prstGeom prst="rect">
            <a:avLst/>
          </a:prstGeom>
          <a:solidFill>
            <a:srgbClr val="FBEBE3"/>
          </a:solidFill>
          <a:ln w="19050" cap="flat" cmpd="sng" algn="ctr">
            <a:solidFill>
              <a:srgbClr val="C65D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1F2937"/>
                </a:solidFill>
              </a:rPr>
              <a:t>0xA1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780FA2-A884-394E-8B97-67B6D6DB9BE0}"/>
              </a:ext>
            </a:extLst>
          </p:cNvPr>
          <p:cNvSpPr/>
          <p:nvPr/>
        </p:nvSpPr>
        <p:spPr>
          <a:xfrm>
            <a:off x="9398000" y="2133600"/>
            <a:ext cx="762000" cy="635000"/>
          </a:xfrm>
          <a:prstGeom prst="rect">
            <a:avLst/>
          </a:prstGeom>
          <a:solidFill>
            <a:srgbClr val="FBEBE3"/>
          </a:solidFill>
          <a:ln w="19050" cap="flat" cmpd="sng" algn="ctr">
            <a:solidFill>
              <a:srgbClr val="C65D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1F2937"/>
                </a:solidFill>
              </a:rPr>
              <a:t>0x7F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613566-A647-0341-8EBD-B3BBB8C22C66}"/>
              </a:ext>
            </a:extLst>
          </p:cNvPr>
          <p:cNvSpPr/>
          <p:nvPr/>
        </p:nvSpPr>
        <p:spPr>
          <a:xfrm>
            <a:off x="6985000" y="2794000"/>
            <a:ext cx="1270000" cy="406400"/>
          </a:xfrm>
          <a:prstGeom prst="rect">
            <a:avLst/>
          </a:prstGeom>
          <a:solidFill>
            <a:srgbClr val="FBEBE3"/>
          </a:solidFill>
          <a:ln w="19050" cap="flat" cmpd="sng" algn="ctr">
            <a:solidFill>
              <a:srgbClr val="C65D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1F2937"/>
                </a:solidFill>
              </a:rPr>
              <a:t>0xC3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278355-07B2-894C-880F-0FA8264FCFCD}"/>
              </a:ext>
            </a:extLst>
          </p:cNvPr>
          <p:cNvSpPr/>
          <p:nvPr/>
        </p:nvSpPr>
        <p:spPr>
          <a:xfrm>
            <a:off x="8763000" y="2870200"/>
            <a:ext cx="889000" cy="381000"/>
          </a:xfrm>
          <a:prstGeom prst="rect">
            <a:avLst/>
          </a:prstGeom>
          <a:solidFill>
            <a:srgbClr val="FBEBE3"/>
          </a:solidFill>
          <a:ln w="19050" cap="flat" cmpd="sng" algn="ctr">
            <a:solidFill>
              <a:srgbClr val="C65D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1F2937"/>
                </a:solidFill>
              </a:rPr>
              <a:t>0x12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A1C52A-1F4F-9D44-BE63-D74630CA3348}"/>
              </a:ext>
            </a:extLst>
          </p:cNvPr>
          <p:cNvSpPr txBox="1"/>
          <p:nvPr/>
        </p:nvSpPr>
        <p:spPr>
          <a:xfrm>
            <a:off x="10287000" y="2413000"/>
            <a:ext cx="1143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C65D3A"/>
                </a:solidFill>
              </a:rPr>
              <a:t>scattered
allocations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E09632-EB15-4D46-99BF-C5DD348815E7}"/>
              </a:ext>
            </a:extLst>
          </p:cNvPr>
          <p:cNvSpPr txBox="1"/>
          <p:nvPr/>
        </p:nvSpPr>
        <p:spPr>
          <a:xfrm>
            <a:off x="6426200" y="3683000"/>
            <a:ext cx="4927600" cy="13490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Slower: allocator finds free space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Any order: alloc &amp; free anytime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Dynamic size, decided at runtime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You manage lifetime (or GC does)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Large capacity (~GBs)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94E455-2A04-9720-16D8-F577146775D7}"/>
              </a:ext>
            </a:extLst>
          </p:cNvPr>
          <p:cNvSpPr/>
          <p:nvPr/>
        </p:nvSpPr>
        <p:spPr>
          <a:xfrm>
            <a:off x="635000" y="786575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755723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29FA-9CEF-87E5-1B98-F83EDEF9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Rust Ownership: Move, Borrow, Mutable Borrow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BD4656-08E4-3741-906C-F162E2926E9E}"/>
              </a:ext>
            </a:extLst>
          </p:cNvPr>
          <p:cNvSpPr/>
          <p:nvPr/>
        </p:nvSpPr>
        <p:spPr>
          <a:xfrm>
            <a:off x="609600" y="1905000"/>
            <a:ext cx="3251200" cy="4826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MOVE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17326-2FEE-2B4C-8654-280E2E4AE584}"/>
              </a:ext>
            </a:extLst>
          </p:cNvPr>
          <p:cNvSpPr txBox="1"/>
          <p:nvPr/>
        </p:nvSpPr>
        <p:spPr>
          <a:xfrm>
            <a:off x="609600" y="2413000"/>
            <a:ext cx="325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55555"/>
                </a:solidFill>
              </a:rPr>
              <a:t>Ownership transfers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8C532-931B-6B42-AC70-AF0FC301AB52}"/>
              </a:ext>
            </a:extLst>
          </p:cNvPr>
          <p:cNvSpPr/>
          <p:nvPr/>
        </p:nvSpPr>
        <p:spPr>
          <a:xfrm>
            <a:off x="4470400" y="1905000"/>
            <a:ext cx="3251200" cy="482600"/>
          </a:xfrm>
          <a:prstGeom prst="rect">
            <a:avLst/>
          </a:prstGeom>
          <a:solidFill>
            <a:srgbClr val="1F5F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BORROW (&amp;)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FAA42-9209-3F46-B072-CD3DAFF778AC}"/>
              </a:ext>
            </a:extLst>
          </p:cNvPr>
          <p:cNvSpPr txBox="1"/>
          <p:nvPr/>
        </p:nvSpPr>
        <p:spPr>
          <a:xfrm>
            <a:off x="4470400" y="2413000"/>
            <a:ext cx="325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55555"/>
                </a:solidFill>
              </a:rPr>
              <a:t>Read-only reference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267667-40F9-4F4F-A28F-4AA8491BE66A}"/>
              </a:ext>
            </a:extLst>
          </p:cNvPr>
          <p:cNvSpPr/>
          <p:nvPr/>
        </p:nvSpPr>
        <p:spPr>
          <a:xfrm>
            <a:off x="8331200" y="1905000"/>
            <a:ext cx="3251200" cy="482600"/>
          </a:xfrm>
          <a:prstGeom prst="rect">
            <a:avLst/>
          </a:prstGeom>
          <a:solidFill>
            <a:srgbClr val="117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MUT BORROW (&amp;mut)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E5BB27-4965-044B-A3AF-932E806205EB}"/>
              </a:ext>
            </a:extLst>
          </p:cNvPr>
          <p:cNvSpPr txBox="1"/>
          <p:nvPr/>
        </p:nvSpPr>
        <p:spPr>
          <a:xfrm>
            <a:off x="8331200" y="2413000"/>
            <a:ext cx="325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55555"/>
                </a:solidFill>
              </a:rPr>
              <a:t>Exclusive write access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321C5D-9CA5-BD4D-86FF-D92023AEDFCE}"/>
              </a:ext>
            </a:extLst>
          </p:cNvPr>
          <p:cNvSpPr/>
          <p:nvPr/>
        </p:nvSpPr>
        <p:spPr>
          <a:xfrm>
            <a:off x="609600" y="2768600"/>
            <a:ext cx="3251200" cy="1905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5F5F5"/>
                </a:solidFill>
                <a:latin typeface="Consolas"/>
                <a:cs typeface="Consolas"/>
              </a:rPr>
              <a:t>let s1 = String::from("hi");
let s2 = s1;
// s1 is INVALID now
// println!("{}", s1); ❌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42068B-8144-4F45-A4A2-E423CEB7AA5C}"/>
              </a:ext>
            </a:extLst>
          </p:cNvPr>
          <p:cNvSpPr/>
          <p:nvPr/>
        </p:nvSpPr>
        <p:spPr>
          <a:xfrm>
            <a:off x="4470400" y="2768600"/>
            <a:ext cx="3251200" cy="1905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5F5F5"/>
                </a:solidFill>
                <a:latin typeface="Consolas"/>
                <a:cs typeface="Consolas"/>
              </a:rPr>
              <a:t>let s = String::from("hi");
let r1 = &amp;s;
let r2 = &amp;s;
println!("{} {}", r1, r2); ✓
// many readers 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BE9106-6547-7F4B-9CEB-FF910ED1D381}"/>
              </a:ext>
            </a:extLst>
          </p:cNvPr>
          <p:cNvSpPr/>
          <p:nvPr/>
        </p:nvSpPr>
        <p:spPr>
          <a:xfrm>
            <a:off x="8331200" y="2768600"/>
            <a:ext cx="3251200" cy="1905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5F5F5"/>
                </a:solidFill>
                <a:latin typeface="Consolas"/>
                <a:cs typeface="Consolas"/>
              </a:rPr>
              <a:t>let mut s = String::from("hi");
let r = &amp;mut s;
r.push_str("!");
// only ONE &amp;mut
// no &amp; while &amp;mut lives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463779E-7D50-5742-A045-D564BB2857BC}"/>
              </a:ext>
            </a:extLst>
          </p:cNvPr>
          <p:cNvSpPr/>
          <p:nvPr/>
        </p:nvSpPr>
        <p:spPr>
          <a:xfrm>
            <a:off x="660400" y="4953000"/>
            <a:ext cx="762000" cy="355600"/>
          </a:xfrm>
          <a:prstGeom prst="roundRect">
            <a:avLst/>
          </a:prstGeom>
          <a:solidFill>
            <a:srgbClr val="FADBD8"/>
          </a:solidFill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 strike="sngStrike">
                <a:solidFill>
                  <a:srgbClr val="922B21"/>
                </a:solidFill>
                <a:latin typeface="Consolas"/>
                <a:cs typeface="Consolas"/>
              </a:rPr>
              <a:t>s1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5A9D4D-4D97-A240-8592-214D817845EF}"/>
              </a:ext>
            </a:extLst>
          </p:cNvPr>
          <p:cNvSpPr txBox="1"/>
          <p:nvPr/>
        </p:nvSpPr>
        <p:spPr>
          <a:xfrm>
            <a:off x="1498600" y="4927600"/>
            <a:ext cx="30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6D06836-57EF-1D4C-AB04-86D81817F0CE}"/>
              </a:ext>
            </a:extLst>
          </p:cNvPr>
          <p:cNvSpPr/>
          <p:nvPr/>
        </p:nvSpPr>
        <p:spPr>
          <a:xfrm>
            <a:off x="1879600" y="4953000"/>
            <a:ext cx="1143000" cy="3556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22222"/>
                </a:solidFill>
                <a:latin typeface="Consolas"/>
                <a:cs typeface="Consolas"/>
              </a:rPr>
              <a:t>"hi"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7A75C242-FD91-9340-9041-49FD0E73EEBC}"/>
              </a:ext>
            </a:extLst>
          </p:cNvPr>
          <p:cNvSpPr/>
          <p:nvPr/>
        </p:nvSpPr>
        <p:spPr>
          <a:xfrm>
            <a:off x="3098800" y="5029200"/>
            <a:ext cx="381000" cy="203200"/>
          </a:xfrm>
          <a:prstGeom prst="rightArrow">
            <a:avLst/>
          </a:prstGeom>
          <a:solidFill>
            <a:srgbClr val="1E844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176D663-C120-A545-9549-C9DC143045A3}"/>
              </a:ext>
            </a:extLst>
          </p:cNvPr>
          <p:cNvSpPr/>
          <p:nvPr/>
        </p:nvSpPr>
        <p:spPr>
          <a:xfrm>
            <a:off x="660400" y="5461000"/>
            <a:ext cx="762000" cy="355600"/>
          </a:xfrm>
          <a:prstGeom prst="roundRect">
            <a:avLst/>
          </a:prstGeom>
          <a:solidFill>
            <a:srgbClr val="D5F5E3"/>
          </a:solidFill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E5C2E"/>
                </a:solidFill>
                <a:latin typeface="Consolas"/>
                <a:cs typeface="Consolas"/>
              </a:rPr>
              <a:t>s2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5C94BD1-49F1-D44C-90F3-E7CFF879FE0E}"/>
              </a:ext>
            </a:extLst>
          </p:cNvPr>
          <p:cNvSpPr/>
          <p:nvPr/>
        </p:nvSpPr>
        <p:spPr>
          <a:xfrm>
            <a:off x="1498600" y="5537200"/>
            <a:ext cx="355600" cy="203200"/>
          </a:xfrm>
          <a:prstGeom prst="rightArrow">
            <a:avLst/>
          </a:prstGeom>
          <a:solidFill>
            <a:srgbClr val="1E844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ECDDA54-7385-6243-BEC0-39A3094AFCBC}"/>
              </a:ext>
            </a:extLst>
          </p:cNvPr>
          <p:cNvSpPr/>
          <p:nvPr/>
        </p:nvSpPr>
        <p:spPr>
          <a:xfrm>
            <a:off x="4521200" y="5207000"/>
            <a:ext cx="635000" cy="355600"/>
          </a:xfrm>
          <a:prstGeom prst="roundRect">
            <a:avLst/>
          </a:prstGeom>
          <a:solidFill>
            <a:srgbClr val="D6EAF8"/>
          </a:solidFill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618D"/>
                </a:solidFill>
                <a:latin typeface="Consolas"/>
                <a:cs typeface="Consolas"/>
              </a:rPr>
              <a:t>s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7175804D-9D3B-D54E-A127-F1473E20D064}"/>
              </a:ext>
            </a:extLst>
          </p:cNvPr>
          <p:cNvSpPr/>
          <p:nvPr/>
        </p:nvSpPr>
        <p:spPr>
          <a:xfrm>
            <a:off x="5207000" y="5283200"/>
            <a:ext cx="355600" cy="203200"/>
          </a:xfrm>
          <a:prstGeom prst="rightArrow">
            <a:avLst/>
          </a:prstGeom>
          <a:solidFill>
            <a:srgbClr val="1F5F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BB8536D-F54B-6441-B493-0518D633E24C}"/>
              </a:ext>
            </a:extLst>
          </p:cNvPr>
          <p:cNvSpPr/>
          <p:nvPr/>
        </p:nvSpPr>
        <p:spPr>
          <a:xfrm>
            <a:off x="5613400" y="5207000"/>
            <a:ext cx="1016000" cy="3556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22222"/>
                </a:solidFill>
                <a:latin typeface="Consolas"/>
                <a:cs typeface="Consolas"/>
              </a:rPr>
              <a:t>"hi"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11CE1E5-E028-DA40-B33F-AB90823FB14D}"/>
              </a:ext>
            </a:extLst>
          </p:cNvPr>
          <p:cNvSpPr/>
          <p:nvPr/>
        </p:nvSpPr>
        <p:spPr>
          <a:xfrm>
            <a:off x="6985000" y="4902200"/>
            <a:ext cx="685800" cy="330200"/>
          </a:xfrm>
          <a:prstGeom prst="roundRect">
            <a:avLst/>
          </a:prstGeom>
          <a:solidFill>
            <a:srgbClr val="EAF6FB"/>
          </a:solidFill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5F7A"/>
                </a:solidFill>
                <a:latin typeface="Consolas"/>
                <a:cs typeface="Consolas"/>
              </a:rPr>
              <a:t>&amp;r1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601A814-F130-4C48-8350-29FC845F3E23}"/>
              </a:ext>
            </a:extLst>
          </p:cNvPr>
          <p:cNvSpPr/>
          <p:nvPr/>
        </p:nvSpPr>
        <p:spPr>
          <a:xfrm>
            <a:off x="6985000" y="5537200"/>
            <a:ext cx="685800" cy="330200"/>
          </a:xfrm>
          <a:prstGeom prst="roundRect">
            <a:avLst/>
          </a:prstGeom>
          <a:solidFill>
            <a:srgbClr val="EAF6FB"/>
          </a:solidFill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5F7A"/>
                </a:solidFill>
                <a:latin typeface="Consolas"/>
                <a:cs typeface="Consolas"/>
              </a:rPr>
              <a:t>&amp;r2</a:t>
            </a:r>
          </a:p>
        </p:txBody>
      </p:sp>
      <p:sp>
        <p:nvSpPr>
          <p:cNvPr id="24" name="Left Arrow 23">
            <a:extLst>
              <a:ext uri="{FF2B5EF4-FFF2-40B4-BE49-F238E27FC236}">
                <a16:creationId xmlns:a16="http://schemas.microsoft.com/office/drawing/2014/main" id="{4370839E-D067-A543-B15A-DDF5AA558B9E}"/>
              </a:ext>
            </a:extLst>
          </p:cNvPr>
          <p:cNvSpPr/>
          <p:nvPr/>
        </p:nvSpPr>
        <p:spPr>
          <a:xfrm>
            <a:off x="6654800" y="4965700"/>
            <a:ext cx="330200" cy="203200"/>
          </a:xfrm>
          <a:prstGeom prst="leftArrow">
            <a:avLst/>
          </a:prstGeom>
          <a:solidFill>
            <a:srgbClr val="1F5F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Left Arrow 24">
            <a:extLst>
              <a:ext uri="{FF2B5EF4-FFF2-40B4-BE49-F238E27FC236}">
                <a16:creationId xmlns:a16="http://schemas.microsoft.com/office/drawing/2014/main" id="{D3915D0B-09EB-EA4B-B7BC-79D5AC3A45DB}"/>
              </a:ext>
            </a:extLst>
          </p:cNvPr>
          <p:cNvSpPr/>
          <p:nvPr/>
        </p:nvSpPr>
        <p:spPr>
          <a:xfrm>
            <a:off x="6654800" y="5600700"/>
            <a:ext cx="330200" cy="203200"/>
          </a:xfrm>
          <a:prstGeom prst="leftArrow">
            <a:avLst/>
          </a:prstGeom>
          <a:solidFill>
            <a:srgbClr val="1F5F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B2531BD-039D-5644-A20C-9D46BAFBCBBB}"/>
              </a:ext>
            </a:extLst>
          </p:cNvPr>
          <p:cNvSpPr/>
          <p:nvPr/>
        </p:nvSpPr>
        <p:spPr>
          <a:xfrm>
            <a:off x="8382000" y="5207000"/>
            <a:ext cx="635000" cy="355600"/>
          </a:xfrm>
          <a:prstGeom prst="roundRect">
            <a:avLst/>
          </a:prstGeom>
          <a:solidFill>
            <a:srgbClr val="D5F5E3"/>
          </a:solidFill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7A3D"/>
                </a:solidFill>
                <a:latin typeface="Consolas"/>
                <a:cs typeface="Consolas"/>
              </a:rPr>
              <a:t>s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13FC4F4B-48D8-5A41-9BD7-087AF0FA91CB}"/>
              </a:ext>
            </a:extLst>
          </p:cNvPr>
          <p:cNvSpPr/>
          <p:nvPr/>
        </p:nvSpPr>
        <p:spPr>
          <a:xfrm>
            <a:off x="9067800" y="5283200"/>
            <a:ext cx="355600" cy="203200"/>
          </a:xfrm>
          <a:prstGeom prst="rightArrow">
            <a:avLst/>
          </a:prstGeom>
          <a:solidFill>
            <a:srgbClr val="117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96C6DD2-52A3-1F4D-9CC6-3F90DE42043A}"/>
              </a:ext>
            </a:extLst>
          </p:cNvPr>
          <p:cNvSpPr/>
          <p:nvPr/>
        </p:nvSpPr>
        <p:spPr>
          <a:xfrm>
            <a:off x="9474200" y="5207000"/>
            <a:ext cx="1016000" cy="3556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22222"/>
                </a:solidFill>
                <a:latin typeface="Consolas"/>
                <a:cs typeface="Consolas"/>
              </a:rPr>
              <a:t>"hi!"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93AAF55-A4E0-9344-B586-E8F8B147248F}"/>
              </a:ext>
            </a:extLst>
          </p:cNvPr>
          <p:cNvSpPr/>
          <p:nvPr/>
        </p:nvSpPr>
        <p:spPr>
          <a:xfrm>
            <a:off x="10845800" y="5207000"/>
            <a:ext cx="685800" cy="355600"/>
          </a:xfrm>
          <a:prstGeom prst="roundRect">
            <a:avLst/>
          </a:prstGeom>
          <a:solidFill>
            <a:srgbClr val="E8F5E9"/>
          </a:solidFill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7A3D"/>
                </a:solidFill>
                <a:latin typeface="Consolas"/>
                <a:cs typeface="Consolas"/>
              </a:rPr>
              <a:t>&amp;mut r</a:t>
            </a:r>
          </a:p>
        </p:txBody>
      </p:sp>
      <p:sp>
        <p:nvSpPr>
          <p:cNvPr id="30" name="Left Arrow 29">
            <a:extLst>
              <a:ext uri="{FF2B5EF4-FFF2-40B4-BE49-F238E27FC236}">
                <a16:creationId xmlns:a16="http://schemas.microsoft.com/office/drawing/2014/main" id="{08D70F53-3D56-F848-8A5C-866653E00F75}"/>
              </a:ext>
            </a:extLst>
          </p:cNvPr>
          <p:cNvSpPr/>
          <p:nvPr/>
        </p:nvSpPr>
        <p:spPr>
          <a:xfrm>
            <a:off x="10515600" y="5283200"/>
            <a:ext cx="330200" cy="203200"/>
          </a:xfrm>
          <a:prstGeom prst="leftArrow">
            <a:avLst/>
          </a:prstGeom>
          <a:solidFill>
            <a:srgbClr val="117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7B962D-50BE-2143-BB95-3E097BDC7075}"/>
              </a:ext>
            </a:extLst>
          </p:cNvPr>
          <p:cNvSpPr txBox="1"/>
          <p:nvPr/>
        </p:nvSpPr>
        <p:spPr>
          <a:xfrm>
            <a:off x="8382000" y="5715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117A3D"/>
                </a:solidFill>
              </a:rPr>
              <a:t>exclusive — no other refs allowed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7C248C-EB32-CE41-8518-C42EEFD1D201}"/>
              </a:ext>
            </a:extLst>
          </p:cNvPr>
          <p:cNvSpPr txBox="1"/>
          <p:nvPr/>
        </p:nvSpPr>
        <p:spPr>
          <a:xfrm>
            <a:off x="609600" y="6286500"/>
            <a:ext cx="1097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1E1E1E"/>
                </a:solidFill>
              </a:rPr>
              <a:t>The Rule: at any time, either ONE &amp;mut OR any number of &amp;  —  enforced at compile 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0E065-E226-7B1B-31AB-17D78168D617}"/>
              </a:ext>
            </a:extLst>
          </p:cNvPr>
          <p:cNvSpPr/>
          <p:nvPr/>
        </p:nvSpPr>
        <p:spPr>
          <a:xfrm>
            <a:off x="889000" y="12700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24300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FEAB-9BBA-C185-487E-07F6CC4C4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Lifetime of 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91F928-2597-A042-86A1-E15485AD8D83}"/>
              </a:ext>
            </a:extLst>
          </p:cNvPr>
          <p:cNvSpPr/>
          <p:nvPr/>
        </p:nvSpPr>
        <p:spPr>
          <a:xfrm>
            <a:off x="457200" y="1905000"/>
            <a:ext cx="3556000" cy="381000"/>
          </a:xfrm>
          <a:prstGeom prst="rect">
            <a:avLst/>
          </a:prstGeom>
          <a:solidFill>
            <a:srgbClr val="8B451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WHAT IS A LIFETIME?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9A8CA-DE7C-B643-A174-519A450520A7}"/>
              </a:ext>
            </a:extLst>
          </p:cNvPr>
          <p:cNvSpPr txBox="1"/>
          <p:nvPr/>
        </p:nvSpPr>
        <p:spPr>
          <a:xfrm>
            <a:off x="457200" y="2336800"/>
            <a:ext cx="355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2B2B2B"/>
                </a:solidFill>
              </a:rPr>
              <a:t>A lifetime is the scope during which a reference is valid.
Rust uses lifetimes to guarantee that references never outlive the data they point to — preventing dangling references at compile time.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3FD95C-F0B3-CF41-B261-1D86DAB04C79}"/>
              </a:ext>
            </a:extLst>
          </p:cNvPr>
          <p:cNvSpPr/>
          <p:nvPr/>
        </p:nvSpPr>
        <p:spPr>
          <a:xfrm>
            <a:off x="457200" y="3860800"/>
            <a:ext cx="3556000" cy="381000"/>
          </a:xfrm>
          <a:prstGeom prst="rect">
            <a:avLst/>
          </a:prstGeom>
          <a:solidFill>
            <a:srgbClr val="8B451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</a:rPr>
              <a:t>SYNTAX: 'a  AND  'static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E57C2F-E25B-194E-B17E-5078994CC451}"/>
              </a:ext>
            </a:extLst>
          </p:cNvPr>
          <p:cNvSpPr txBox="1"/>
          <p:nvPr/>
        </p:nvSpPr>
        <p:spPr>
          <a:xfrm>
            <a:off x="457200" y="4292600"/>
            <a:ext cx="3556000" cy="18158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'a  </a:t>
            </a:r>
            <a:r>
              <a:rPr lang="en-US" sz="1400" dirty="0">
                <a:solidFill>
                  <a:srgbClr val="2B2B2B"/>
                </a:solidFill>
              </a:rPr>
              <a:t>a generic lifetime parameter (read “tick a”).
     Names a scope so the compiler can relate references.
</a:t>
            </a:r>
            <a:r>
              <a:rPr lang="en-US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'static</a:t>
            </a:r>
            <a:r>
              <a:rPr lang="en-US" sz="1400" dirty="0">
                <a:solidFill>
                  <a:srgbClr val="2B2B2B"/>
                </a:solidFill>
              </a:rPr>
              <a:t>  lives for the entire program.
     String literals (&amp;'static str) are the classic case.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04BBA6-536B-F941-88B9-0F03C75EC38A}"/>
              </a:ext>
            </a:extLst>
          </p:cNvPr>
          <p:cNvSpPr/>
          <p:nvPr/>
        </p:nvSpPr>
        <p:spPr>
          <a:xfrm>
            <a:off x="4216400" y="1905000"/>
            <a:ext cx="3556000" cy="381000"/>
          </a:xfrm>
          <a:prstGeom prst="rect">
            <a:avLst/>
          </a:prstGeom>
          <a:solidFill>
            <a:srgbClr val="8B451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VISUAL: SCOPES &amp; LIFETIMES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0B1B98-4B6D-0A44-B2D3-B837E17694F8}"/>
              </a:ext>
            </a:extLst>
          </p:cNvPr>
          <p:cNvSpPr/>
          <p:nvPr/>
        </p:nvSpPr>
        <p:spPr>
          <a:xfrm>
            <a:off x="4216400" y="2387600"/>
            <a:ext cx="3556000" cy="3810000"/>
          </a:xfrm>
          <a:prstGeom prst="rect">
            <a:avLst/>
          </a:prstGeom>
          <a:solidFill>
            <a:srgbClr val="F5EFE6"/>
          </a:solidFill>
          <a:ln w="12700" cap="flat" cmpd="sng" algn="ctr">
            <a:solidFill>
              <a:srgbClr val="2B2B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1058CD-3EC3-9B47-8E4B-92B58A8CF53D}"/>
              </a:ext>
            </a:extLst>
          </p:cNvPr>
          <p:cNvSpPr txBox="1"/>
          <p:nvPr/>
        </p:nvSpPr>
        <p:spPr>
          <a:xfrm>
            <a:off x="4343400" y="24638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B2B2B"/>
                </a:solidFill>
                <a:latin typeface="Consolas"/>
                <a:cs typeface="Consolas"/>
              </a:rPr>
              <a:t>fn main() {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853E74-02BA-6E40-A816-0DC4EC6D4C6E}"/>
              </a:ext>
            </a:extLst>
          </p:cNvPr>
          <p:cNvSpPr/>
          <p:nvPr/>
        </p:nvSpPr>
        <p:spPr>
          <a:xfrm>
            <a:off x="4572000" y="2819400"/>
            <a:ext cx="152400" cy="2540000"/>
          </a:xfrm>
          <a:prstGeom prst="rect">
            <a:avLst/>
          </a:prstGeom>
          <a:solidFill>
            <a:srgbClr val="3E7B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22D900-9459-BB47-9488-0F41D4357513}"/>
              </a:ext>
            </a:extLst>
          </p:cNvPr>
          <p:cNvSpPr txBox="1"/>
          <p:nvPr/>
        </p:nvSpPr>
        <p:spPr>
          <a:xfrm>
            <a:off x="4216400" y="2819400"/>
            <a:ext cx="304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rgbClr val="3E7B3E"/>
                </a:solidFill>
                <a:latin typeface="Consolas"/>
                <a:cs typeface="Consolas"/>
              </a:rPr>
              <a:t>'a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5B03D4-3F50-3843-B475-E436612EF798}"/>
              </a:ext>
            </a:extLst>
          </p:cNvPr>
          <p:cNvSpPr txBox="1"/>
          <p:nvPr/>
        </p:nvSpPr>
        <p:spPr>
          <a:xfrm>
            <a:off x="4724400" y="28194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2B2B2B"/>
                </a:solidFill>
                <a:latin typeface="Consolas"/>
                <a:cs typeface="Consolas"/>
              </a:rPr>
              <a:t>let s = String::from("hi");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A639F3-75C5-2544-A458-D3860A8C61F8}"/>
              </a:ext>
            </a:extLst>
          </p:cNvPr>
          <p:cNvSpPr/>
          <p:nvPr/>
        </p:nvSpPr>
        <p:spPr>
          <a:xfrm>
            <a:off x="4724400" y="3200400"/>
            <a:ext cx="2921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ED7391-1711-7445-967B-6345117B187C}"/>
              </a:ext>
            </a:extLst>
          </p:cNvPr>
          <p:cNvSpPr txBox="1"/>
          <p:nvPr/>
        </p:nvSpPr>
        <p:spPr>
          <a:xfrm>
            <a:off x="4775200" y="3200400"/>
            <a:ext cx="25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2B2B2B"/>
                </a:solidFill>
                <a:latin typeface="Consolas"/>
                <a:cs typeface="Consolas"/>
              </a:rPr>
              <a:t>{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1774CF-DC6E-7547-9E3E-40969A9DA970}"/>
              </a:ext>
            </a:extLst>
          </p:cNvPr>
          <p:cNvSpPr/>
          <p:nvPr/>
        </p:nvSpPr>
        <p:spPr>
          <a:xfrm>
            <a:off x="5029200" y="3581400"/>
            <a:ext cx="127000" cy="889000"/>
          </a:xfrm>
          <a:prstGeom prst="rect">
            <a:avLst/>
          </a:prstGeom>
          <a:solidFill>
            <a:srgbClr val="3D6F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E57A1F-528C-6F45-BFFB-F7DB5B012408}"/>
              </a:ext>
            </a:extLst>
          </p:cNvPr>
          <p:cNvSpPr txBox="1"/>
          <p:nvPr/>
        </p:nvSpPr>
        <p:spPr>
          <a:xfrm>
            <a:off x="4724400" y="35814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3D6FB8"/>
                </a:solidFill>
                <a:latin typeface="Consolas"/>
                <a:cs typeface="Consolas"/>
              </a:rPr>
              <a:t>'b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C5EADF-11DB-8540-8078-3B7F76733491}"/>
              </a:ext>
            </a:extLst>
          </p:cNvPr>
          <p:cNvSpPr txBox="1"/>
          <p:nvPr/>
        </p:nvSpPr>
        <p:spPr>
          <a:xfrm>
            <a:off x="5232400" y="35814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2B2B2B"/>
                </a:solidFill>
                <a:latin typeface="Consolas"/>
                <a:cs typeface="Consolas"/>
              </a:rPr>
              <a:t>let r: &amp;'b String = &amp;s;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1496C4-B2B7-3249-99B5-B10C6D904ED7}"/>
              </a:ext>
            </a:extLst>
          </p:cNvPr>
          <p:cNvSpPr txBox="1"/>
          <p:nvPr/>
        </p:nvSpPr>
        <p:spPr>
          <a:xfrm>
            <a:off x="5232400" y="40386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 err="1">
                <a:solidFill>
                  <a:srgbClr val="3E7B3E"/>
                </a:solidFill>
                <a:latin typeface="Consolas"/>
                <a:cs typeface="Consolas"/>
              </a:rPr>
              <a:t>println</a:t>
            </a:r>
            <a:r>
              <a:rPr lang="en-US" sz="1200" dirty="0">
                <a:solidFill>
                  <a:srgbClr val="3E7B3E"/>
                </a:solidFill>
                <a:latin typeface="Consolas"/>
                <a:cs typeface="Consolas"/>
              </a:rPr>
              <a:t>!("{r}");  // 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1EE34B-9ED1-3E41-81E1-F8CE16E8615D}"/>
              </a:ext>
            </a:extLst>
          </p:cNvPr>
          <p:cNvSpPr txBox="1"/>
          <p:nvPr/>
        </p:nvSpPr>
        <p:spPr>
          <a:xfrm>
            <a:off x="4800600" y="45466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66666"/>
                </a:solidFill>
                <a:latin typeface="Consolas"/>
                <a:cs typeface="Consolas"/>
              </a:rPr>
              <a:t>}  // 'b ends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164A6C-A49F-5E43-B937-B1AA13B15EA3}"/>
              </a:ext>
            </a:extLst>
          </p:cNvPr>
          <p:cNvSpPr txBox="1"/>
          <p:nvPr/>
        </p:nvSpPr>
        <p:spPr>
          <a:xfrm>
            <a:off x="4343400" y="58420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B2B2B"/>
                </a:solidFill>
                <a:latin typeface="Consolas"/>
                <a:cs typeface="Consolas"/>
              </a:rPr>
              <a:t>}  // 'a ends, s dropped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C546CB-6F9D-9240-A8C9-EB3889AD57A1}"/>
              </a:ext>
            </a:extLst>
          </p:cNvPr>
          <p:cNvSpPr txBox="1"/>
          <p:nvPr/>
        </p:nvSpPr>
        <p:spPr>
          <a:xfrm>
            <a:off x="4343400" y="54864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2B2B2B"/>
                </a:solidFill>
              </a:rPr>
              <a:t>Rule: 'b ⊆ 'a  →  reference cannot outlive its owner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D1011C-1540-AD4A-9692-7F873FE1A4DB}"/>
              </a:ext>
            </a:extLst>
          </p:cNvPr>
          <p:cNvSpPr/>
          <p:nvPr/>
        </p:nvSpPr>
        <p:spPr>
          <a:xfrm>
            <a:off x="7975600" y="1905000"/>
            <a:ext cx="3759200" cy="381000"/>
          </a:xfrm>
          <a:prstGeom prst="rect">
            <a:avLst/>
          </a:prstGeom>
          <a:solidFill>
            <a:srgbClr val="8B451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CODE SAMPLE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569985-6F2B-304E-957E-F64B8856C8DC}"/>
              </a:ext>
            </a:extLst>
          </p:cNvPr>
          <p:cNvSpPr/>
          <p:nvPr/>
        </p:nvSpPr>
        <p:spPr>
          <a:xfrm>
            <a:off x="7975600" y="2336800"/>
            <a:ext cx="3759200" cy="3860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81D2C8-2A1F-7348-88D5-0E63BBC5BC04}"/>
              </a:ext>
            </a:extLst>
          </p:cNvPr>
          <p:cNvSpPr txBox="1"/>
          <p:nvPr/>
        </p:nvSpPr>
        <p:spPr>
          <a:xfrm>
            <a:off x="8077200" y="2413000"/>
            <a:ext cx="3606800" cy="3708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E8E8E8"/>
                </a:solidFill>
                <a:latin typeface="Consolas"/>
                <a:cs typeface="Consolas"/>
              </a:rPr>
              <a:t>// 'a ties input &amp; output lifetimes:
// returned ref lives at least as
// long as BOTH inputs.
fn longest&lt;'a&gt;(x: &amp;'a str,
              y: &amp;'a str) -&gt; &amp;'a str {
    if x.len() &gt; y.len() { x } else { y }
}
fn main() {
    let s1 = String::from("hello");
    let result;
    {
        let s2 = String::from("world!");
        result = longest(&amp;s1, &amp;s2);
        println!("{}", result);  // OK
    } // s2 dropped
    // println!("{}", result);
    // ✗ won't compile: s2 is gone
}
// 'static — lives whole program:
let motto: &amp;'static str = "Rust!";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2D30E-57AB-6DE6-D520-D04F75248DAF}"/>
              </a:ext>
            </a:extLst>
          </p:cNvPr>
          <p:cNvSpPr/>
          <p:nvPr/>
        </p:nvSpPr>
        <p:spPr>
          <a:xfrm>
            <a:off x="838200" y="1294411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118200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AEE3BB-69D6-8949-8C1A-9B2A4E71A641}"/>
              </a:ext>
            </a:extLst>
          </p:cNvPr>
          <p:cNvSpPr txBox="1"/>
          <p:nvPr/>
        </p:nvSpPr>
        <p:spPr>
          <a:xfrm>
            <a:off x="838200" y="368300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E1E1E"/>
                </a:solidFill>
              </a:rPr>
              <a:t>Rust's Take on 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A4AF15-4F2A-EF45-AEF4-8D10680F9D01}"/>
              </a:ext>
            </a:extLst>
          </p:cNvPr>
          <p:cNvSpPr/>
          <p:nvPr/>
        </p:nvSpPr>
        <p:spPr>
          <a:xfrm>
            <a:off x="838200" y="12065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5CDFA-D946-DD4F-B42F-9983BE85EE21}"/>
              </a:ext>
            </a:extLst>
          </p:cNvPr>
          <p:cNvSpPr txBox="1"/>
          <p:nvPr/>
        </p:nvSpPr>
        <p:spPr>
          <a:xfrm>
            <a:off x="838200" y="1397000"/>
            <a:ext cx="105156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666666"/>
                </a:solidFill>
              </a:rPr>
              <a:t>Rust is not class-based — it composes OOP from three primitives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DBDABC-4F68-A04B-AB24-B375057E6844}"/>
              </a:ext>
            </a:extLst>
          </p:cNvPr>
          <p:cNvSpPr/>
          <p:nvPr/>
        </p:nvSpPr>
        <p:spPr>
          <a:xfrm>
            <a:off x="838200" y="2032000"/>
            <a:ext cx="3302000" cy="3556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5081A2-69CF-364F-9C11-537DE6F01408}"/>
              </a:ext>
            </a:extLst>
          </p:cNvPr>
          <p:cNvSpPr/>
          <p:nvPr/>
        </p:nvSpPr>
        <p:spPr>
          <a:xfrm>
            <a:off x="838200" y="2032000"/>
            <a:ext cx="3302000" cy="76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09864-B959-134B-8368-E94118FBA06E}"/>
              </a:ext>
            </a:extLst>
          </p:cNvPr>
          <p:cNvSpPr txBox="1"/>
          <p:nvPr/>
        </p:nvSpPr>
        <p:spPr>
          <a:xfrm>
            <a:off x="1092200" y="22860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CE422B"/>
                </a:solidFill>
              </a:rPr>
              <a:t>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3809D0-6BB8-EE4B-95E0-6B8AA923067E}"/>
              </a:ext>
            </a:extLst>
          </p:cNvPr>
          <p:cNvSpPr txBox="1"/>
          <p:nvPr/>
        </p:nvSpPr>
        <p:spPr>
          <a:xfrm>
            <a:off x="1092200" y="2984500"/>
            <a:ext cx="2794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A8E6A1"/>
                </a:solidFill>
                <a:latin typeface="Consolas"/>
                <a:cs typeface="Consolas"/>
              </a:rPr>
              <a:t>struct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794F79-52A7-C140-ABE7-7D30CBD83178}"/>
              </a:ext>
            </a:extLst>
          </p:cNvPr>
          <p:cNvSpPr txBox="1"/>
          <p:nvPr/>
        </p:nvSpPr>
        <p:spPr>
          <a:xfrm>
            <a:off x="1092200" y="34798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6A7613-5FA9-5945-A207-7EFCB7820179}"/>
              </a:ext>
            </a:extLst>
          </p:cNvPr>
          <p:cNvSpPr txBox="1"/>
          <p:nvPr/>
        </p:nvSpPr>
        <p:spPr>
          <a:xfrm>
            <a:off x="1092200" y="3873500"/>
            <a:ext cx="27940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5F5F5"/>
                </a:solidFill>
              </a:rPr>
              <a:t>Holds fields. No methods inside.
Pure state container.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4F52C3-F94E-8D46-9DA4-86239DED472D}"/>
              </a:ext>
            </a:extLst>
          </p:cNvPr>
          <p:cNvSpPr/>
          <p:nvPr/>
        </p:nvSpPr>
        <p:spPr>
          <a:xfrm>
            <a:off x="4445000" y="2032000"/>
            <a:ext cx="3302000" cy="3556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9FDCAB-F555-A14C-A0DF-FAA890266B2F}"/>
              </a:ext>
            </a:extLst>
          </p:cNvPr>
          <p:cNvSpPr/>
          <p:nvPr/>
        </p:nvSpPr>
        <p:spPr>
          <a:xfrm>
            <a:off x="4445000" y="2032000"/>
            <a:ext cx="3302000" cy="76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BCA12B-6876-B646-8092-6A86E66B0DC5}"/>
              </a:ext>
            </a:extLst>
          </p:cNvPr>
          <p:cNvSpPr txBox="1"/>
          <p:nvPr/>
        </p:nvSpPr>
        <p:spPr>
          <a:xfrm>
            <a:off x="4699000" y="22860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CE422B"/>
                </a:solidFill>
              </a:rPr>
              <a:t>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942C94-855D-254C-BF66-BA87A45BA445}"/>
              </a:ext>
            </a:extLst>
          </p:cNvPr>
          <p:cNvSpPr txBox="1"/>
          <p:nvPr/>
        </p:nvSpPr>
        <p:spPr>
          <a:xfrm>
            <a:off x="4699000" y="2984500"/>
            <a:ext cx="2794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A8E6A1"/>
                </a:solidFill>
                <a:latin typeface="Consolas"/>
                <a:cs typeface="Consolas"/>
              </a:rPr>
              <a:t>impl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1B0039-AD67-CB49-927D-6DF6E51022F5}"/>
              </a:ext>
            </a:extLst>
          </p:cNvPr>
          <p:cNvSpPr txBox="1"/>
          <p:nvPr/>
        </p:nvSpPr>
        <p:spPr>
          <a:xfrm>
            <a:off x="4699000" y="34798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Behavior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BF9019-3975-2E44-BBC2-EF13CBECF6C6}"/>
              </a:ext>
            </a:extLst>
          </p:cNvPr>
          <p:cNvSpPr txBox="1"/>
          <p:nvPr/>
        </p:nvSpPr>
        <p:spPr>
          <a:xfrm>
            <a:off x="4699000" y="3873500"/>
            <a:ext cx="27940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5F5F5"/>
                </a:solidFill>
              </a:rPr>
              <a:t>Attaches methods to a struct.
Defined separately from data.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DD11A1-EDA2-C84C-9C3C-513BD1AF93DA}"/>
              </a:ext>
            </a:extLst>
          </p:cNvPr>
          <p:cNvSpPr/>
          <p:nvPr/>
        </p:nvSpPr>
        <p:spPr>
          <a:xfrm>
            <a:off x="8051800" y="2032000"/>
            <a:ext cx="3302000" cy="3556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0FAB43-FFEC-5646-9DC8-19C86F506D3A}"/>
              </a:ext>
            </a:extLst>
          </p:cNvPr>
          <p:cNvSpPr/>
          <p:nvPr/>
        </p:nvSpPr>
        <p:spPr>
          <a:xfrm>
            <a:off x="8051800" y="2032000"/>
            <a:ext cx="3302000" cy="76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95A0B6-5814-0D48-BDA3-8097EE8EE37F}"/>
              </a:ext>
            </a:extLst>
          </p:cNvPr>
          <p:cNvSpPr txBox="1"/>
          <p:nvPr/>
        </p:nvSpPr>
        <p:spPr>
          <a:xfrm>
            <a:off x="8305800" y="22860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CE422B"/>
                </a:solidFill>
              </a:rPr>
              <a:t>◇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99EC09-3C7D-7D47-88B8-85CB59D88AEF}"/>
              </a:ext>
            </a:extLst>
          </p:cNvPr>
          <p:cNvSpPr txBox="1"/>
          <p:nvPr/>
        </p:nvSpPr>
        <p:spPr>
          <a:xfrm>
            <a:off x="8305800" y="2984500"/>
            <a:ext cx="2794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A8E6A1"/>
                </a:solidFill>
                <a:latin typeface="Consolas"/>
                <a:cs typeface="Consolas"/>
              </a:rPr>
              <a:t>trait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C7BEA-462C-564A-82B9-0393F80114B4}"/>
              </a:ext>
            </a:extLst>
          </p:cNvPr>
          <p:cNvSpPr txBox="1"/>
          <p:nvPr/>
        </p:nvSpPr>
        <p:spPr>
          <a:xfrm>
            <a:off x="8305800" y="34798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Polymorphism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BE0832-456A-B64F-AC92-A20D9D3E65E5}"/>
              </a:ext>
            </a:extLst>
          </p:cNvPr>
          <p:cNvSpPr txBox="1"/>
          <p:nvPr/>
        </p:nvSpPr>
        <p:spPr>
          <a:xfrm>
            <a:off x="8305800" y="3873500"/>
            <a:ext cx="27940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5F5F5"/>
                </a:solidFill>
              </a:rPr>
              <a:t>Shared interface across types.
Like Python ABCs / C++ concepts.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834D5D-5181-AE40-9476-3E2667866E45}"/>
              </a:ext>
            </a:extLst>
          </p:cNvPr>
          <p:cNvSpPr/>
          <p:nvPr/>
        </p:nvSpPr>
        <p:spPr>
          <a:xfrm>
            <a:off x="838200" y="5842000"/>
            <a:ext cx="10515600" cy="635000"/>
          </a:xfrm>
          <a:prstGeom prst="rect">
            <a:avLst/>
          </a:prstGeom>
          <a:solidFill>
            <a:srgbClr val="FFF4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A7E855-4983-F346-96AD-36F95C566412}"/>
              </a:ext>
            </a:extLst>
          </p:cNvPr>
          <p:cNvSpPr txBox="1"/>
          <p:nvPr/>
        </p:nvSpPr>
        <p:spPr>
          <a:xfrm>
            <a:off x="1016000" y="59944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CE422B"/>
                </a:solidFill>
              </a:rPr>
              <a:t>⚡  No classes, no inheritance — composition over inheritance, enforced by the language.</a:t>
            </a:r>
          </a:p>
        </p:txBody>
      </p:sp>
    </p:spTree>
    <p:extLst>
      <p:ext uri="{BB962C8B-B14F-4D97-AF65-F5344CB8AC3E}">
        <p14:creationId xmlns:p14="http://schemas.microsoft.com/office/powerpoint/2010/main" val="2013251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6AF03D-4A87-1749-9C2D-ECCFBB83D023}"/>
              </a:ext>
            </a:extLst>
          </p:cNvPr>
          <p:cNvSpPr txBox="1"/>
          <p:nvPr/>
        </p:nvSpPr>
        <p:spPr>
          <a:xfrm>
            <a:off x="838200" y="368300"/>
            <a:ext cx="10515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E1E1E"/>
                </a:solidFill>
              </a:rPr>
              <a:t>Same Idea, Three Languages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A78947-0349-F84C-B3DA-2B68FC097B3C}"/>
              </a:ext>
            </a:extLst>
          </p:cNvPr>
          <p:cNvSpPr/>
          <p:nvPr/>
        </p:nvSpPr>
        <p:spPr>
          <a:xfrm>
            <a:off x="838200" y="10795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32252-3BDC-4B40-A3BC-D299AB411574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</a:rPr>
              <a:t>A simple Animal type with a method speak() — implemented in each language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6BE36D-9DB8-BA4E-9FDF-766224DC8C03}"/>
              </a:ext>
            </a:extLst>
          </p:cNvPr>
          <p:cNvSpPr/>
          <p:nvPr/>
        </p:nvSpPr>
        <p:spPr>
          <a:xfrm>
            <a:off x="381000" y="1752600"/>
            <a:ext cx="3683000" cy="381000"/>
          </a:xfrm>
          <a:prstGeom prst="rect">
            <a:avLst/>
          </a:prstGeom>
          <a:solidFill>
            <a:srgbClr val="377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03512E-6C22-3E47-9B9C-C3A48BE815AE}"/>
              </a:ext>
            </a:extLst>
          </p:cNvPr>
          <p:cNvSpPr/>
          <p:nvPr/>
        </p:nvSpPr>
        <p:spPr>
          <a:xfrm>
            <a:off x="381000" y="2133600"/>
            <a:ext cx="3683000" cy="4064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6EE3F-761E-5C49-837C-04B78528BF8B}"/>
              </a:ext>
            </a:extLst>
          </p:cNvPr>
          <p:cNvSpPr txBox="1"/>
          <p:nvPr/>
        </p:nvSpPr>
        <p:spPr>
          <a:xfrm>
            <a:off x="533400" y="2286000"/>
            <a:ext cx="3429000" cy="381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5F5F5"/>
                </a:solidFill>
                <a:latin typeface="Consolas"/>
                <a:cs typeface="Consolas"/>
              </a:rPr>
              <a:t>class Animal:
    def __init__(self, name):
        self.name = name
    def speak(self):
        print(f"{self.name} says hi")
a = Animal("Rex")
a.speak()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DA934B-F523-8C4F-89E3-7D80F51C55A4}"/>
              </a:ext>
            </a:extLst>
          </p:cNvPr>
          <p:cNvSpPr/>
          <p:nvPr/>
        </p:nvSpPr>
        <p:spPr>
          <a:xfrm>
            <a:off x="4254500" y="1752600"/>
            <a:ext cx="3683000" cy="381000"/>
          </a:xfrm>
          <a:prstGeom prst="rect">
            <a:avLst/>
          </a:prstGeom>
          <a:solidFill>
            <a:srgbClr val="00599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C++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1ADBB-09DB-8243-B3D4-CA51C49D809B}"/>
              </a:ext>
            </a:extLst>
          </p:cNvPr>
          <p:cNvSpPr/>
          <p:nvPr/>
        </p:nvSpPr>
        <p:spPr>
          <a:xfrm>
            <a:off x="4254500" y="2133600"/>
            <a:ext cx="3683000" cy="4064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182977-71A7-9F40-9C18-08C2C56D27E1}"/>
              </a:ext>
            </a:extLst>
          </p:cNvPr>
          <p:cNvSpPr txBox="1"/>
          <p:nvPr/>
        </p:nvSpPr>
        <p:spPr>
          <a:xfrm>
            <a:off x="4406900" y="2286000"/>
            <a:ext cx="3429000" cy="381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5F5F5"/>
                </a:solidFill>
                <a:latin typeface="Consolas"/>
                <a:cs typeface="Consolas"/>
              </a:rPr>
              <a:t>class Animal {
  std::string name;
public:
  Animal(std::string n)
    : name(n) {}
  void speak() {
    std::cout &lt;&lt; name
      &lt;&lt; " says hi\n";
  }
};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6E1758-0203-2548-8C13-D4030FE96ADB}"/>
              </a:ext>
            </a:extLst>
          </p:cNvPr>
          <p:cNvSpPr/>
          <p:nvPr/>
        </p:nvSpPr>
        <p:spPr>
          <a:xfrm>
            <a:off x="8128000" y="1752600"/>
            <a:ext cx="3683000" cy="3810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Rust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718A7B-9671-014B-BCA7-330F95D14803}"/>
              </a:ext>
            </a:extLst>
          </p:cNvPr>
          <p:cNvSpPr/>
          <p:nvPr/>
        </p:nvSpPr>
        <p:spPr>
          <a:xfrm>
            <a:off x="8128000" y="2133600"/>
            <a:ext cx="3683000" cy="4064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4ACD28-7D77-CE41-9548-C8B8ABB50C43}"/>
              </a:ext>
            </a:extLst>
          </p:cNvPr>
          <p:cNvSpPr txBox="1"/>
          <p:nvPr/>
        </p:nvSpPr>
        <p:spPr>
          <a:xfrm>
            <a:off x="8280400" y="2286000"/>
            <a:ext cx="3429000" cy="381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5F5F5"/>
                </a:solidFill>
                <a:latin typeface="Consolas"/>
                <a:cs typeface="Consolas"/>
              </a:rPr>
              <a:t>struct Animal {
    name: String,
}
impl Animal {
    fn speak(&amp;self) {
        println!(
          "{} says hi",
          self.name);
    }
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515C93-3144-5C4C-B33F-EC531B358A06}"/>
              </a:ext>
            </a:extLst>
          </p:cNvPr>
          <p:cNvSpPr txBox="1"/>
          <p:nvPr/>
        </p:nvSpPr>
        <p:spPr>
          <a:xfrm>
            <a:off x="381000" y="63246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444444"/>
                </a:solidFill>
              </a:rPr>
              <a:t>Python &amp; C++ bind data + methods inside one class block.  Rust splits them: struct = data, impl = methods.</a:t>
            </a:r>
          </a:p>
        </p:txBody>
      </p:sp>
    </p:spTree>
    <p:extLst>
      <p:ext uri="{BB962C8B-B14F-4D97-AF65-F5344CB8AC3E}">
        <p14:creationId xmlns:p14="http://schemas.microsoft.com/office/powerpoint/2010/main" val="858963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057618-9171-DA43-A4AD-A81D947A368D}"/>
              </a:ext>
            </a:extLst>
          </p:cNvPr>
          <p:cNvSpPr txBox="1"/>
          <p:nvPr/>
        </p:nvSpPr>
        <p:spPr>
          <a:xfrm>
            <a:off x="838200" y="368300"/>
            <a:ext cx="10515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E1E1E"/>
                </a:solidFill>
              </a:rPr>
              <a:t>OOP Feature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156B47-57BF-0E4F-8380-08C93F2CAA22}"/>
              </a:ext>
            </a:extLst>
          </p:cNvPr>
          <p:cNvSpPr/>
          <p:nvPr/>
        </p:nvSpPr>
        <p:spPr>
          <a:xfrm>
            <a:off x="838200" y="10795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D5B8A0-C0CE-FD4E-ACEA-ABEBC8AE1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942963"/>
              </p:ext>
            </p:extLst>
          </p:nvPr>
        </p:nvGraphicFramePr>
        <p:xfrm>
          <a:off x="635000" y="1460500"/>
          <a:ext cx="109220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666407606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366321237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660906759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167707355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C++</a:t>
                      </a:r>
                    </a:p>
                  </a:txBody>
                  <a:tcPr anchor="ctr">
                    <a:solidFill>
                      <a:srgbClr val="0059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Rust</a:t>
                      </a:r>
                    </a:p>
                  </a:txBody>
                  <a:tcPr anchor="ctr">
                    <a:solidFill>
                      <a:srgbClr val="CE4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0719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E1E1E"/>
                          </a:solidFill>
                        </a:rPr>
                        <a:t>Classes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Yes — class keyword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Yes — class / struct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No — struct + impl + trait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13535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E1E1E"/>
                          </a:solidFill>
                        </a:rPr>
                        <a:t>Inheritance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Multiple, dynamic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Multiple, with virtual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None — uses traits + composition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8365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E1E1E"/>
                          </a:solidFill>
                        </a:rPr>
                        <a:t>Polymorphism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Duck typing at runtime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Virtual functions (vtable)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Trait objects (dyn) or generics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3075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E1E1E"/>
                          </a:solidFill>
                        </a:rPr>
                        <a:t>Encapsulation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Convention (_private)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public / private / protected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pub keyword, private by 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248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E1E1E"/>
                          </a:solidFill>
                        </a:rPr>
                        <a:t>Memory model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GC-managed, runtime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Manual / RAII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</a:rPr>
                        <a:t>Ownership + borrow checker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19081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4B4B430-9675-7E4E-A297-CFE27EBC8707}"/>
              </a:ext>
            </a:extLst>
          </p:cNvPr>
          <p:cNvSpPr/>
          <p:nvPr/>
        </p:nvSpPr>
        <p:spPr>
          <a:xfrm>
            <a:off x="635000" y="5842000"/>
            <a:ext cx="10922000" cy="635000"/>
          </a:xfrm>
          <a:prstGeom prst="rect">
            <a:avLst/>
          </a:prstGeom>
          <a:solidFill>
            <a:srgbClr val="FFF4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0D5CE-3E7C-CB4C-8216-68BA49FEA2B5}"/>
              </a:ext>
            </a:extLst>
          </p:cNvPr>
          <p:cNvSpPr txBox="1"/>
          <p:nvPr/>
        </p:nvSpPr>
        <p:spPr>
          <a:xfrm>
            <a:off x="762000" y="5994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CE422B"/>
                </a:solidFill>
              </a:rPr>
              <a:t>Rust trades classes for traits + ownership: less inheritance, more compile-time guarantees.</a:t>
            </a:r>
          </a:p>
        </p:txBody>
      </p:sp>
    </p:spTree>
    <p:extLst>
      <p:ext uri="{BB962C8B-B14F-4D97-AF65-F5344CB8AC3E}">
        <p14:creationId xmlns:p14="http://schemas.microsoft.com/office/powerpoint/2010/main" val="3872426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7F1EE-94F3-544B-BCF6-F40765EF5D4A}"/>
              </a:ext>
            </a:extLst>
          </p:cNvPr>
          <p:cNvSpPr txBox="1"/>
          <p:nvPr/>
        </p:nvSpPr>
        <p:spPr>
          <a:xfrm>
            <a:off x="838200" y="368300"/>
            <a:ext cx="10515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E1E1E"/>
                </a:solidFill>
              </a:rPr>
              <a:t>What is a Trait?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95DF2D-BEC0-F349-8520-5368E6905474}"/>
              </a:ext>
            </a:extLst>
          </p:cNvPr>
          <p:cNvSpPr/>
          <p:nvPr/>
        </p:nvSpPr>
        <p:spPr>
          <a:xfrm>
            <a:off x="838200" y="10795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32C6C-8508-9A4E-AFA1-ADB46093396A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</a:rPr>
              <a:t>A shared set of method signatures that any type can opt into — Rust's answer to interfaces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0AA852-5F48-7D48-8560-3210F06D045F}"/>
              </a:ext>
            </a:extLst>
          </p:cNvPr>
          <p:cNvSpPr/>
          <p:nvPr/>
        </p:nvSpPr>
        <p:spPr>
          <a:xfrm>
            <a:off x="635000" y="1778000"/>
            <a:ext cx="5461000" cy="3556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Anatomy of a trait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51816C-E4CB-C645-87AE-ABF03948FE54}"/>
              </a:ext>
            </a:extLst>
          </p:cNvPr>
          <p:cNvSpPr/>
          <p:nvPr/>
        </p:nvSpPr>
        <p:spPr>
          <a:xfrm>
            <a:off x="635000" y="2133600"/>
            <a:ext cx="5461000" cy="4064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12B1E-B5FF-7249-925C-299B0E664748}"/>
              </a:ext>
            </a:extLst>
          </p:cNvPr>
          <p:cNvSpPr txBox="1"/>
          <p:nvPr/>
        </p:nvSpPr>
        <p:spPr>
          <a:xfrm>
            <a:off x="787400" y="2260600"/>
            <a:ext cx="5207000" cy="3873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F5F5F5"/>
                </a:solidFill>
                <a:latin typeface="Consolas"/>
                <a:cs typeface="Consolas"/>
              </a:rPr>
              <a:t>// 1. Define a trait — the contract
trait Greet {
    fn hello(&amp;self) -&gt; String;
    // default method (optional)
    fn shout(&amp;self) -&gt; String {
        self.hello().to_uppercase()
    }
}
// 2. Implement for a type
struct Dog { name: String }
impl Greet for Dog {
    fn hello(&amp;self) -&gt; String {
        format!("Woof, I'm {}", self.name)
    }
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94AE2B-DE7F-4942-AAA3-5F1317F12393}"/>
              </a:ext>
            </a:extLst>
          </p:cNvPr>
          <p:cNvSpPr/>
          <p:nvPr/>
        </p:nvSpPr>
        <p:spPr>
          <a:xfrm>
            <a:off x="6350000" y="1778000"/>
            <a:ext cx="5207000" cy="3556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A8E6A1"/>
                </a:solidFill>
              </a:rPr>
              <a:t>Key ideas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94E6E5-7E39-6848-B3D0-7D3C17F0A1FF}"/>
              </a:ext>
            </a:extLst>
          </p:cNvPr>
          <p:cNvSpPr/>
          <p:nvPr/>
        </p:nvSpPr>
        <p:spPr>
          <a:xfrm>
            <a:off x="6477000" y="2311400"/>
            <a:ext cx="127000" cy="1270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C45C82-7D60-FF4B-9C49-4A3FEE50C7EB}"/>
              </a:ext>
            </a:extLst>
          </p:cNvPr>
          <p:cNvSpPr txBox="1"/>
          <p:nvPr/>
        </p:nvSpPr>
        <p:spPr>
          <a:xfrm>
            <a:off x="6705600" y="2260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1E1E"/>
                </a:solidFill>
              </a:rPr>
              <a:t>Contract, not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132401-F7CE-FE4A-B71E-1148ADB851FE}"/>
              </a:ext>
            </a:extLst>
          </p:cNvPr>
          <p:cNvSpPr txBox="1"/>
          <p:nvPr/>
        </p:nvSpPr>
        <p:spPr>
          <a:xfrm>
            <a:off x="6705600" y="25146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Traits define what methods exist — never fields. Data lives on structs.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7D32181-2A82-EF46-B108-8397F30BD870}"/>
              </a:ext>
            </a:extLst>
          </p:cNvPr>
          <p:cNvSpPr/>
          <p:nvPr/>
        </p:nvSpPr>
        <p:spPr>
          <a:xfrm>
            <a:off x="6477000" y="3302000"/>
            <a:ext cx="127000" cy="1270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745A5D-9CEC-DD4B-AFCF-CB348F038305}"/>
              </a:ext>
            </a:extLst>
          </p:cNvPr>
          <p:cNvSpPr txBox="1"/>
          <p:nvPr/>
        </p:nvSpPr>
        <p:spPr>
          <a:xfrm>
            <a:off x="6705600" y="3251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1E1E"/>
                </a:solidFill>
              </a:rPr>
              <a:t>Default methods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D992C9-D1F5-AD46-8522-4DD59AFAFA65}"/>
              </a:ext>
            </a:extLst>
          </p:cNvPr>
          <p:cNvSpPr txBox="1"/>
          <p:nvPr/>
        </p:nvSpPr>
        <p:spPr>
          <a:xfrm>
            <a:off x="6705600" y="35052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Traits can ship default implementations. Implementors override only what they need.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223C334-B953-6348-9366-7F734E4E59ED}"/>
              </a:ext>
            </a:extLst>
          </p:cNvPr>
          <p:cNvSpPr/>
          <p:nvPr/>
        </p:nvSpPr>
        <p:spPr>
          <a:xfrm>
            <a:off x="6477000" y="4292600"/>
            <a:ext cx="127000" cy="1270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C92924-79AE-B045-9638-AA246021B074}"/>
              </a:ext>
            </a:extLst>
          </p:cNvPr>
          <p:cNvSpPr txBox="1"/>
          <p:nvPr/>
        </p:nvSpPr>
        <p:spPr>
          <a:xfrm>
            <a:off x="6705600" y="4241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1E1E"/>
                </a:solidFill>
              </a:rPr>
              <a:t>Multiple per type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4812CD-C4E4-6649-A960-E6EE0881F859}"/>
              </a:ext>
            </a:extLst>
          </p:cNvPr>
          <p:cNvSpPr txBox="1"/>
          <p:nvPr/>
        </p:nvSpPr>
        <p:spPr>
          <a:xfrm>
            <a:off x="6705600" y="44958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One struct can implement many traits. No diamond problem because there's no inheritance.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52DC4A-8290-A34C-BF34-0D682EAEBC04}"/>
              </a:ext>
            </a:extLst>
          </p:cNvPr>
          <p:cNvSpPr/>
          <p:nvPr/>
        </p:nvSpPr>
        <p:spPr>
          <a:xfrm>
            <a:off x="6477000" y="5283200"/>
            <a:ext cx="127000" cy="127000"/>
          </a:xfrm>
          <a:prstGeom prst="ellipse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0D0958-8CA7-5948-8676-B126D2BEF0AE}"/>
              </a:ext>
            </a:extLst>
          </p:cNvPr>
          <p:cNvSpPr txBox="1"/>
          <p:nvPr/>
        </p:nvSpPr>
        <p:spPr>
          <a:xfrm>
            <a:off x="6705600" y="5232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1E1E"/>
                </a:solidFill>
              </a:rPr>
              <a:t>Coherence rule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3D7E91-CCCB-7841-8F70-5B644843797F}"/>
              </a:ext>
            </a:extLst>
          </p:cNvPr>
          <p:cNvSpPr txBox="1"/>
          <p:nvPr/>
        </p:nvSpPr>
        <p:spPr>
          <a:xfrm>
            <a:off x="6705600" y="54864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44444"/>
                </a:solidFill>
              </a:rPr>
              <a:t>You can implement a trait for a type only if you own the trait OR the type — prevents conflicts.</a:t>
            </a:r>
          </a:p>
        </p:txBody>
      </p:sp>
    </p:spTree>
    <p:extLst>
      <p:ext uri="{BB962C8B-B14F-4D97-AF65-F5344CB8AC3E}">
        <p14:creationId xmlns:p14="http://schemas.microsoft.com/office/powerpoint/2010/main" val="3391286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037864-3B13-5A43-AAA8-2E2307623E26}"/>
              </a:ext>
            </a:extLst>
          </p:cNvPr>
          <p:cNvSpPr txBox="1"/>
          <p:nvPr/>
        </p:nvSpPr>
        <p:spPr>
          <a:xfrm>
            <a:off x="838200" y="368300"/>
            <a:ext cx="105156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 dirty="0">
                <a:solidFill>
                  <a:srgbClr val="1E1E1E"/>
                </a:solidFill>
              </a:rPr>
              <a:t>Traits vs C++ Abstract Classes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AE03B7-0F4D-364A-AA59-1037661240D4}"/>
              </a:ext>
            </a:extLst>
          </p:cNvPr>
          <p:cNvSpPr/>
          <p:nvPr/>
        </p:nvSpPr>
        <p:spPr>
          <a:xfrm>
            <a:off x="838200" y="10795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4B31F-1C73-9148-8A60-6BF6D3E229C9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</a:rPr>
              <a:t>Same goal — shared behavior across types — but very different mechanics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71561-0206-E24C-82EB-E90AE85B60BD}"/>
              </a:ext>
            </a:extLst>
          </p:cNvPr>
          <p:cNvSpPr/>
          <p:nvPr/>
        </p:nvSpPr>
        <p:spPr>
          <a:xfrm>
            <a:off x="635000" y="1752600"/>
            <a:ext cx="5334000" cy="355600"/>
          </a:xfrm>
          <a:prstGeom prst="rect">
            <a:avLst/>
          </a:prstGeom>
          <a:solidFill>
            <a:srgbClr val="00599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C++ — abstract class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FCC55A-C698-D144-9106-1B6F0A59A924}"/>
              </a:ext>
            </a:extLst>
          </p:cNvPr>
          <p:cNvSpPr/>
          <p:nvPr/>
        </p:nvSpPr>
        <p:spPr>
          <a:xfrm>
            <a:off x="635000" y="2108200"/>
            <a:ext cx="5334000" cy="3048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ED77D-775D-924B-B827-1360B49D82E7}"/>
              </a:ext>
            </a:extLst>
          </p:cNvPr>
          <p:cNvSpPr txBox="1"/>
          <p:nvPr/>
        </p:nvSpPr>
        <p:spPr>
          <a:xfrm>
            <a:off x="787400" y="2235200"/>
            <a:ext cx="5080000" cy="285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F5F5F5"/>
                </a:solidFill>
                <a:latin typeface="Consolas"/>
                <a:cs typeface="Consolas"/>
              </a:rPr>
              <a:t>class IGreet {
public:
  virtual ~IGreet() = default;
  virtual std::string
    hello() const = 0;
};
class Dog : public IGreet {
  std::string name;
public:
  Dog(std::string n) : name(n) {}
  std::string hello() const
    override {
    return "Woof, " + name;
  }
};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526F78-CF78-524C-AC5A-2E2C5F119A9C}"/>
              </a:ext>
            </a:extLst>
          </p:cNvPr>
          <p:cNvSpPr/>
          <p:nvPr/>
        </p:nvSpPr>
        <p:spPr>
          <a:xfrm>
            <a:off x="6223000" y="1752600"/>
            <a:ext cx="5334000" cy="3556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Rust — trait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837C1F-295C-6B46-A2A3-75CF0CF6E6F8}"/>
              </a:ext>
            </a:extLst>
          </p:cNvPr>
          <p:cNvSpPr/>
          <p:nvPr/>
        </p:nvSpPr>
        <p:spPr>
          <a:xfrm>
            <a:off x="6223000" y="2108200"/>
            <a:ext cx="5334000" cy="3048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224485-A46E-1E40-9EED-B01F6BD7C031}"/>
              </a:ext>
            </a:extLst>
          </p:cNvPr>
          <p:cNvSpPr txBox="1"/>
          <p:nvPr/>
        </p:nvSpPr>
        <p:spPr>
          <a:xfrm>
            <a:off x="6375400" y="2235200"/>
            <a:ext cx="5080000" cy="285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F5F5F5"/>
                </a:solidFill>
                <a:latin typeface="Consolas"/>
                <a:cs typeface="Consolas"/>
              </a:rPr>
              <a:t>trait Greet {
    fn hello(&amp;self) -&gt; String;
}
struct Dog {
    name: String,
}
impl Greet for Dog {
    fn hello(&amp;self) -&gt; String {
        format!("Woof, {}",
                self.name)
    }
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E0D27-3AC6-C14A-AB62-5ADAB0A41F7E}"/>
              </a:ext>
            </a:extLst>
          </p:cNvPr>
          <p:cNvSpPr txBox="1"/>
          <p:nvPr/>
        </p:nvSpPr>
        <p:spPr>
          <a:xfrm>
            <a:off x="635000" y="52705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E1E1E"/>
                </a:solidFill>
              </a:rPr>
              <a:t>Implementation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26BECB-09D1-E045-BD88-D94617FEC159}"/>
              </a:ext>
            </a:extLst>
          </p:cNvPr>
          <p:cNvSpPr txBox="1"/>
          <p:nvPr/>
        </p:nvSpPr>
        <p:spPr>
          <a:xfrm>
            <a:off x="2730500" y="52705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00599C"/>
                </a:solidFill>
              </a:rPr>
              <a:t>Inheritance — class Dog : public IGreet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5FE16D-6F67-114F-923D-452011518E7F}"/>
              </a:ext>
            </a:extLst>
          </p:cNvPr>
          <p:cNvSpPr txBox="1"/>
          <p:nvPr/>
        </p:nvSpPr>
        <p:spPr>
          <a:xfrm>
            <a:off x="7175500" y="52705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CE422B"/>
                </a:solidFill>
              </a:rPr>
              <a:t>Separate impl block — no inheritance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AD8C43-56E7-6242-AFA7-7E5247BC1AF3}"/>
              </a:ext>
            </a:extLst>
          </p:cNvPr>
          <p:cNvSpPr txBox="1"/>
          <p:nvPr/>
        </p:nvSpPr>
        <p:spPr>
          <a:xfrm>
            <a:off x="635000" y="56515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E1E1E"/>
                </a:solidFill>
              </a:rPr>
              <a:t>Dispatch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84A0D9-AA77-384E-AA2C-DDE0F132DBB8}"/>
              </a:ext>
            </a:extLst>
          </p:cNvPr>
          <p:cNvSpPr txBox="1"/>
          <p:nvPr/>
        </p:nvSpPr>
        <p:spPr>
          <a:xfrm>
            <a:off x="2730500" y="56515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00599C"/>
                </a:solidFill>
              </a:rPr>
              <a:t>Always virtual (vtable, runtime)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E63BC7-14CF-6E4A-9182-D145211AD10E}"/>
              </a:ext>
            </a:extLst>
          </p:cNvPr>
          <p:cNvSpPr txBox="1"/>
          <p:nvPr/>
        </p:nvSpPr>
        <p:spPr>
          <a:xfrm>
            <a:off x="7175500" y="56515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CE422B"/>
                </a:solidFill>
              </a:rPr>
              <a:t>Static by default, dyn opts into vtable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664318-80A8-FF4D-955B-7618EC2D02D0}"/>
              </a:ext>
            </a:extLst>
          </p:cNvPr>
          <p:cNvSpPr txBox="1"/>
          <p:nvPr/>
        </p:nvSpPr>
        <p:spPr>
          <a:xfrm>
            <a:off x="635000" y="60325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E1E1E"/>
                </a:solidFill>
              </a:rPr>
              <a:t>Adding to a type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4B6F38-AAC8-DA42-89AD-43DDD79EC1AE}"/>
              </a:ext>
            </a:extLst>
          </p:cNvPr>
          <p:cNvSpPr txBox="1"/>
          <p:nvPr/>
        </p:nvSpPr>
        <p:spPr>
          <a:xfrm>
            <a:off x="2730500" y="60325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00599C"/>
                </a:solidFill>
              </a:rPr>
              <a:t>Must modify the class definition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8EFDF6-78A0-4348-A70E-D51D5DE3747B}"/>
              </a:ext>
            </a:extLst>
          </p:cNvPr>
          <p:cNvSpPr txBox="1"/>
          <p:nvPr/>
        </p:nvSpPr>
        <p:spPr>
          <a:xfrm>
            <a:off x="7175500" y="60325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CE422B"/>
                </a:solidFill>
              </a:rPr>
              <a:t>Add impl from anywhere (orphan rule applies)</a:t>
            </a:r>
          </a:p>
        </p:txBody>
      </p:sp>
    </p:spTree>
    <p:extLst>
      <p:ext uri="{BB962C8B-B14F-4D97-AF65-F5344CB8AC3E}">
        <p14:creationId xmlns:p14="http://schemas.microsoft.com/office/powerpoint/2010/main" val="3519757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1FC51F-3965-C04F-B79B-D4A5B82D1DFD}"/>
              </a:ext>
            </a:extLst>
          </p:cNvPr>
          <p:cNvSpPr txBox="1"/>
          <p:nvPr/>
        </p:nvSpPr>
        <p:spPr>
          <a:xfrm>
            <a:off x="838200" y="368300"/>
            <a:ext cx="10515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E1E1E"/>
                </a:solidFill>
              </a:rPr>
              <a:t>Static vs Dynamic Dispatch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84DFA6-C399-F345-B2EA-0FCF9C359680}"/>
              </a:ext>
            </a:extLst>
          </p:cNvPr>
          <p:cNvSpPr/>
          <p:nvPr/>
        </p:nvSpPr>
        <p:spPr>
          <a:xfrm>
            <a:off x="838200" y="10795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BCDD5-8BF4-BD48-B6E0-209A7DB54F89}"/>
              </a:ext>
            </a:extLst>
          </p:cNvPr>
          <p:cNvSpPr txBox="1"/>
          <p:nvPr/>
        </p:nvSpPr>
        <p:spPr>
          <a:xfrm>
            <a:off x="838200" y="12700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</a:rPr>
              <a:t>Rust lets you choose: monomorphized at compile time, or dispatched through a vtable at runtime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34FDE8-0F99-F842-9EC6-6E3354B15AA1}"/>
              </a:ext>
            </a:extLst>
          </p:cNvPr>
          <p:cNvSpPr/>
          <p:nvPr/>
        </p:nvSpPr>
        <p:spPr>
          <a:xfrm>
            <a:off x="635000" y="1752600"/>
            <a:ext cx="5334000" cy="381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A8E6A1"/>
                </a:solidFill>
              </a:rPr>
              <a:t>Static — generics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E9342D-C734-9E48-9CBA-DF16FEAF6179}"/>
              </a:ext>
            </a:extLst>
          </p:cNvPr>
          <p:cNvSpPr/>
          <p:nvPr/>
        </p:nvSpPr>
        <p:spPr>
          <a:xfrm>
            <a:off x="635000" y="2133600"/>
            <a:ext cx="5334000" cy="1651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972F5-8B8B-F240-8D57-CDBC7D3426FD}"/>
              </a:ext>
            </a:extLst>
          </p:cNvPr>
          <p:cNvSpPr txBox="1"/>
          <p:nvPr/>
        </p:nvSpPr>
        <p:spPr>
          <a:xfrm>
            <a:off x="787400" y="2235200"/>
            <a:ext cx="5080000" cy="149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F5F5F5"/>
                </a:solidFill>
                <a:latin typeface="Consolas"/>
                <a:cs typeface="Consolas"/>
              </a:rPr>
              <a:t>fn greet&lt;T: Greet&gt;(g: &amp;T) {
    println!("{}", g.hello());
}
// Compiler generates one
// specialized version per
// concrete type used.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C4203C-7240-3242-A1C7-298E7FB6E7A7}"/>
              </a:ext>
            </a:extLst>
          </p:cNvPr>
          <p:cNvSpPr txBox="1"/>
          <p:nvPr/>
        </p:nvSpPr>
        <p:spPr>
          <a:xfrm>
            <a:off x="635000" y="39116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E7D32"/>
                </a:solidFill>
              </a:rPr>
              <a:t>✓ Pros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787A3-EE79-EA4B-B612-9A2B2142A51B}"/>
              </a:ext>
            </a:extLst>
          </p:cNvPr>
          <p:cNvSpPr txBox="1"/>
          <p:nvPr/>
        </p:nvSpPr>
        <p:spPr>
          <a:xfrm>
            <a:off x="685800" y="41910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E1E1E"/>
                </a:solidFill>
              </a:rPr>
              <a:t>•  Zero runtime cost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97501E-A5E2-CC47-8498-DF6F55850716}"/>
              </a:ext>
            </a:extLst>
          </p:cNvPr>
          <p:cNvSpPr txBox="1"/>
          <p:nvPr/>
        </p:nvSpPr>
        <p:spPr>
          <a:xfrm>
            <a:off x="685800" y="44704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E1E1E"/>
                </a:solidFill>
              </a:rPr>
              <a:t>•  Inlinable, fully optimized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50381-9829-3E4A-AAAA-B9DB4A5A09D6}"/>
              </a:ext>
            </a:extLst>
          </p:cNvPr>
          <p:cNvSpPr txBox="1"/>
          <p:nvPr/>
        </p:nvSpPr>
        <p:spPr>
          <a:xfrm>
            <a:off x="685800" y="47498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E1E1E"/>
                </a:solidFill>
              </a:rPr>
              <a:t>•  Errors caught at compile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C131A2-A8E2-AF49-ABE1-B41C4FAD6CAC}"/>
              </a:ext>
            </a:extLst>
          </p:cNvPr>
          <p:cNvSpPr txBox="1"/>
          <p:nvPr/>
        </p:nvSpPr>
        <p:spPr>
          <a:xfrm>
            <a:off x="635000" y="51054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C62828"/>
                </a:solidFill>
              </a:rPr>
              <a:t>✗ Cons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DFF809-C3C9-7543-98FE-F181E67605A4}"/>
              </a:ext>
            </a:extLst>
          </p:cNvPr>
          <p:cNvSpPr txBox="1"/>
          <p:nvPr/>
        </p:nvSpPr>
        <p:spPr>
          <a:xfrm>
            <a:off x="685800" y="53848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E1E1E"/>
                </a:solidFill>
              </a:rPr>
              <a:t>•  Larger binary (code bloat)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8E2BB3-5C3D-2E40-879B-2E4E5D4F2910}"/>
              </a:ext>
            </a:extLst>
          </p:cNvPr>
          <p:cNvSpPr txBox="1"/>
          <p:nvPr/>
        </p:nvSpPr>
        <p:spPr>
          <a:xfrm>
            <a:off x="685800" y="56642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E1E1E"/>
                </a:solidFill>
              </a:rPr>
              <a:t>•  All types known at compile 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3B3A0E-FF1F-2245-867F-160B9048403B}"/>
              </a:ext>
            </a:extLst>
          </p:cNvPr>
          <p:cNvSpPr/>
          <p:nvPr/>
        </p:nvSpPr>
        <p:spPr>
          <a:xfrm>
            <a:off x="6223000" y="1752600"/>
            <a:ext cx="5334000" cy="381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B37A"/>
                </a:solidFill>
              </a:rPr>
              <a:t>Dynamic — dyn Trait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C3764A-02FE-3945-83EB-6FB8689BD700}"/>
              </a:ext>
            </a:extLst>
          </p:cNvPr>
          <p:cNvSpPr/>
          <p:nvPr/>
        </p:nvSpPr>
        <p:spPr>
          <a:xfrm>
            <a:off x="6223000" y="2133600"/>
            <a:ext cx="5334000" cy="1651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803B7-B35E-DF47-A5FC-83B6EE107385}"/>
              </a:ext>
            </a:extLst>
          </p:cNvPr>
          <p:cNvSpPr txBox="1"/>
          <p:nvPr/>
        </p:nvSpPr>
        <p:spPr>
          <a:xfrm>
            <a:off x="6375400" y="2235200"/>
            <a:ext cx="5080000" cy="149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F5F5F5"/>
                </a:solidFill>
                <a:latin typeface="Consolas"/>
                <a:cs typeface="Consolas"/>
              </a:rPr>
              <a:t>fn greet(g: &amp;dyn Greet) {
    println!("{}", g.hello());
}
// One function, vtable lookup
// resolves the call at runtime
// — like a C++ virtual call.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E297E-7B48-CD49-B460-58846496C336}"/>
              </a:ext>
            </a:extLst>
          </p:cNvPr>
          <p:cNvSpPr txBox="1"/>
          <p:nvPr/>
        </p:nvSpPr>
        <p:spPr>
          <a:xfrm>
            <a:off x="6223000" y="39116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E7D32"/>
                </a:solidFill>
              </a:rPr>
              <a:t>✓ Pros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5B04C5-1893-9A49-97D3-B6D9C804E24F}"/>
              </a:ext>
            </a:extLst>
          </p:cNvPr>
          <p:cNvSpPr txBox="1"/>
          <p:nvPr/>
        </p:nvSpPr>
        <p:spPr>
          <a:xfrm>
            <a:off x="6273800" y="41910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E1E1E"/>
                </a:solidFill>
              </a:rPr>
              <a:t>•  Smaller binary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CDDE51-6FC9-A94A-A894-EC716126D969}"/>
              </a:ext>
            </a:extLst>
          </p:cNvPr>
          <p:cNvSpPr txBox="1"/>
          <p:nvPr/>
        </p:nvSpPr>
        <p:spPr>
          <a:xfrm>
            <a:off x="6273800" y="44704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E1E1E"/>
                </a:solidFill>
              </a:rPr>
              <a:t>•  Heterogeneous Vec&lt;Box&lt;dyn T&gt;&gt;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D3DB32-2AB7-B24E-886D-49288EF5CF71}"/>
              </a:ext>
            </a:extLst>
          </p:cNvPr>
          <p:cNvSpPr txBox="1"/>
          <p:nvPr/>
        </p:nvSpPr>
        <p:spPr>
          <a:xfrm>
            <a:off x="6273800" y="47498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E1E1E"/>
                </a:solidFill>
              </a:rPr>
              <a:t>•  Plugin-style polymorphism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487A20-631B-3248-8082-71FEDB0B91C7}"/>
              </a:ext>
            </a:extLst>
          </p:cNvPr>
          <p:cNvSpPr txBox="1"/>
          <p:nvPr/>
        </p:nvSpPr>
        <p:spPr>
          <a:xfrm>
            <a:off x="6223000" y="51054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C62828"/>
                </a:solidFill>
              </a:rPr>
              <a:t>✗ Cons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064897-E879-6342-8901-1C72F779F610}"/>
              </a:ext>
            </a:extLst>
          </p:cNvPr>
          <p:cNvSpPr txBox="1"/>
          <p:nvPr/>
        </p:nvSpPr>
        <p:spPr>
          <a:xfrm>
            <a:off x="6273800" y="53848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E1E1E"/>
                </a:solidFill>
              </a:rPr>
              <a:t>•  Indirect call (no inlining)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3A972B-F0C7-4A47-B5EB-22C431CFDE52}"/>
              </a:ext>
            </a:extLst>
          </p:cNvPr>
          <p:cNvSpPr txBox="1"/>
          <p:nvPr/>
        </p:nvSpPr>
        <p:spPr>
          <a:xfrm>
            <a:off x="6273800" y="56642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E1E1E"/>
                </a:solidFill>
              </a:rPr>
              <a:t>•  Trait must be 'object safe'</a:t>
            </a:r>
          </a:p>
        </p:txBody>
      </p:sp>
    </p:spTree>
    <p:extLst>
      <p:ext uri="{BB962C8B-B14F-4D97-AF65-F5344CB8AC3E}">
        <p14:creationId xmlns:p14="http://schemas.microsoft.com/office/powerpoint/2010/main" val="2451681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28C95FDA-5EB1-D440-AE97-60C11682628C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Utility Traits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F97252-290E-D442-9367-A7B994F13A05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D00EF3-0D17-284E-A068-6884B4E5D822}"/>
              </a:ext>
            </a:extLst>
          </p:cNvPr>
          <p:cNvSpPr txBox="1"/>
          <p:nvPr/>
        </p:nvSpPr>
        <p:spPr>
          <a:xfrm>
            <a:off x="838200" y="1066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666666"/>
                </a:solidFill>
              </a:rPr>
              <a:t>Standard library traits that let your types plug into Rust's core: memory management, conversions, formatting, and pointer behavior.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CC2B00-A64A-314E-AE5E-D0AEDF923929}"/>
              </a:ext>
            </a:extLst>
          </p:cNvPr>
          <p:cNvSpPr/>
          <p:nvPr/>
        </p:nvSpPr>
        <p:spPr>
          <a:xfrm>
            <a:off x="635000" y="1651000"/>
            <a:ext cx="2667000" cy="21336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464525A-12B6-1F4A-89F0-CA4AE2B65E83}"/>
              </a:ext>
            </a:extLst>
          </p:cNvPr>
          <p:cNvSpPr/>
          <p:nvPr/>
        </p:nvSpPr>
        <p:spPr>
          <a:xfrm>
            <a:off x="635000" y="1651000"/>
            <a:ext cx="2667000" cy="508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0FE0A5-0A93-A941-B09D-214E7CC04EA1}"/>
              </a:ext>
            </a:extLst>
          </p:cNvPr>
          <p:cNvSpPr txBox="1"/>
          <p:nvPr/>
        </p:nvSpPr>
        <p:spPr>
          <a:xfrm>
            <a:off x="787400" y="1778000"/>
            <a:ext cx="2362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8E44AD"/>
                </a:solidFill>
              </a:rPr>
              <a:t>LIFECYCLE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049ABE-99D3-474D-BF6F-501894C85BAA}"/>
              </a:ext>
            </a:extLst>
          </p:cNvPr>
          <p:cNvSpPr txBox="1"/>
          <p:nvPr/>
        </p:nvSpPr>
        <p:spPr>
          <a:xfrm>
            <a:off x="787400" y="2006600"/>
            <a:ext cx="2362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A8E6A1"/>
                </a:solidFill>
                <a:latin typeface="Consolas"/>
                <a:cs typeface="Consolas"/>
              </a:rPr>
              <a:t>Drop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EDC353-2B39-6247-A6EA-B79162B7E785}"/>
              </a:ext>
            </a:extLst>
          </p:cNvPr>
          <p:cNvSpPr txBox="1"/>
          <p:nvPr/>
        </p:nvSpPr>
        <p:spPr>
          <a:xfrm>
            <a:off x="787400" y="2362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888888"/>
                </a:solidFill>
                <a:latin typeface="Consolas"/>
                <a:cs typeface="Consolas"/>
              </a:rPr>
              <a:t>std::ops::Drop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158EC5-D1CE-834A-B64B-CC1886CD7CEF}"/>
              </a:ext>
            </a:extLst>
          </p:cNvPr>
          <p:cNvSpPr txBox="1"/>
          <p:nvPr/>
        </p:nvSpPr>
        <p:spPr>
          <a:xfrm>
            <a:off x="787400" y="2641600"/>
            <a:ext cx="23622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</a:rPr>
              <a:t>Custom cleanup logic that runs when a value goes out of scope.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0D4420-F317-B042-AE3D-6032B8CEAAE5}"/>
              </a:ext>
            </a:extLst>
          </p:cNvPr>
          <p:cNvSpPr/>
          <p:nvPr/>
        </p:nvSpPr>
        <p:spPr>
          <a:xfrm>
            <a:off x="3454400" y="1651000"/>
            <a:ext cx="2667000" cy="21336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FDEF4A-9710-9145-936F-4125BC5FB597}"/>
              </a:ext>
            </a:extLst>
          </p:cNvPr>
          <p:cNvSpPr/>
          <p:nvPr/>
        </p:nvSpPr>
        <p:spPr>
          <a:xfrm>
            <a:off x="3454400" y="1651000"/>
            <a:ext cx="2667000" cy="50800"/>
          </a:xfrm>
          <a:prstGeom prst="rect">
            <a:avLst/>
          </a:prstGeom>
          <a:solidFill>
            <a:srgbClr val="6666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5A5F6E-53A3-F542-A624-FE1E60C38414}"/>
              </a:ext>
            </a:extLst>
          </p:cNvPr>
          <p:cNvSpPr txBox="1"/>
          <p:nvPr/>
        </p:nvSpPr>
        <p:spPr>
          <a:xfrm>
            <a:off x="3606800" y="1778000"/>
            <a:ext cx="2362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666666"/>
                </a:solidFill>
              </a:rPr>
              <a:t>MARKER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0A3746-FEA7-C946-884C-5E2EFBB63F17}"/>
              </a:ext>
            </a:extLst>
          </p:cNvPr>
          <p:cNvSpPr txBox="1"/>
          <p:nvPr/>
        </p:nvSpPr>
        <p:spPr>
          <a:xfrm>
            <a:off x="3606800" y="2006600"/>
            <a:ext cx="2362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A8E6A1"/>
                </a:solidFill>
                <a:latin typeface="Consolas"/>
                <a:cs typeface="Consolas"/>
              </a:rPr>
              <a:t>Sized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630C67-F413-B340-8BA5-3A2ADBB4C0A7}"/>
              </a:ext>
            </a:extLst>
          </p:cNvPr>
          <p:cNvSpPr txBox="1"/>
          <p:nvPr/>
        </p:nvSpPr>
        <p:spPr>
          <a:xfrm>
            <a:off x="3606800" y="2362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888888"/>
                </a:solidFill>
                <a:latin typeface="Consolas"/>
                <a:cs typeface="Consolas"/>
              </a:rPr>
              <a:t>std::marker::Sized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4CDEE5-63DF-6048-981C-9D3A49BED070}"/>
              </a:ext>
            </a:extLst>
          </p:cNvPr>
          <p:cNvSpPr txBox="1"/>
          <p:nvPr/>
        </p:nvSpPr>
        <p:spPr>
          <a:xfrm>
            <a:off x="3606800" y="2641600"/>
            <a:ext cx="23622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</a:rPr>
              <a:t>Marker for types whose size is known at compile time.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63D1506-D865-D641-8FF9-388304D6663E}"/>
              </a:ext>
            </a:extLst>
          </p:cNvPr>
          <p:cNvSpPr/>
          <p:nvPr/>
        </p:nvSpPr>
        <p:spPr>
          <a:xfrm>
            <a:off x="6273800" y="1651000"/>
            <a:ext cx="2667000" cy="21336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2951E8-8214-6343-8F12-7AFD3AFDC500}"/>
              </a:ext>
            </a:extLst>
          </p:cNvPr>
          <p:cNvSpPr/>
          <p:nvPr/>
        </p:nvSpPr>
        <p:spPr>
          <a:xfrm>
            <a:off x="6273800" y="1651000"/>
            <a:ext cx="2667000" cy="508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ADF088-95D1-7749-9A44-BB8BA233C39B}"/>
              </a:ext>
            </a:extLst>
          </p:cNvPr>
          <p:cNvSpPr txBox="1"/>
          <p:nvPr/>
        </p:nvSpPr>
        <p:spPr>
          <a:xfrm>
            <a:off x="6426200" y="1778000"/>
            <a:ext cx="2362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976D2"/>
                </a:solidFill>
              </a:rPr>
              <a:t>POINTER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FB626F-FF1E-0A49-9A47-5AFA95CA2F1F}"/>
              </a:ext>
            </a:extLst>
          </p:cNvPr>
          <p:cNvSpPr txBox="1"/>
          <p:nvPr/>
        </p:nvSpPr>
        <p:spPr>
          <a:xfrm>
            <a:off x="6426200" y="2006600"/>
            <a:ext cx="2362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A8E6A1"/>
                </a:solidFill>
                <a:latin typeface="Consolas"/>
                <a:cs typeface="Consolas"/>
              </a:rPr>
              <a:t>Deref / DerefMut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FAD2AC-A743-F04E-AF33-90835F73FF91}"/>
              </a:ext>
            </a:extLst>
          </p:cNvPr>
          <p:cNvSpPr txBox="1"/>
          <p:nvPr/>
        </p:nvSpPr>
        <p:spPr>
          <a:xfrm>
            <a:off x="6426200" y="2362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888888"/>
                </a:solidFill>
                <a:latin typeface="Consolas"/>
                <a:cs typeface="Consolas"/>
              </a:rPr>
              <a:t>std::ops::Deref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306A95-BFE8-2E41-991E-F8143268B3D8}"/>
              </a:ext>
            </a:extLst>
          </p:cNvPr>
          <p:cNvSpPr txBox="1"/>
          <p:nvPr/>
        </p:nvSpPr>
        <p:spPr>
          <a:xfrm>
            <a:off x="6426200" y="2641600"/>
            <a:ext cx="23622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</a:rPr>
              <a:t>Lets your type act like a pointer (*v) — powers Box, Vec, smart pointers.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A3E3A0A-E72F-D641-9FBE-86C15D416BDA}"/>
              </a:ext>
            </a:extLst>
          </p:cNvPr>
          <p:cNvSpPr/>
          <p:nvPr/>
        </p:nvSpPr>
        <p:spPr>
          <a:xfrm>
            <a:off x="9093200" y="1651000"/>
            <a:ext cx="2667000" cy="21336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0A95F45-C3CE-644B-992A-1909EE875D60}"/>
              </a:ext>
            </a:extLst>
          </p:cNvPr>
          <p:cNvSpPr/>
          <p:nvPr/>
        </p:nvSpPr>
        <p:spPr>
          <a:xfrm>
            <a:off x="9093200" y="1651000"/>
            <a:ext cx="2667000" cy="50800"/>
          </a:xfrm>
          <a:prstGeom prst="rect">
            <a:avLst/>
          </a:prstGeom>
          <a:solidFill>
            <a:srgbClr val="0089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EAB4F4-951E-9344-92D3-ED8E37F8DCF2}"/>
              </a:ext>
            </a:extLst>
          </p:cNvPr>
          <p:cNvSpPr txBox="1"/>
          <p:nvPr/>
        </p:nvSpPr>
        <p:spPr>
          <a:xfrm>
            <a:off x="9245600" y="1778000"/>
            <a:ext cx="2362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897B"/>
                </a:solidFill>
              </a:rPr>
              <a:t>CONVERSION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86BE87-C27B-7C46-807B-C12B4BEB359A}"/>
              </a:ext>
            </a:extLst>
          </p:cNvPr>
          <p:cNvSpPr txBox="1"/>
          <p:nvPr/>
        </p:nvSpPr>
        <p:spPr>
          <a:xfrm>
            <a:off x="9245600" y="2006600"/>
            <a:ext cx="2362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A8E6A1"/>
                </a:solidFill>
                <a:latin typeface="Consolas"/>
                <a:cs typeface="Consolas"/>
              </a:rPr>
              <a:t>AsRef / AsMut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CFBD95-9179-094D-B733-B3C99298766F}"/>
              </a:ext>
            </a:extLst>
          </p:cNvPr>
          <p:cNvSpPr txBox="1"/>
          <p:nvPr/>
        </p:nvSpPr>
        <p:spPr>
          <a:xfrm>
            <a:off x="9245600" y="2362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888888"/>
                </a:solidFill>
                <a:latin typeface="Consolas"/>
                <a:cs typeface="Consolas"/>
              </a:rPr>
              <a:t>std::convert::AsRef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0B8002-0FB8-7E45-89B2-EDCD77D38B07}"/>
              </a:ext>
            </a:extLst>
          </p:cNvPr>
          <p:cNvSpPr txBox="1"/>
          <p:nvPr/>
        </p:nvSpPr>
        <p:spPr>
          <a:xfrm>
            <a:off x="9245600" y="2641600"/>
            <a:ext cx="23622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</a:rPr>
              <a:t>Cheap reference-to-reference conversion — APIs that accept &amp;str or String.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CEAC189-3FBB-184D-8101-DA86E8912CC6}"/>
              </a:ext>
            </a:extLst>
          </p:cNvPr>
          <p:cNvSpPr/>
          <p:nvPr/>
        </p:nvSpPr>
        <p:spPr>
          <a:xfrm>
            <a:off x="635000" y="3937000"/>
            <a:ext cx="2667000" cy="21336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689666D-73F9-3D4B-AE03-FA5CA5C0E089}"/>
              </a:ext>
            </a:extLst>
          </p:cNvPr>
          <p:cNvSpPr/>
          <p:nvPr/>
        </p:nvSpPr>
        <p:spPr>
          <a:xfrm>
            <a:off x="635000" y="3937000"/>
            <a:ext cx="2667000" cy="50800"/>
          </a:xfrm>
          <a:prstGeom prst="rect">
            <a:avLst/>
          </a:prstGeom>
          <a:solidFill>
            <a:srgbClr val="00897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6DA21D-8A50-B341-A251-024BEF72F54A}"/>
              </a:ext>
            </a:extLst>
          </p:cNvPr>
          <p:cNvSpPr txBox="1"/>
          <p:nvPr/>
        </p:nvSpPr>
        <p:spPr>
          <a:xfrm>
            <a:off x="787400" y="4064000"/>
            <a:ext cx="2362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897B"/>
                </a:solidFill>
              </a:rPr>
              <a:t>CONVERSION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AD6F29-7149-BB48-B2CB-2EC37553A265}"/>
              </a:ext>
            </a:extLst>
          </p:cNvPr>
          <p:cNvSpPr txBox="1"/>
          <p:nvPr/>
        </p:nvSpPr>
        <p:spPr>
          <a:xfrm>
            <a:off x="787400" y="4292600"/>
            <a:ext cx="2362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A8E6A1"/>
                </a:solidFill>
                <a:latin typeface="Consolas"/>
                <a:cs typeface="Consolas"/>
              </a:rPr>
              <a:t>From / Into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00BAAF-6A3A-4747-A962-75FC9D80A7F1}"/>
              </a:ext>
            </a:extLst>
          </p:cNvPr>
          <p:cNvSpPr txBox="1"/>
          <p:nvPr/>
        </p:nvSpPr>
        <p:spPr>
          <a:xfrm>
            <a:off x="787400" y="4648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888888"/>
                </a:solidFill>
                <a:latin typeface="Consolas"/>
                <a:cs typeface="Consolas"/>
              </a:rPr>
              <a:t>std::convert::From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FC1EC6-F2C6-DE4D-8B33-0B76712241AF}"/>
              </a:ext>
            </a:extLst>
          </p:cNvPr>
          <p:cNvSpPr txBox="1"/>
          <p:nvPr/>
        </p:nvSpPr>
        <p:spPr>
          <a:xfrm>
            <a:off x="787400" y="4927600"/>
            <a:ext cx="23622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</a:rPr>
              <a:t>Owned conversions: consume one type, produce another. Implement From, get Into free.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99D46B2-81DD-2543-A935-F7ED5EB2B4CA}"/>
              </a:ext>
            </a:extLst>
          </p:cNvPr>
          <p:cNvSpPr/>
          <p:nvPr/>
        </p:nvSpPr>
        <p:spPr>
          <a:xfrm>
            <a:off x="3454400" y="3937000"/>
            <a:ext cx="2667000" cy="21336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14C9CB0-D40D-AC40-B28A-B613797795D1}"/>
              </a:ext>
            </a:extLst>
          </p:cNvPr>
          <p:cNvSpPr/>
          <p:nvPr/>
        </p:nvSpPr>
        <p:spPr>
          <a:xfrm>
            <a:off x="3454400" y="3937000"/>
            <a:ext cx="2667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A60475-3B8E-944E-8F2D-64626BF6A3BD}"/>
              </a:ext>
            </a:extLst>
          </p:cNvPr>
          <p:cNvSpPr txBox="1"/>
          <p:nvPr/>
        </p:nvSpPr>
        <p:spPr>
          <a:xfrm>
            <a:off x="3606800" y="4064000"/>
            <a:ext cx="2362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CE422B"/>
                </a:solidFill>
              </a:rPr>
              <a:t>CONSTRUCTION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0ADAE7-1137-D04C-87D3-E86243CB7736}"/>
              </a:ext>
            </a:extLst>
          </p:cNvPr>
          <p:cNvSpPr txBox="1"/>
          <p:nvPr/>
        </p:nvSpPr>
        <p:spPr>
          <a:xfrm>
            <a:off x="3606800" y="4292600"/>
            <a:ext cx="2362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A8E6A1"/>
                </a:solidFill>
                <a:latin typeface="Consolas"/>
                <a:cs typeface="Consolas"/>
              </a:rPr>
              <a:t>Default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45648D-016A-3D4C-B6C9-05797AD26FAD}"/>
              </a:ext>
            </a:extLst>
          </p:cNvPr>
          <p:cNvSpPr txBox="1"/>
          <p:nvPr/>
        </p:nvSpPr>
        <p:spPr>
          <a:xfrm>
            <a:off x="3606800" y="4648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888888"/>
                </a:solidFill>
                <a:latin typeface="Consolas"/>
                <a:cs typeface="Consolas"/>
              </a:rPr>
              <a:t>std::default::Default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45E4B4A-914A-D646-A78B-1FFCE6854050}"/>
              </a:ext>
            </a:extLst>
          </p:cNvPr>
          <p:cNvSpPr txBox="1"/>
          <p:nvPr/>
        </p:nvSpPr>
        <p:spPr>
          <a:xfrm>
            <a:off x="3606800" y="4927600"/>
            <a:ext cx="23622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</a:rPr>
              <a:t>Provides T::default() — sensible zero/empty values for any type.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C8720BC-1D98-B645-A8BB-ED3249ED62AF}"/>
              </a:ext>
            </a:extLst>
          </p:cNvPr>
          <p:cNvSpPr/>
          <p:nvPr/>
        </p:nvSpPr>
        <p:spPr>
          <a:xfrm>
            <a:off x="6273800" y="3937000"/>
            <a:ext cx="2667000" cy="21336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F01FA95-E448-904B-A8FD-E9D84695D4F5}"/>
              </a:ext>
            </a:extLst>
          </p:cNvPr>
          <p:cNvSpPr/>
          <p:nvPr/>
        </p:nvSpPr>
        <p:spPr>
          <a:xfrm>
            <a:off x="6273800" y="3937000"/>
            <a:ext cx="2667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6A3F95-87F3-904D-92DF-5E3B9F319255}"/>
              </a:ext>
            </a:extLst>
          </p:cNvPr>
          <p:cNvSpPr txBox="1"/>
          <p:nvPr/>
        </p:nvSpPr>
        <p:spPr>
          <a:xfrm>
            <a:off x="6426200" y="4064000"/>
            <a:ext cx="2362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CE422B"/>
                </a:solidFill>
              </a:rPr>
              <a:t>DUPLICATION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C0A869-3266-5246-BDF0-40C9D864B511}"/>
              </a:ext>
            </a:extLst>
          </p:cNvPr>
          <p:cNvSpPr txBox="1"/>
          <p:nvPr/>
        </p:nvSpPr>
        <p:spPr>
          <a:xfrm>
            <a:off x="6426200" y="4292600"/>
            <a:ext cx="2362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A8E6A1"/>
                </a:solidFill>
                <a:latin typeface="Consolas"/>
                <a:cs typeface="Consolas"/>
              </a:rPr>
              <a:t>Clone / Copy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77FB42A-F510-EA41-BDCD-C0DCA686CA32}"/>
              </a:ext>
            </a:extLst>
          </p:cNvPr>
          <p:cNvSpPr txBox="1"/>
          <p:nvPr/>
        </p:nvSpPr>
        <p:spPr>
          <a:xfrm>
            <a:off x="6426200" y="4648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888888"/>
                </a:solidFill>
                <a:latin typeface="Consolas"/>
                <a:cs typeface="Consolas"/>
              </a:rPr>
              <a:t>std::clone::Clone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EF36A8B-0CDB-A243-8F33-6E8854D9F23D}"/>
              </a:ext>
            </a:extLst>
          </p:cNvPr>
          <p:cNvSpPr txBox="1"/>
          <p:nvPr/>
        </p:nvSpPr>
        <p:spPr>
          <a:xfrm>
            <a:off x="6426200" y="4927600"/>
            <a:ext cx="23622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</a:rPr>
              <a:t>Clone = explicit deep copy. Copy = implicit bitwise copy for trivial types.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0E2C867-3E80-1644-89BA-1106F262C2B5}"/>
              </a:ext>
            </a:extLst>
          </p:cNvPr>
          <p:cNvSpPr/>
          <p:nvPr/>
        </p:nvSpPr>
        <p:spPr>
          <a:xfrm>
            <a:off x="9093200" y="3937000"/>
            <a:ext cx="2667000" cy="21336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9C64705-6FB6-4942-85F5-8D6804E5C0B5}"/>
              </a:ext>
            </a:extLst>
          </p:cNvPr>
          <p:cNvSpPr/>
          <p:nvPr/>
        </p:nvSpPr>
        <p:spPr>
          <a:xfrm>
            <a:off x="9093200" y="3937000"/>
            <a:ext cx="2667000" cy="508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50D4AEE-2F1D-D140-ADD3-1A3E4F4613B3}"/>
              </a:ext>
            </a:extLst>
          </p:cNvPr>
          <p:cNvSpPr txBox="1"/>
          <p:nvPr/>
        </p:nvSpPr>
        <p:spPr>
          <a:xfrm>
            <a:off x="9245600" y="4064000"/>
            <a:ext cx="2362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F57C00"/>
                </a:solidFill>
              </a:rPr>
              <a:t>FORMATTING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B1CFD7C-E1D9-0F48-8038-0FF9F46E18F4}"/>
              </a:ext>
            </a:extLst>
          </p:cNvPr>
          <p:cNvSpPr txBox="1"/>
          <p:nvPr/>
        </p:nvSpPr>
        <p:spPr>
          <a:xfrm>
            <a:off x="9245600" y="4292600"/>
            <a:ext cx="2362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A8E6A1"/>
                </a:solidFill>
                <a:latin typeface="Consolas"/>
                <a:cs typeface="Consolas"/>
              </a:rPr>
              <a:t>Debug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4D73B12-8172-BA47-9498-2FB58CA9F38C}"/>
              </a:ext>
            </a:extLst>
          </p:cNvPr>
          <p:cNvSpPr txBox="1"/>
          <p:nvPr/>
        </p:nvSpPr>
        <p:spPr>
          <a:xfrm>
            <a:off x="9245600" y="4648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888888"/>
                </a:solidFill>
                <a:latin typeface="Consolas"/>
                <a:cs typeface="Consolas"/>
              </a:rPr>
              <a:t>std::fmt::Debug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6E8EB3E-253C-A64D-B433-1AB96DDBD5CD}"/>
              </a:ext>
            </a:extLst>
          </p:cNvPr>
          <p:cNvSpPr txBox="1"/>
          <p:nvPr/>
        </p:nvSpPr>
        <p:spPr>
          <a:xfrm>
            <a:off x="9245600" y="4927600"/>
            <a:ext cx="23622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</a:rPr>
              <a:t>Programmer-facing formatter for {:?} — auto-derivable with #[derive(Debug)].</a:t>
            </a:r>
          </a:p>
        </p:txBody>
      </p:sp>
    </p:spTree>
    <p:extLst>
      <p:ext uri="{BB962C8B-B14F-4D97-AF65-F5344CB8AC3E}">
        <p14:creationId xmlns:p14="http://schemas.microsoft.com/office/powerpoint/2010/main" val="1195971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2FE20E-4D6D-4446-A452-E0D1C89DC947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Utility Traits — In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6EBE02-9649-CB43-A564-57F082F1200A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5D3BFB-A480-BB43-BA99-B24E2DF2381C}"/>
              </a:ext>
            </a:extLst>
          </p:cNvPr>
          <p:cNvSpPr txBox="1"/>
          <p:nvPr/>
        </p:nvSpPr>
        <p:spPr>
          <a:xfrm>
            <a:off x="838200" y="1066800"/>
            <a:ext cx="10515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666666"/>
                </a:solidFill>
              </a:rPr>
              <a:t>Each trait shown with a minimal, idiomatic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B6D8E-71A3-4E46-B541-1AA7521BA48E}"/>
              </a:ext>
            </a:extLst>
          </p:cNvPr>
          <p:cNvSpPr/>
          <p:nvPr/>
        </p:nvSpPr>
        <p:spPr>
          <a:xfrm>
            <a:off x="635000" y="1498600"/>
            <a:ext cx="5461000" cy="330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Drop  ·  Default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76D94C-F500-E94C-A6F0-D655906DE253}"/>
              </a:ext>
            </a:extLst>
          </p:cNvPr>
          <p:cNvSpPr/>
          <p:nvPr/>
        </p:nvSpPr>
        <p:spPr>
          <a:xfrm>
            <a:off x="635000" y="1828800"/>
            <a:ext cx="5461000" cy="21463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7F3C01-1FC1-714B-86CB-EE9F6228EA15}"/>
              </a:ext>
            </a:extLst>
          </p:cNvPr>
          <p:cNvSpPr txBox="1"/>
          <p:nvPr/>
        </p:nvSpPr>
        <p:spPr>
          <a:xfrm>
            <a:off x="787400" y="1905000"/>
            <a:ext cx="5156200" cy="2070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  <a:latin typeface="Consolas"/>
                <a:cs typeface="Consolas"/>
              </a:rPr>
              <a:t>// Drop — runs when value leaves scope
struct File { path: String }
impl Drop for File {
    fn drop(&amp;mut self) {
        println!("closing {}", self.path);
    }
}
// Default — sensible zero values
#[derive(Default)]
struct Config { retries: u32, debug: bool }
let cfg = Config::default();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CB4C5-326E-AF44-B339-297641A99802}"/>
              </a:ext>
            </a:extLst>
          </p:cNvPr>
          <p:cNvSpPr/>
          <p:nvPr/>
        </p:nvSpPr>
        <p:spPr>
          <a:xfrm>
            <a:off x="6223000" y="1498600"/>
            <a:ext cx="5461000" cy="330200"/>
          </a:xfrm>
          <a:prstGeom prst="rect">
            <a:avLst/>
          </a:prstGeom>
          <a:solidFill>
            <a:srgbClr val="0069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From  ·  Into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40887F-BAD0-D54E-A771-9F703329E3D0}"/>
              </a:ext>
            </a:extLst>
          </p:cNvPr>
          <p:cNvSpPr/>
          <p:nvPr/>
        </p:nvSpPr>
        <p:spPr>
          <a:xfrm>
            <a:off x="6223000" y="1828800"/>
            <a:ext cx="5461000" cy="21463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D64B5B-10EF-3F40-973E-A70AFDA6738D}"/>
              </a:ext>
            </a:extLst>
          </p:cNvPr>
          <p:cNvSpPr txBox="1"/>
          <p:nvPr/>
        </p:nvSpPr>
        <p:spPr>
          <a:xfrm>
            <a:off x="6375400" y="1905000"/>
            <a:ext cx="5156200" cy="2070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  <a:latin typeface="Consolas"/>
                <a:cs typeface="Consolas"/>
              </a:rPr>
              <a:t>struct Celsius(f64);
struct Fahrenheit(f64);
impl From&lt;Celsius&gt; for Fahrenheit {
    fn from(c: Celsius) -&gt; Self {
        Fahrenheit(c.0 * 9.0/5.0 + 32.0)
    }
}
let f: Fahrenheit = Celsius(20.0).into();
let f = Fahrenheit::from(Celsius(20.0));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3A6420-02BF-9640-AB71-AD963CD816E1}"/>
              </a:ext>
            </a:extLst>
          </p:cNvPr>
          <p:cNvSpPr/>
          <p:nvPr/>
        </p:nvSpPr>
        <p:spPr>
          <a:xfrm>
            <a:off x="635000" y="4089400"/>
            <a:ext cx="5461000" cy="3302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AsRef  ·  Deref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21FBD2-9FB1-414D-906F-E0CB069AE0B8}"/>
              </a:ext>
            </a:extLst>
          </p:cNvPr>
          <p:cNvSpPr/>
          <p:nvPr/>
        </p:nvSpPr>
        <p:spPr>
          <a:xfrm>
            <a:off x="635000" y="4419600"/>
            <a:ext cx="5461000" cy="21463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C098F6-3E13-8C44-955F-36EDD55BD695}"/>
              </a:ext>
            </a:extLst>
          </p:cNvPr>
          <p:cNvSpPr txBox="1"/>
          <p:nvPr/>
        </p:nvSpPr>
        <p:spPr>
          <a:xfrm>
            <a:off x="787400" y="4495800"/>
            <a:ext cx="5156200" cy="2070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  <a:latin typeface="Consolas"/>
                <a:cs typeface="Consolas"/>
              </a:rPr>
              <a:t>// AsRef — accept &amp;str OR String OR PathBuf
fn open&lt;P: AsRef&lt;Path&gt;&gt;(p: P) {
    let path: &amp;Path = p.as_ref();
}
open("a.txt");  open(String::from("b.txt"));
// Deref — make MyBox act like &amp;T
struct MyBox&lt;T&gt;(T);
impl&lt;T&gt; Deref for MyBox&lt;T&gt; {
    type Target = T;
    fn deref(&amp;self) -&gt; &amp;T { &amp;self.0 }
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71788A-6BDD-BD43-ACDD-46DC1368D59F}"/>
              </a:ext>
            </a:extLst>
          </p:cNvPr>
          <p:cNvSpPr/>
          <p:nvPr/>
        </p:nvSpPr>
        <p:spPr>
          <a:xfrm>
            <a:off x="6223000" y="4089400"/>
            <a:ext cx="5461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Clone  ·  Copy  ·  Debug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920B0F-813B-7D43-A42A-72B8181E0DC0}"/>
              </a:ext>
            </a:extLst>
          </p:cNvPr>
          <p:cNvSpPr/>
          <p:nvPr/>
        </p:nvSpPr>
        <p:spPr>
          <a:xfrm>
            <a:off x="6223000" y="4419600"/>
            <a:ext cx="5461000" cy="21463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708772-C16C-4542-9835-2BA841117537}"/>
              </a:ext>
            </a:extLst>
          </p:cNvPr>
          <p:cNvSpPr txBox="1"/>
          <p:nvPr/>
        </p:nvSpPr>
        <p:spPr>
          <a:xfrm>
            <a:off x="6375400" y="4495800"/>
            <a:ext cx="5156200" cy="2070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5F5F5"/>
                </a:solidFill>
                <a:latin typeface="Consolas"/>
                <a:cs typeface="Consolas"/>
              </a:rPr>
              <a:t>#[derive(Debug, Clone, Copy)]
struct Point { x: i32, y: i32 }
let p = Point { x: 1, y: 2 };
let q = p;          // Copy: implicit, p still valid
let r = p.clone();  // Clone: explicit duplicate
println!("{:?}", p);  // Debug → Point { x: 1, y: 2 }
// Sized is implicit on every generic T
// unless you write T: ?Sized</a:t>
            </a:r>
          </a:p>
        </p:txBody>
      </p:sp>
    </p:spTree>
    <p:extLst>
      <p:ext uri="{BB962C8B-B14F-4D97-AF65-F5344CB8AC3E}">
        <p14:creationId xmlns:p14="http://schemas.microsoft.com/office/powerpoint/2010/main" val="3046409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EF92C2-3C11-8741-9FAB-88045FF5DF8D}"/>
              </a:ext>
            </a:extLst>
          </p:cNvPr>
          <p:cNvSpPr txBox="1"/>
          <p:nvPr/>
        </p:nvSpPr>
        <p:spPr>
          <a:xfrm>
            <a:off x="838200" y="317500"/>
            <a:ext cx="1051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</a:rPr>
              <a:t>Pattern Matching in Rust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09471-3FF5-7445-ADEC-12411A16B681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2DAD5-D7E5-E947-B77A-091BBBAEF968}"/>
              </a:ext>
            </a:extLst>
          </p:cNvPr>
          <p:cNvSpPr/>
          <p:nvPr/>
        </p:nvSpPr>
        <p:spPr>
          <a:xfrm>
            <a:off x="3708400" y="13589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1F7B8C-78E0-AC49-98F2-039ED5EBBA35}"/>
              </a:ext>
            </a:extLst>
          </p:cNvPr>
          <p:cNvSpPr/>
          <p:nvPr/>
        </p:nvSpPr>
        <p:spPr>
          <a:xfrm>
            <a:off x="3708400" y="1689100"/>
            <a:ext cx="3683000" cy="3429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A84E9-755D-5C4C-BA81-6F919F077F94}"/>
              </a:ext>
            </a:extLst>
          </p:cNvPr>
          <p:cNvSpPr txBox="1"/>
          <p:nvPr/>
        </p:nvSpPr>
        <p:spPr>
          <a:xfrm>
            <a:off x="3835400" y="1409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Result&lt;T, E&gt;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2D594-49FF-6941-8557-8CC144E80C38}"/>
              </a:ext>
            </a:extLst>
          </p:cNvPr>
          <p:cNvSpPr txBox="1"/>
          <p:nvPr/>
        </p:nvSpPr>
        <p:spPr>
          <a:xfrm>
            <a:off x="3835400" y="1765300"/>
            <a:ext cx="3429000" cy="30162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fn parse_port(s: &amp;str) -&gt; Result&lt;u16, String&gt;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match s.parse::&lt;u16&gt;()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Ok(p) if p &gt;= 1024 =&gt; Ok(p),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Ok(_)  =&gt; Err("too low".into()),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Err(e) =&gt; Err(format!("bad: {e}")),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// ? bubbles errors via From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fn load(p: &amp;str) -&gt; Result&lt;Cfg, MyErr&gt;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let txt = fs::read_to_string(p)?;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Ok(toml::from_str(&amp;txt)?)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// let-else: keep happy path flat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let Ok(n) = parse_port(s) else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2F924D-6B9D-9D43-8BED-836AC8B39020}"/>
              </a:ext>
            </a:extLst>
          </p:cNvPr>
          <p:cNvSpPr/>
          <p:nvPr/>
        </p:nvSpPr>
        <p:spPr>
          <a:xfrm>
            <a:off x="3708400" y="5295900"/>
            <a:ext cx="3683000" cy="2794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118941-072C-0A44-BF8B-DFF3FB0A77D2}"/>
              </a:ext>
            </a:extLst>
          </p:cNvPr>
          <p:cNvSpPr/>
          <p:nvPr/>
        </p:nvSpPr>
        <p:spPr>
          <a:xfrm>
            <a:off x="3708400" y="5575300"/>
            <a:ext cx="3683000" cy="9652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34883E-51BB-AB43-9D5A-758C7D8BAA6D}"/>
              </a:ext>
            </a:extLst>
          </p:cNvPr>
          <p:cNvSpPr txBox="1"/>
          <p:nvPr/>
        </p:nvSpPr>
        <p:spPr>
          <a:xfrm>
            <a:off x="3835400" y="5321300"/>
            <a:ext cx="3429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AE100C-A9CA-BE4F-8A68-8C2FF9B843ED}"/>
              </a:ext>
            </a:extLst>
          </p:cNvPr>
          <p:cNvSpPr txBox="1"/>
          <p:nvPr/>
        </p:nvSpPr>
        <p:spPr>
          <a:xfrm>
            <a:off x="3835400" y="5626100"/>
            <a:ext cx="34290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</a:rPr>
              <a:t>Match for branching logic with guards</a:t>
            </a:r>
          </a:p>
          <a:p>
            <a:pPr marL="171450" indent="-171450" algn="l"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</a:rPr>
              <a:t>? operator for early-return propagation</a:t>
            </a:r>
          </a:p>
          <a:p>
            <a:pPr marL="171450" indent="-171450" algn="l"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</a:rPr>
              <a:t>let-else when only the happy path continues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2141A9-EB7F-0A46-AD97-54E676B0D6C0}"/>
              </a:ext>
            </a:extLst>
          </p:cNvPr>
          <p:cNvSpPr/>
          <p:nvPr/>
        </p:nvSpPr>
        <p:spPr>
          <a:xfrm>
            <a:off x="7670800" y="1366510"/>
            <a:ext cx="3683000" cy="330200"/>
          </a:xfrm>
          <a:prstGeom prst="rect">
            <a:avLst/>
          </a:prstGeom>
          <a:solidFill>
            <a:srgbClr val="0069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D5F4F1-10DB-3847-BA5B-680314DCC8AB}"/>
              </a:ext>
            </a:extLst>
          </p:cNvPr>
          <p:cNvSpPr/>
          <p:nvPr/>
        </p:nvSpPr>
        <p:spPr>
          <a:xfrm>
            <a:off x="7670800" y="1696710"/>
            <a:ext cx="3683000" cy="3429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6D094E-8284-9642-B80D-8E5DE2B9F7AB}"/>
              </a:ext>
            </a:extLst>
          </p:cNvPr>
          <p:cNvSpPr txBox="1"/>
          <p:nvPr/>
        </p:nvSpPr>
        <p:spPr>
          <a:xfrm>
            <a:off x="7797800" y="141731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Slice patterns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FEDD7F-4C62-6B4F-919F-EF8D5BD8CF75}"/>
              </a:ext>
            </a:extLst>
          </p:cNvPr>
          <p:cNvSpPr txBox="1"/>
          <p:nvPr/>
        </p:nvSpPr>
        <p:spPr>
          <a:xfrm>
            <a:off x="7797800" y="1772910"/>
            <a:ext cx="3429000" cy="33239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fn describe&lt;T: Debug&gt;(xs: &amp;[T])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match xs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[]     =&gt; println!("empty"),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[only] =&gt; println!("one: {only:?}"),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[head, tail @ ..]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    println!("h={head:?} t={tail:?}"),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// Recursive sum (head | tail)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fn sum(xs: &amp;[i32]) -&gt; i32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match xs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[]                =&gt; 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[h, tail @ ..]    =&gt; h + sum(tail),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// First + middle + last in one pattern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if let [root, mid @ .., leaf] = path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/* ... */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5FE651-FDEF-2640-BDCF-219DC818EDBB}"/>
              </a:ext>
            </a:extLst>
          </p:cNvPr>
          <p:cNvSpPr/>
          <p:nvPr/>
        </p:nvSpPr>
        <p:spPr>
          <a:xfrm>
            <a:off x="7670800" y="5303510"/>
            <a:ext cx="3683000" cy="279400"/>
          </a:xfrm>
          <a:prstGeom prst="rect">
            <a:avLst/>
          </a:prstGeom>
          <a:solidFill>
            <a:srgbClr val="0069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8C5F87-1677-AA4B-8A75-DABAB61DAEA6}"/>
              </a:ext>
            </a:extLst>
          </p:cNvPr>
          <p:cNvSpPr/>
          <p:nvPr/>
        </p:nvSpPr>
        <p:spPr>
          <a:xfrm>
            <a:off x="7670800" y="5582910"/>
            <a:ext cx="3683000" cy="9652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17923C-3324-4142-BE81-BFEF57925F89}"/>
              </a:ext>
            </a:extLst>
          </p:cNvPr>
          <p:cNvSpPr txBox="1"/>
          <p:nvPr/>
        </p:nvSpPr>
        <p:spPr>
          <a:xfrm>
            <a:off x="7797800" y="5328910"/>
            <a:ext cx="3429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Use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9D2766-6E62-5D4B-8B9D-1A1404C967C3}"/>
              </a:ext>
            </a:extLst>
          </p:cNvPr>
          <p:cNvSpPr txBox="1"/>
          <p:nvPr/>
        </p:nvSpPr>
        <p:spPr>
          <a:xfrm>
            <a:off x="7797800" y="5633710"/>
            <a:ext cx="34290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</a:rPr>
              <a:t>[head, tail @ ..] binds the rest as a sub-slice</a:t>
            </a:r>
          </a:p>
          <a:p>
            <a:pPr marL="171450" indent="-171450" algn="l"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</a:rPr>
              <a:t>Patterns are exhaustive — empty slice forces a [] arm</a:t>
            </a:r>
          </a:p>
          <a:p>
            <a:pPr marL="171450" indent="-171450" algn="l"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</a:rPr>
              <a:t>Iterators are usually faster than recursion in practice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6F278A-174F-2B4F-A94F-75E13E450815}"/>
              </a:ext>
            </a:extLst>
          </p:cNvPr>
          <p:cNvSpPr/>
          <p:nvPr/>
        </p:nvSpPr>
        <p:spPr>
          <a:xfrm>
            <a:off x="635000" y="1358900"/>
            <a:ext cx="2819400" cy="330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39DDB5-8BD0-9640-9AD8-2C84EF0B45D7}"/>
              </a:ext>
            </a:extLst>
          </p:cNvPr>
          <p:cNvSpPr/>
          <p:nvPr/>
        </p:nvSpPr>
        <p:spPr>
          <a:xfrm>
            <a:off x="635000" y="1689100"/>
            <a:ext cx="2819400" cy="48514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481166-2CEE-D741-9A47-22D7A5282430}"/>
              </a:ext>
            </a:extLst>
          </p:cNvPr>
          <p:cNvSpPr txBox="1"/>
          <p:nvPr/>
        </p:nvSpPr>
        <p:spPr>
          <a:xfrm>
            <a:off x="787400" y="1427653"/>
            <a:ext cx="2286000" cy="200055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How match works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19164A8-BA7D-D541-AC4A-446C637FE60F}"/>
              </a:ext>
            </a:extLst>
          </p:cNvPr>
          <p:cNvSpPr/>
          <p:nvPr/>
        </p:nvSpPr>
        <p:spPr>
          <a:xfrm>
            <a:off x="889000" y="1905000"/>
            <a:ext cx="2032000" cy="3556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176066-1F8A-944F-959B-570BE5B9CAB8}"/>
              </a:ext>
            </a:extLst>
          </p:cNvPr>
          <p:cNvSpPr txBox="1"/>
          <p:nvPr/>
        </p:nvSpPr>
        <p:spPr>
          <a:xfrm>
            <a:off x="889000" y="2002008"/>
            <a:ext cx="2032000" cy="161583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Consolas"/>
                <a:cs typeface="Consolas"/>
              </a:rPr>
              <a:t>  value: T</a:t>
            </a:r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94C24678-8EAB-CB4E-AE1E-5359B5C2E4D8}"/>
              </a:ext>
            </a:extLst>
          </p:cNvPr>
          <p:cNvSpPr/>
          <p:nvPr/>
        </p:nvSpPr>
        <p:spPr>
          <a:xfrm>
            <a:off x="1803400" y="2336800"/>
            <a:ext cx="203200" cy="228600"/>
          </a:xfrm>
          <a:prstGeom prst="downArrow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77EA69-020B-324F-AD29-2DA75E7877BB}"/>
              </a:ext>
            </a:extLst>
          </p:cNvPr>
          <p:cNvSpPr/>
          <p:nvPr/>
        </p:nvSpPr>
        <p:spPr>
          <a:xfrm>
            <a:off x="787400" y="2641600"/>
            <a:ext cx="76200" cy="2286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5C2EEC0-2453-E242-B9B0-15F6C199F279}"/>
              </a:ext>
            </a:extLst>
          </p:cNvPr>
          <p:cNvSpPr/>
          <p:nvPr/>
        </p:nvSpPr>
        <p:spPr>
          <a:xfrm>
            <a:off x="914400" y="2641600"/>
            <a:ext cx="2133600" cy="228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7CD3E-1892-8148-8E92-4C7E12C85836}"/>
              </a:ext>
            </a:extLst>
          </p:cNvPr>
          <p:cNvSpPr txBox="1"/>
          <p:nvPr/>
        </p:nvSpPr>
        <p:spPr>
          <a:xfrm>
            <a:off x="965200" y="2678956"/>
            <a:ext cx="2032000" cy="15388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en-US" sz="1000" b="1">
                <a:solidFill>
                  <a:srgbClr val="1E1E1E"/>
                </a:solidFill>
                <a:latin typeface="Consolas"/>
                <a:cs typeface="Consolas"/>
              </a:rPr>
              <a:t>  Pattern A   =&gt;  result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831052-939E-1841-A1F6-7F6CC61F4952}"/>
              </a:ext>
            </a:extLst>
          </p:cNvPr>
          <p:cNvSpPr/>
          <p:nvPr/>
        </p:nvSpPr>
        <p:spPr>
          <a:xfrm>
            <a:off x="787400" y="2971800"/>
            <a:ext cx="76200" cy="2286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6CABBD5-EA71-C14E-A081-51FCFE34F4D8}"/>
              </a:ext>
            </a:extLst>
          </p:cNvPr>
          <p:cNvSpPr/>
          <p:nvPr/>
        </p:nvSpPr>
        <p:spPr>
          <a:xfrm>
            <a:off x="914400" y="2971800"/>
            <a:ext cx="2133600" cy="228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440B94-F6D8-D34F-BB9C-02DFD5109330}"/>
              </a:ext>
            </a:extLst>
          </p:cNvPr>
          <p:cNvSpPr txBox="1"/>
          <p:nvPr/>
        </p:nvSpPr>
        <p:spPr>
          <a:xfrm>
            <a:off x="965200" y="3009156"/>
            <a:ext cx="2032000" cy="15388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en-US" sz="1000" b="1">
                <a:solidFill>
                  <a:srgbClr val="1E1E1E"/>
                </a:solidFill>
                <a:latin typeface="Consolas"/>
                <a:cs typeface="Consolas"/>
              </a:rPr>
              <a:t>  Pattern B   =&gt;  result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A2CDE48-CA6A-BE4E-A24C-DE8EC0A79277}"/>
              </a:ext>
            </a:extLst>
          </p:cNvPr>
          <p:cNvSpPr/>
          <p:nvPr/>
        </p:nvSpPr>
        <p:spPr>
          <a:xfrm>
            <a:off x="787400" y="3302000"/>
            <a:ext cx="76200" cy="228600"/>
          </a:xfrm>
          <a:prstGeom prst="rect">
            <a:avLst/>
          </a:prstGeom>
          <a:solidFill>
            <a:srgbClr val="0069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CA4659-8510-404B-B0CA-630994D1DFE6}"/>
              </a:ext>
            </a:extLst>
          </p:cNvPr>
          <p:cNvSpPr/>
          <p:nvPr/>
        </p:nvSpPr>
        <p:spPr>
          <a:xfrm>
            <a:off x="914400" y="3302000"/>
            <a:ext cx="2133600" cy="228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DC1C9E-5840-7C47-A4BB-83AED63CCD0F}"/>
              </a:ext>
            </a:extLst>
          </p:cNvPr>
          <p:cNvSpPr txBox="1"/>
          <p:nvPr/>
        </p:nvSpPr>
        <p:spPr>
          <a:xfrm>
            <a:off x="965200" y="3339356"/>
            <a:ext cx="2032000" cy="15388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en-US" sz="1000" b="1">
                <a:solidFill>
                  <a:srgbClr val="1E1E1E"/>
                </a:solidFill>
                <a:latin typeface="Consolas"/>
                <a:cs typeface="Consolas"/>
              </a:rPr>
              <a:t>  _           =&gt;  default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7E15510-B3E0-B542-97F7-29482E7B4CB3}"/>
              </a:ext>
            </a:extLst>
          </p:cNvPr>
          <p:cNvSpPr/>
          <p:nvPr/>
        </p:nvSpPr>
        <p:spPr>
          <a:xfrm>
            <a:off x="889000" y="3683000"/>
            <a:ext cx="2032000" cy="2794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D0B697-2852-9745-BACA-6498666F9D04}"/>
              </a:ext>
            </a:extLst>
          </p:cNvPr>
          <p:cNvSpPr txBox="1"/>
          <p:nvPr/>
        </p:nvSpPr>
        <p:spPr>
          <a:xfrm>
            <a:off x="889000" y="3741908"/>
            <a:ext cx="2032000" cy="161583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</a:rPr>
              <a:t>Exhaustive — compiler-checked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BEBB62-96FB-2841-8AD3-8030EC9E2093}"/>
              </a:ext>
            </a:extLst>
          </p:cNvPr>
          <p:cNvSpPr txBox="1"/>
          <p:nvPr/>
        </p:nvSpPr>
        <p:spPr>
          <a:xfrm>
            <a:off x="787400" y="4089400"/>
            <a:ext cx="2500086" cy="22345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100" dirty="0">
                <a:solidFill>
                  <a:srgbClr val="1E1E1E"/>
                </a:solidFill>
              </a:rPr>
              <a:t>Tries arms top-to-bottom; first match wins</a:t>
            </a:r>
          </a:p>
          <a:p>
            <a:pPr marL="171450" indent="-17145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100" dirty="0">
                <a:solidFill>
                  <a:srgbClr val="1E1E1E"/>
                </a:solidFill>
              </a:rPr>
              <a:t>Patterns </a:t>
            </a:r>
            <a:r>
              <a:rPr lang="en-US" sz="1100" dirty="0" err="1">
                <a:solidFill>
                  <a:srgbClr val="1E1E1E"/>
                </a:solidFill>
              </a:rPr>
              <a:t>destructure</a:t>
            </a:r>
            <a:r>
              <a:rPr lang="en-US" sz="1100" dirty="0">
                <a:solidFill>
                  <a:srgbClr val="1E1E1E"/>
                </a:solidFill>
              </a:rPr>
              <a:t> and bind in one step</a:t>
            </a:r>
          </a:p>
          <a:p>
            <a:pPr marL="171450" indent="-17145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100" dirty="0">
                <a:solidFill>
                  <a:srgbClr val="1E1E1E"/>
                </a:solidFill>
              </a:rPr>
              <a:t>Guards (if) refine arms with conditions</a:t>
            </a:r>
          </a:p>
          <a:p>
            <a:pPr marL="171450" indent="-17145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100" dirty="0">
                <a:solidFill>
                  <a:srgbClr val="1E1E1E"/>
                </a:solidFill>
              </a:rPr>
              <a:t>All variants must be covered or _ used</a:t>
            </a:r>
          </a:p>
          <a:p>
            <a:pPr marL="171450" indent="-171450" algn="l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100" dirty="0">
                <a:solidFill>
                  <a:srgbClr val="1E1E1E"/>
                </a:solidFill>
              </a:rPr>
              <a:t>Refutable in match; irrefutable in let</a:t>
            </a:r>
          </a:p>
        </p:txBody>
      </p:sp>
    </p:spTree>
    <p:extLst>
      <p:ext uri="{BB962C8B-B14F-4D97-AF65-F5344CB8AC3E}">
        <p14:creationId xmlns:p14="http://schemas.microsoft.com/office/powerpoint/2010/main" val="3354596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5415C2-4329-6243-88A8-8774B54061F1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Pattern Matching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D983ED-806A-7342-AD31-4ECA2DB7A332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5D7E5-7A25-584D-A252-836FE8624CFB}"/>
              </a:ext>
            </a:extLst>
          </p:cNvPr>
          <p:cNvSpPr txBox="1"/>
          <p:nvPr/>
        </p:nvSpPr>
        <p:spPr>
          <a:xfrm>
            <a:off x="838200" y="1066800"/>
            <a:ext cx="10515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55555"/>
                </a:solidFill>
              </a:rPr>
              <a:t>Compared with C++ and Python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F05B7-41F3-2141-9601-7599F6E2B7EC}"/>
              </a:ext>
            </a:extLst>
          </p:cNvPr>
          <p:cNvSpPr/>
          <p:nvPr/>
        </p:nvSpPr>
        <p:spPr>
          <a:xfrm>
            <a:off x="475343" y="14859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BBB02-C90A-1945-B0B8-65100353FE17}"/>
              </a:ext>
            </a:extLst>
          </p:cNvPr>
          <p:cNvSpPr/>
          <p:nvPr/>
        </p:nvSpPr>
        <p:spPr>
          <a:xfrm>
            <a:off x="475343" y="1816100"/>
            <a:ext cx="3683000" cy="2921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CA94A-B652-0F48-8AC9-24EBFA17F4C0}"/>
              </a:ext>
            </a:extLst>
          </p:cNvPr>
          <p:cNvSpPr txBox="1"/>
          <p:nvPr/>
        </p:nvSpPr>
        <p:spPr>
          <a:xfrm>
            <a:off x="602343" y="1536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Rust — match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2812A-E199-F84D-B972-C610E6B28169}"/>
              </a:ext>
            </a:extLst>
          </p:cNvPr>
          <p:cNvSpPr txBox="1"/>
          <p:nvPr/>
        </p:nvSpPr>
        <p:spPr>
          <a:xfrm>
            <a:off x="602343" y="1892300"/>
            <a:ext cx="3429000" cy="270843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fn classify(n: i32) -&gt; &amp;'static str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match n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0          =&gt; "zero",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1 | 2 | 3  =&gt; "small",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4..=9      =&gt; "single digit",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x if x &lt; 0 =&gt; "negative",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_          =&gt; "large",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// Destructure + bind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let pt = (3, 7);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match pt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(0, 0)          =&gt; "origin",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(x, 0) | (0, x) =&gt; "on axis",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(x, y)          =&gt; "point",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0C08D9-0CB4-2742-88AA-C2E5E4D852C6}"/>
              </a:ext>
            </a:extLst>
          </p:cNvPr>
          <p:cNvSpPr/>
          <p:nvPr/>
        </p:nvSpPr>
        <p:spPr>
          <a:xfrm>
            <a:off x="475343" y="49149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A5ED0-5C40-A040-B1FC-709555EA0AE5}"/>
              </a:ext>
            </a:extLst>
          </p:cNvPr>
          <p:cNvSpPr/>
          <p:nvPr/>
        </p:nvSpPr>
        <p:spPr>
          <a:xfrm>
            <a:off x="475343" y="5245100"/>
            <a:ext cx="3683000" cy="1397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494066-88F4-4C4B-BEA1-CC6BC1E3015D}"/>
              </a:ext>
            </a:extLst>
          </p:cNvPr>
          <p:cNvSpPr txBox="1"/>
          <p:nvPr/>
        </p:nvSpPr>
        <p:spPr>
          <a:xfrm>
            <a:off x="602343" y="4965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Highlights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E05370-B9FE-CC45-8521-033F2F26A83A}"/>
              </a:ext>
            </a:extLst>
          </p:cNvPr>
          <p:cNvSpPr txBox="1"/>
          <p:nvPr/>
        </p:nvSpPr>
        <p:spPr>
          <a:xfrm>
            <a:off x="602343" y="5321300"/>
            <a:ext cx="3429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Exhaustive — compiler errors on missing arms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OR-patterns, ranges, guards (if), @-bindings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if let / while let / let-else for one arm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Refutable vs irrefutable patterns checked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3D33BE-9119-634C-BE7E-3C95641F8B65}"/>
              </a:ext>
            </a:extLst>
          </p:cNvPr>
          <p:cNvSpPr/>
          <p:nvPr/>
        </p:nvSpPr>
        <p:spPr>
          <a:xfrm>
            <a:off x="4412343" y="1485900"/>
            <a:ext cx="3683000" cy="3302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2A4E7A-E3EA-9F40-A781-EF0A2EF9334D}"/>
              </a:ext>
            </a:extLst>
          </p:cNvPr>
          <p:cNvSpPr/>
          <p:nvPr/>
        </p:nvSpPr>
        <p:spPr>
          <a:xfrm>
            <a:off x="4412343" y="1816100"/>
            <a:ext cx="3683000" cy="2921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B16BF8-EC0F-3E48-84C8-D511542E46E4}"/>
              </a:ext>
            </a:extLst>
          </p:cNvPr>
          <p:cNvSpPr txBox="1"/>
          <p:nvPr/>
        </p:nvSpPr>
        <p:spPr>
          <a:xfrm>
            <a:off x="4539343" y="1536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C++ — switch + visit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D2A5F8-7BA0-6E4B-9DA6-AAC6B7A3EACF}"/>
              </a:ext>
            </a:extLst>
          </p:cNvPr>
          <p:cNvSpPr txBox="1"/>
          <p:nvPr/>
        </p:nvSpPr>
        <p:spPr>
          <a:xfrm>
            <a:off x="4539343" y="1892300"/>
            <a:ext cx="3429000" cy="24006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// Built-in: ints / enums 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const char* classify(int n)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switch (n)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case 0:         return "zero";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case 1: case 2: return "small";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default: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    return n &lt; 0 ? "neg" : "big";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// Sum types via std::visit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std::visit(overloaded{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[](int i)         { /* ... */ 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[](std::string s) { /* ... */ 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}, value);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12DE91-3C4C-EE4A-BCA6-9EC08BBC7F88}"/>
              </a:ext>
            </a:extLst>
          </p:cNvPr>
          <p:cNvSpPr/>
          <p:nvPr/>
        </p:nvSpPr>
        <p:spPr>
          <a:xfrm>
            <a:off x="4412343" y="4914900"/>
            <a:ext cx="3683000" cy="3302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22B982-57EB-E549-9C88-04B7A3CF8F4B}"/>
              </a:ext>
            </a:extLst>
          </p:cNvPr>
          <p:cNvSpPr/>
          <p:nvPr/>
        </p:nvSpPr>
        <p:spPr>
          <a:xfrm>
            <a:off x="4412343" y="5245100"/>
            <a:ext cx="3683000" cy="1397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FEA0F7-E136-554A-9B62-5829357C1ACA}"/>
              </a:ext>
            </a:extLst>
          </p:cNvPr>
          <p:cNvSpPr txBox="1"/>
          <p:nvPr/>
        </p:nvSpPr>
        <p:spPr>
          <a:xfrm>
            <a:off x="4539343" y="4965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Trade-offs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E7B13E-B547-1F42-B390-092F5667DB18}"/>
              </a:ext>
            </a:extLst>
          </p:cNvPr>
          <p:cNvSpPr txBox="1"/>
          <p:nvPr/>
        </p:nvSpPr>
        <p:spPr>
          <a:xfrm>
            <a:off x="4539343" y="5321300"/>
            <a:ext cx="3429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switch: ints/enums only, no ranges or guards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Fallthrough by default — easy footgun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No destructuring; no exhaustiveness check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Pattern matching proposed (P1371) — not in std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CAA288-D97C-C24B-AD5C-B5D15171DB5A}"/>
              </a:ext>
            </a:extLst>
          </p:cNvPr>
          <p:cNvSpPr/>
          <p:nvPr/>
        </p:nvSpPr>
        <p:spPr>
          <a:xfrm>
            <a:off x="8349343" y="1485900"/>
            <a:ext cx="3683000" cy="330200"/>
          </a:xfrm>
          <a:prstGeom prst="rect">
            <a:avLst/>
          </a:prstGeom>
          <a:solidFill>
            <a:srgbClr val="0069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CF3519-737C-E44C-99A7-4566176444AA}"/>
              </a:ext>
            </a:extLst>
          </p:cNvPr>
          <p:cNvSpPr/>
          <p:nvPr/>
        </p:nvSpPr>
        <p:spPr>
          <a:xfrm>
            <a:off x="8349343" y="1816100"/>
            <a:ext cx="3683000" cy="2921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D6B807-9619-2C4D-96AA-93D859A5AFE2}"/>
              </a:ext>
            </a:extLst>
          </p:cNvPr>
          <p:cNvSpPr txBox="1"/>
          <p:nvPr/>
        </p:nvSpPr>
        <p:spPr>
          <a:xfrm>
            <a:off x="8476343" y="1536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Python — match/case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DA65F8-6148-F340-B36F-CF410DAA4381}"/>
              </a:ext>
            </a:extLst>
          </p:cNvPr>
          <p:cNvSpPr txBox="1"/>
          <p:nvPr/>
        </p:nvSpPr>
        <p:spPr>
          <a:xfrm>
            <a:off x="8476343" y="1892300"/>
            <a:ext cx="3429000" cy="209288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def classify(n):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match n: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case 0:           return "zero"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case 1 | 2 | 3:   return "small"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case x if x &lt; 0:  return "negative"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    case _:           return "large"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>
              <a:solidFill>
                <a:srgbClr val="F5F5F5"/>
              </a:solidFill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# Structural / destructuring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match point: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case (0, 0):          print("origin")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case (x, 0) | (0, x): print("axis")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case {"name": n}:     print(n)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5F5F5"/>
                </a:solidFill>
                <a:latin typeface="Consolas"/>
                <a:cs typeface="Consolas"/>
              </a:rPr>
              <a:t>    case Point(x=x, y=y): print(x, y)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C01C18-FBC9-5C4D-879B-929EC2233A47}"/>
              </a:ext>
            </a:extLst>
          </p:cNvPr>
          <p:cNvSpPr/>
          <p:nvPr/>
        </p:nvSpPr>
        <p:spPr>
          <a:xfrm>
            <a:off x="8349343" y="4914900"/>
            <a:ext cx="3683000" cy="330200"/>
          </a:xfrm>
          <a:prstGeom prst="rect">
            <a:avLst/>
          </a:prstGeom>
          <a:solidFill>
            <a:srgbClr val="0069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F31486-9C66-DB47-8231-8E183080CA22}"/>
              </a:ext>
            </a:extLst>
          </p:cNvPr>
          <p:cNvSpPr/>
          <p:nvPr/>
        </p:nvSpPr>
        <p:spPr>
          <a:xfrm>
            <a:off x="8349343" y="5245100"/>
            <a:ext cx="3683000" cy="1397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27CABD-AD92-3A46-A704-9CEB1072AAB6}"/>
              </a:ext>
            </a:extLst>
          </p:cNvPr>
          <p:cNvSpPr txBox="1"/>
          <p:nvPr/>
        </p:nvSpPr>
        <p:spPr>
          <a:xfrm>
            <a:off x="8476343" y="4965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Trade-offs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DF4F22-42F3-F749-95B8-09921169E91C}"/>
              </a:ext>
            </a:extLst>
          </p:cNvPr>
          <p:cNvSpPr txBox="1"/>
          <p:nvPr/>
        </p:nvSpPr>
        <p:spPr>
          <a:xfrm>
            <a:off x="8476343" y="5321300"/>
            <a:ext cx="3429000" cy="110799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3.10+ structural match — sequences, mappings, classes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Guards (if), OR (|), capture, wildcard (_)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No exhaustiveness — silent fallthrough on no match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Dynamic: type errors surface at runtime</a:t>
            </a:r>
          </a:p>
        </p:txBody>
      </p:sp>
    </p:spTree>
    <p:extLst>
      <p:ext uri="{BB962C8B-B14F-4D97-AF65-F5344CB8AC3E}">
        <p14:creationId xmlns:p14="http://schemas.microsoft.com/office/powerpoint/2010/main" val="281396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552CA3-2FD3-D346-97B4-16B16B0C07E3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Enums in Rust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E1E75-5E80-C64A-B0B3-D5545DA16EEB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ACA35-7CCA-8C4D-9018-93C12D3FD20D}"/>
              </a:ext>
            </a:extLst>
          </p:cNvPr>
          <p:cNvSpPr txBox="1"/>
          <p:nvPr/>
        </p:nvSpPr>
        <p:spPr>
          <a:xfrm>
            <a:off x="838200" y="1066800"/>
            <a:ext cx="10515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Real sum types — variants carry data, methods, and generics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164E0-C4AC-6D46-AA4C-02AA6A0B9A2D}"/>
              </a:ext>
            </a:extLst>
          </p:cNvPr>
          <p:cNvSpPr/>
          <p:nvPr/>
        </p:nvSpPr>
        <p:spPr>
          <a:xfrm>
            <a:off x="635000" y="1498600"/>
            <a:ext cx="3683000" cy="330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42EB33-F586-9749-AF6B-7907C0F1C12D}"/>
              </a:ext>
            </a:extLst>
          </p:cNvPr>
          <p:cNvSpPr/>
          <p:nvPr/>
        </p:nvSpPr>
        <p:spPr>
          <a:xfrm>
            <a:off x="635000" y="1828800"/>
            <a:ext cx="3683000" cy="45212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1E24C1-3A86-0144-8681-78DCF11352AE}"/>
              </a:ext>
            </a:extLst>
          </p:cNvPr>
          <p:cNvSpPr txBox="1"/>
          <p:nvPr/>
        </p:nvSpPr>
        <p:spPr>
          <a:xfrm>
            <a:off x="762000" y="15494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What is a Rust enum?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C8898-EC9F-3644-8118-C9FF96CAF5DA}"/>
              </a:ext>
            </a:extLst>
          </p:cNvPr>
          <p:cNvSpPr txBox="1"/>
          <p:nvPr/>
        </p:nvSpPr>
        <p:spPr>
          <a:xfrm>
            <a:off x="762000" y="1981200"/>
            <a:ext cx="3429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E1E1E"/>
                </a:solidFill>
                <a:latin typeface="Consolas"/>
                <a:cs typeface="Consolas"/>
              </a:rPr>
              <a:t>enum Shape  =  one of: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5F3D6-14AA-7044-BC5C-AF9CE3E974E6}"/>
              </a:ext>
            </a:extLst>
          </p:cNvPr>
          <p:cNvSpPr/>
          <p:nvPr/>
        </p:nvSpPr>
        <p:spPr>
          <a:xfrm>
            <a:off x="889000" y="2286000"/>
            <a:ext cx="76200" cy="2794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D40620-4266-E94D-99C3-C2F5773E48C8}"/>
              </a:ext>
            </a:extLst>
          </p:cNvPr>
          <p:cNvSpPr/>
          <p:nvPr/>
        </p:nvSpPr>
        <p:spPr>
          <a:xfrm>
            <a:off x="1016000" y="2286000"/>
            <a:ext cx="3175000" cy="279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DC19B-66CA-824A-AC53-1CF7BB8D0504}"/>
              </a:ext>
            </a:extLst>
          </p:cNvPr>
          <p:cNvSpPr txBox="1"/>
          <p:nvPr/>
        </p:nvSpPr>
        <p:spPr>
          <a:xfrm>
            <a:off x="1066800" y="2341061"/>
            <a:ext cx="3048000" cy="16927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en-US" sz="1100" b="1">
                <a:solidFill>
                  <a:srgbClr val="1E1E1E"/>
                </a:solidFill>
                <a:latin typeface="Consolas"/>
                <a:cs typeface="Consolas"/>
              </a:rPr>
              <a:t>Circle(f64)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4757C3-41FB-D34A-A137-B1CA81F38DD7}"/>
              </a:ext>
            </a:extLst>
          </p:cNvPr>
          <p:cNvSpPr/>
          <p:nvPr/>
        </p:nvSpPr>
        <p:spPr>
          <a:xfrm>
            <a:off x="889000" y="2667000"/>
            <a:ext cx="76200" cy="2794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4FC1842-7993-C34B-80C0-E9D4B76706F4}"/>
              </a:ext>
            </a:extLst>
          </p:cNvPr>
          <p:cNvSpPr/>
          <p:nvPr/>
        </p:nvSpPr>
        <p:spPr>
          <a:xfrm>
            <a:off x="1016000" y="2667000"/>
            <a:ext cx="3175000" cy="279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F92FB6-54CB-C340-BBC7-C76FD50C8BBB}"/>
              </a:ext>
            </a:extLst>
          </p:cNvPr>
          <p:cNvSpPr txBox="1"/>
          <p:nvPr/>
        </p:nvSpPr>
        <p:spPr>
          <a:xfrm>
            <a:off x="1066800" y="2722061"/>
            <a:ext cx="3048000" cy="16927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en-US" sz="1100" b="1">
                <a:solidFill>
                  <a:srgbClr val="1E1E1E"/>
                </a:solidFill>
                <a:latin typeface="Consolas"/>
                <a:cs typeface="Consolas"/>
              </a:rPr>
              <a:t>Rect { w: f64, h: f64 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103770-A262-2F4F-9B97-1B8B26FCD7F1}"/>
              </a:ext>
            </a:extLst>
          </p:cNvPr>
          <p:cNvSpPr/>
          <p:nvPr/>
        </p:nvSpPr>
        <p:spPr>
          <a:xfrm>
            <a:off x="889000" y="3048000"/>
            <a:ext cx="76200" cy="279400"/>
          </a:xfrm>
          <a:prstGeom prst="rect">
            <a:avLst/>
          </a:prstGeom>
          <a:solidFill>
            <a:srgbClr val="0069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C8A3ED8-236B-D94C-82A8-3D29C9914C3A}"/>
              </a:ext>
            </a:extLst>
          </p:cNvPr>
          <p:cNvSpPr/>
          <p:nvPr/>
        </p:nvSpPr>
        <p:spPr>
          <a:xfrm>
            <a:off x="1016000" y="3048000"/>
            <a:ext cx="3175000" cy="279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C1F7BB-0B2A-F34B-A6C2-41F9E2E1E95F}"/>
              </a:ext>
            </a:extLst>
          </p:cNvPr>
          <p:cNvSpPr txBox="1"/>
          <p:nvPr/>
        </p:nvSpPr>
        <p:spPr>
          <a:xfrm>
            <a:off x="1066800" y="3103061"/>
            <a:ext cx="3048000" cy="16927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en-US" sz="1100" b="1">
                <a:solidFill>
                  <a:srgbClr val="1E1E1E"/>
                </a:solidFill>
                <a:latin typeface="Consolas"/>
                <a:cs typeface="Consolas"/>
              </a:rPr>
              <a:t>Empty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65E299-18C0-1740-9DA8-77E36953E904}"/>
              </a:ext>
            </a:extLst>
          </p:cNvPr>
          <p:cNvSpPr txBox="1"/>
          <p:nvPr/>
        </p:nvSpPr>
        <p:spPr>
          <a:xfrm>
            <a:off x="762000" y="3429000"/>
            <a:ext cx="3429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000" i="1">
                <a:solidFill>
                  <a:srgbClr val="555555"/>
                </a:solidFill>
              </a:rPr>
              <a:t>each value is exactly one variant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E0993D-FCD3-B049-9ED5-59E38933BE5B}"/>
              </a:ext>
            </a:extLst>
          </p:cNvPr>
          <p:cNvSpPr txBox="1"/>
          <p:nvPr/>
        </p:nvSpPr>
        <p:spPr>
          <a:xfrm>
            <a:off x="762000" y="3759200"/>
            <a:ext cx="3429000" cy="170187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Each variant can carry its own data (tuple or struct)</a:t>
            </a:r>
          </a:p>
          <a:p>
            <a:pPr marL="171450" indent="-171450" algn="l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Compile-time tag — match must cover every variant</a:t>
            </a:r>
          </a:p>
          <a:p>
            <a:pPr marL="171450" indent="-171450" algn="l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Methods via impl, just like structs</a:t>
            </a:r>
          </a:p>
          <a:p>
            <a:pPr marL="171450" indent="-171450" algn="l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Generic — Option&lt;T&gt;, Result&lt;T,E&gt; are just enums</a:t>
            </a:r>
          </a:p>
          <a:p>
            <a:pPr marL="171450" indent="-171450" algn="l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Niche-optimized: Option&lt;&amp;T&gt; is one pointer, no overhead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C2792E-A9D0-144E-AD6A-5C4CBA67F5F1}"/>
              </a:ext>
            </a:extLst>
          </p:cNvPr>
          <p:cNvSpPr/>
          <p:nvPr/>
        </p:nvSpPr>
        <p:spPr>
          <a:xfrm>
            <a:off x="4572000" y="1498600"/>
            <a:ext cx="698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BD592B-F7E7-4649-A4A4-F92AFB629CA4}"/>
              </a:ext>
            </a:extLst>
          </p:cNvPr>
          <p:cNvSpPr/>
          <p:nvPr/>
        </p:nvSpPr>
        <p:spPr>
          <a:xfrm>
            <a:off x="4572000" y="1828800"/>
            <a:ext cx="6985000" cy="22606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A8C057-C14A-DB42-8DF5-4995EA5EDB12}"/>
              </a:ext>
            </a:extLst>
          </p:cNvPr>
          <p:cNvSpPr txBox="1"/>
          <p:nvPr/>
        </p:nvSpPr>
        <p:spPr>
          <a:xfrm>
            <a:off x="4699000" y="1549400"/>
            <a:ext cx="6731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Defining + matching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C8EFB2-768D-7F45-B7DD-9A46D5441C2C}"/>
              </a:ext>
            </a:extLst>
          </p:cNvPr>
          <p:cNvSpPr txBox="1"/>
          <p:nvPr/>
        </p:nvSpPr>
        <p:spPr>
          <a:xfrm>
            <a:off x="4699000" y="1905000"/>
            <a:ext cx="6731000" cy="212365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enum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Shape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Circle(f64),                    // tuple variant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Rect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{ w: f64, h: f64 },        // struct variant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Empty,                          // unit variant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fn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area(s: &amp;Shape) -&gt; f64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match s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    Shape::Circle(r)         =&gt; 3.14 * r * 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    Shape::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Rect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{ w, h }     =&gt; w * h,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    Shape::Empty             =&gt; 0.0,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}   // missing arm = compile error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699066-1479-484E-B39F-CA32FE862798}"/>
              </a:ext>
            </a:extLst>
          </p:cNvPr>
          <p:cNvSpPr/>
          <p:nvPr/>
        </p:nvSpPr>
        <p:spPr>
          <a:xfrm>
            <a:off x="4572000" y="4216400"/>
            <a:ext cx="6985000" cy="3302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EDB936-8DA4-7440-A55D-CB73D63115F7}"/>
              </a:ext>
            </a:extLst>
          </p:cNvPr>
          <p:cNvSpPr/>
          <p:nvPr/>
        </p:nvSpPr>
        <p:spPr>
          <a:xfrm>
            <a:off x="4572000" y="4546600"/>
            <a:ext cx="6985000" cy="18034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ADE278-2E51-7941-AFB2-155C28A12975}"/>
              </a:ext>
            </a:extLst>
          </p:cNvPr>
          <p:cNvSpPr txBox="1"/>
          <p:nvPr/>
        </p:nvSpPr>
        <p:spPr>
          <a:xfrm>
            <a:off x="4699000" y="4267200"/>
            <a:ext cx="6731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Methods + generics (Option, Result)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316F8-EC31-314F-92BA-26556ED1AF0B}"/>
              </a:ext>
            </a:extLst>
          </p:cNvPr>
          <p:cNvSpPr txBox="1"/>
          <p:nvPr/>
        </p:nvSpPr>
        <p:spPr>
          <a:xfrm>
            <a:off x="4699000" y="4622800"/>
            <a:ext cx="67310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impl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Shape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fn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is_empty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(&amp;self) -&gt; bool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    matches!(self, Shape::Empty)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// Option and Result are just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enums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in std: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enum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Option&lt;T&gt; { Some(T), None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enum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Result&lt;T, E&gt; { Ok(T), Err(E)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n = Some(7).map(|x| x * 2);   // Some(14)</a:t>
            </a:r>
          </a:p>
        </p:txBody>
      </p:sp>
    </p:spTree>
    <p:extLst>
      <p:ext uri="{BB962C8B-B14F-4D97-AF65-F5344CB8AC3E}">
        <p14:creationId xmlns:p14="http://schemas.microsoft.com/office/powerpoint/2010/main" val="1180188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1461D2-C0F2-6F4C-A40A-35BF95584997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Enums &amp; Pattern Matching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44761A-E9FE-D04D-B8D1-4D26BBF45958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D62FE-6073-7E46-87A6-5B3D962EEA04}"/>
              </a:ext>
            </a:extLst>
          </p:cNvPr>
          <p:cNvSpPr txBox="1"/>
          <p:nvPr/>
        </p:nvSpPr>
        <p:spPr>
          <a:xfrm>
            <a:off x="838200" y="1066800"/>
            <a:ext cx="10515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Rust sum types vs. C++ std::variant vs. Python class hierarchy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AB2D0-4ED1-BC48-AEE4-D9A9E1A5E42A}"/>
              </a:ext>
            </a:extLst>
          </p:cNvPr>
          <p:cNvSpPr/>
          <p:nvPr/>
        </p:nvSpPr>
        <p:spPr>
          <a:xfrm>
            <a:off x="344715" y="14859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30D5E-9F22-BF41-A668-20619354805C}"/>
              </a:ext>
            </a:extLst>
          </p:cNvPr>
          <p:cNvSpPr/>
          <p:nvPr/>
        </p:nvSpPr>
        <p:spPr>
          <a:xfrm>
            <a:off x="344715" y="1816100"/>
            <a:ext cx="3683000" cy="2921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C18CD-7086-6345-97F5-C35B8BA0A567}"/>
              </a:ext>
            </a:extLst>
          </p:cNvPr>
          <p:cNvSpPr txBox="1"/>
          <p:nvPr/>
        </p:nvSpPr>
        <p:spPr>
          <a:xfrm>
            <a:off x="471715" y="1536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Rust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CA36B5-89DD-E246-BBD0-D127ADBF1934}"/>
              </a:ext>
            </a:extLst>
          </p:cNvPr>
          <p:cNvSpPr txBox="1"/>
          <p:nvPr/>
        </p:nvSpPr>
        <p:spPr>
          <a:xfrm>
            <a:off x="471715" y="1892300"/>
            <a:ext cx="3429000" cy="229293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enum Shape {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Circle(f64),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Rect { w: f64, h: f64 },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Empty,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fn area(s: &amp;Shape) -&gt; f64 {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match s {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    Shape::Circle(r) =&gt; 3.14 * r * r,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    Shape::Rect { w, h } =&gt; w * h,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    Shape::Empty =&gt; 0.0,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}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3E9C33-BA9B-4248-89A1-C2E3CDECD4F5}"/>
              </a:ext>
            </a:extLst>
          </p:cNvPr>
          <p:cNvSpPr/>
          <p:nvPr/>
        </p:nvSpPr>
        <p:spPr>
          <a:xfrm>
            <a:off x="344715" y="49149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9F7177-14EA-C84C-8523-0F17BD7DBD95}"/>
              </a:ext>
            </a:extLst>
          </p:cNvPr>
          <p:cNvSpPr/>
          <p:nvPr/>
        </p:nvSpPr>
        <p:spPr>
          <a:xfrm>
            <a:off x="344715" y="5245100"/>
            <a:ext cx="3683000" cy="1397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B56D27-2210-7045-8228-084C36B03438}"/>
              </a:ext>
            </a:extLst>
          </p:cNvPr>
          <p:cNvSpPr txBox="1"/>
          <p:nvPr/>
        </p:nvSpPr>
        <p:spPr>
          <a:xfrm>
            <a:off x="471715" y="4965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Why it shines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0174C-BE28-FF42-89E6-603CB75D6E0A}"/>
              </a:ext>
            </a:extLst>
          </p:cNvPr>
          <p:cNvSpPr txBox="1"/>
          <p:nvPr/>
        </p:nvSpPr>
        <p:spPr>
          <a:xfrm>
            <a:off x="471715" y="5321300"/>
            <a:ext cx="3429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Variants carry data; tagged at compile time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match is exhaustive — missing arm = error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Destructures fields directly, no casts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Option/Result built on the same primitive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75B8C5-4B3E-0F4C-BBF6-D456540C8F87}"/>
              </a:ext>
            </a:extLst>
          </p:cNvPr>
          <p:cNvSpPr/>
          <p:nvPr/>
        </p:nvSpPr>
        <p:spPr>
          <a:xfrm>
            <a:off x="4281715" y="1485900"/>
            <a:ext cx="3683000" cy="3302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DAA69A-3023-6042-9BB2-F849E07A7CCF}"/>
              </a:ext>
            </a:extLst>
          </p:cNvPr>
          <p:cNvSpPr/>
          <p:nvPr/>
        </p:nvSpPr>
        <p:spPr>
          <a:xfrm>
            <a:off x="4281715" y="1816100"/>
            <a:ext cx="3683000" cy="2921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B64207-05B7-5444-B1BA-10A7E3D910E7}"/>
              </a:ext>
            </a:extLst>
          </p:cNvPr>
          <p:cNvSpPr txBox="1"/>
          <p:nvPr/>
        </p:nvSpPr>
        <p:spPr>
          <a:xfrm>
            <a:off x="4408715" y="1536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C++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13BB4A-90AF-5440-8F7B-CD8866645787}"/>
              </a:ext>
            </a:extLst>
          </p:cNvPr>
          <p:cNvSpPr txBox="1"/>
          <p:nvPr/>
        </p:nvSpPr>
        <p:spPr>
          <a:xfrm>
            <a:off x="4408715" y="1892300"/>
            <a:ext cx="3429000" cy="229293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struct Circle { double r; };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struct Rect   { double w, h; };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struct Empty  {};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using Shape = std::variant&lt;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Circle, Rect, Empty&gt;;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double area(const Shape&amp; s) {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return std::visit(overloaded{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[](Circle c){ return 3.14*c.r*c.r; },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[](Rect r)  { return r.w * r.h; },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[](Empty)   { return 0.0; },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}, s);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A0AEB8-E6C6-E049-9DB4-09524F7EE9B0}"/>
              </a:ext>
            </a:extLst>
          </p:cNvPr>
          <p:cNvSpPr/>
          <p:nvPr/>
        </p:nvSpPr>
        <p:spPr>
          <a:xfrm>
            <a:off x="4281715" y="4914900"/>
            <a:ext cx="3683000" cy="330200"/>
          </a:xfrm>
          <a:prstGeom prst="rect">
            <a:avLst/>
          </a:prstGeom>
          <a:solidFill>
            <a:srgbClr val="1976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99C4FF-3C92-F04B-ADBC-7F603ED45024}"/>
              </a:ext>
            </a:extLst>
          </p:cNvPr>
          <p:cNvSpPr/>
          <p:nvPr/>
        </p:nvSpPr>
        <p:spPr>
          <a:xfrm>
            <a:off x="4281715" y="5245100"/>
            <a:ext cx="3683000" cy="1397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31B86F-84DC-2248-9903-F2269997ECCA}"/>
              </a:ext>
            </a:extLst>
          </p:cNvPr>
          <p:cNvSpPr txBox="1"/>
          <p:nvPr/>
        </p:nvSpPr>
        <p:spPr>
          <a:xfrm>
            <a:off x="4408715" y="4965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Trade-offs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0309A8-CE41-B64D-ACFA-90631935C9DF}"/>
              </a:ext>
            </a:extLst>
          </p:cNvPr>
          <p:cNvSpPr txBox="1"/>
          <p:nvPr/>
        </p:nvSpPr>
        <p:spPr>
          <a:xfrm>
            <a:off x="4408715" y="5321300"/>
            <a:ext cx="3429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std::variant + std::visit since C++17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No exhaustiveness check by default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Verbose: needs overloaded helper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Or use virtual classes — runtime cost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2A365C-0D6D-1340-B200-931092956B0B}"/>
              </a:ext>
            </a:extLst>
          </p:cNvPr>
          <p:cNvSpPr/>
          <p:nvPr/>
        </p:nvSpPr>
        <p:spPr>
          <a:xfrm>
            <a:off x="8218715" y="1485900"/>
            <a:ext cx="3683000" cy="330200"/>
          </a:xfrm>
          <a:prstGeom prst="rect">
            <a:avLst/>
          </a:prstGeom>
          <a:solidFill>
            <a:srgbClr val="0069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EC4015-1314-B74A-83AC-0AE5D5C9ACAF}"/>
              </a:ext>
            </a:extLst>
          </p:cNvPr>
          <p:cNvSpPr/>
          <p:nvPr/>
        </p:nvSpPr>
        <p:spPr>
          <a:xfrm>
            <a:off x="8218715" y="1816100"/>
            <a:ext cx="3683000" cy="2921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353AB2-5EEF-4144-AF4B-3ECAB47FDA3D}"/>
              </a:ext>
            </a:extLst>
          </p:cNvPr>
          <p:cNvSpPr txBox="1"/>
          <p:nvPr/>
        </p:nvSpPr>
        <p:spPr>
          <a:xfrm>
            <a:off x="8345715" y="1536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629FE7-D262-AC4B-93CD-BB1F9E68945C}"/>
              </a:ext>
            </a:extLst>
          </p:cNvPr>
          <p:cNvSpPr txBox="1"/>
          <p:nvPr/>
        </p:nvSpPr>
        <p:spPr>
          <a:xfrm>
            <a:off x="8345715" y="1892300"/>
            <a:ext cx="3429000" cy="229293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from dataclasses import dataclass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@dataclass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class Circle: r: float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@dataclass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class Rect:   w: float; h: float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class Empty:  pass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def area(s):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match s: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    case Circle(r):    return 3.14*r*r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    case Rect(w, h):   return w * h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    case Empty():      return 0.0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DEC013-B101-B24C-87C0-B309ABA1F46B}"/>
              </a:ext>
            </a:extLst>
          </p:cNvPr>
          <p:cNvSpPr/>
          <p:nvPr/>
        </p:nvSpPr>
        <p:spPr>
          <a:xfrm>
            <a:off x="8218715" y="4914900"/>
            <a:ext cx="3683000" cy="330200"/>
          </a:xfrm>
          <a:prstGeom prst="rect">
            <a:avLst/>
          </a:prstGeom>
          <a:solidFill>
            <a:srgbClr val="0069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5CFE37-A940-5A4D-BF7B-32A2A79A0A37}"/>
              </a:ext>
            </a:extLst>
          </p:cNvPr>
          <p:cNvSpPr/>
          <p:nvPr/>
        </p:nvSpPr>
        <p:spPr>
          <a:xfrm>
            <a:off x="8218715" y="5245100"/>
            <a:ext cx="3683000" cy="1397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Z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1E5F70-B963-2345-A9FD-585836DE7E4E}"/>
              </a:ext>
            </a:extLst>
          </p:cNvPr>
          <p:cNvSpPr txBox="1"/>
          <p:nvPr/>
        </p:nvSpPr>
        <p:spPr>
          <a:xfrm>
            <a:off x="8345715" y="4965700"/>
            <a:ext cx="3429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Trade-offs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CA0854-E942-3845-AC00-702BC06B3A5E}"/>
              </a:ext>
            </a:extLst>
          </p:cNvPr>
          <p:cNvSpPr txBox="1"/>
          <p:nvPr/>
        </p:nvSpPr>
        <p:spPr>
          <a:xfrm>
            <a:off x="8345715" y="5321300"/>
            <a:ext cx="3429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match/case from 3.10 — structural patterns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Duck-typed: any class can match a case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No exhaustiveness; errors at runtime</a:t>
            </a:r>
          </a:p>
          <a:p>
            <a:pPr marL="171450" indent="-171450" algn="l"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</a:rPr>
              <a:t>Flexible but no compiler safety net</a:t>
            </a:r>
          </a:p>
        </p:txBody>
      </p:sp>
    </p:spTree>
    <p:extLst>
      <p:ext uri="{BB962C8B-B14F-4D97-AF65-F5344CB8AC3E}">
        <p14:creationId xmlns:p14="http://schemas.microsoft.com/office/powerpoint/2010/main" val="3134520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D0D803-7144-534B-A262-EBDE95634AE9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Closures in Rust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E3822F-DEFC-0B45-BBD1-13FB06291CD0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868EA-195E-F24F-995D-A90D786CAC80}"/>
              </a:ext>
            </a:extLst>
          </p:cNvPr>
          <p:cNvSpPr txBox="1"/>
          <p:nvPr/>
        </p:nvSpPr>
        <p:spPr>
          <a:xfrm>
            <a:off x="838200" y="10668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Anonymous functions that capture their environment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C635E6-C665-1B4C-8808-C69EC351A3EE}"/>
              </a:ext>
            </a:extLst>
          </p:cNvPr>
          <p:cNvSpPr/>
          <p:nvPr/>
        </p:nvSpPr>
        <p:spPr>
          <a:xfrm>
            <a:off x="342900" y="14859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F02629-3B4E-A746-B30A-2406343D3BEB}"/>
              </a:ext>
            </a:extLst>
          </p:cNvPr>
          <p:cNvSpPr/>
          <p:nvPr/>
        </p:nvSpPr>
        <p:spPr>
          <a:xfrm>
            <a:off x="342900" y="1816100"/>
            <a:ext cx="3683000" cy="2921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E3F14-F0E2-3A4F-8185-32EB0C0796F2}"/>
              </a:ext>
            </a:extLst>
          </p:cNvPr>
          <p:cNvSpPr txBox="1"/>
          <p:nvPr/>
        </p:nvSpPr>
        <p:spPr>
          <a:xfrm>
            <a:off x="469900" y="15367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57948-BF75-0F4C-98C9-258749912963}"/>
              </a:ext>
            </a:extLst>
          </p:cNvPr>
          <p:cNvSpPr txBox="1"/>
          <p:nvPr/>
        </p:nvSpPr>
        <p:spPr>
          <a:xfrm>
            <a:off x="469900" y="1892300"/>
            <a:ext cx="3429000" cy="276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// Closure with inferred types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add = |a, b| a + b;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sum = add(2, 3);  // 5</a:t>
            </a:r>
          </a:p>
          <a:p>
            <a:pPr algn="l"/>
            <a:endParaRPr lang="en-US" sz="11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// With explicit types &amp; body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greet = |name: &amp;str| -&gt; String {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format!("Hi, {name}!")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};</a:t>
            </a:r>
          </a:p>
          <a:p>
            <a:pPr algn="l"/>
            <a:endParaRPr lang="en-US" sz="11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// No-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arg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closure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answer = || 42;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0AE407-0E3F-1541-8B30-2DFFE88C2F35}"/>
              </a:ext>
            </a:extLst>
          </p:cNvPr>
          <p:cNvSpPr/>
          <p:nvPr/>
        </p:nvSpPr>
        <p:spPr>
          <a:xfrm>
            <a:off x="4279900" y="14859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9A4E27-03E0-A84F-9AF8-E0FB4851924C}"/>
              </a:ext>
            </a:extLst>
          </p:cNvPr>
          <p:cNvSpPr/>
          <p:nvPr/>
        </p:nvSpPr>
        <p:spPr>
          <a:xfrm>
            <a:off x="4279900" y="1816100"/>
            <a:ext cx="3683000" cy="2921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F4253-9527-074F-BA27-0C4093F3BE3D}"/>
              </a:ext>
            </a:extLst>
          </p:cNvPr>
          <p:cNvSpPr txBox="1"/>
          <p:nvPr/>
        </p:nvSpPr>
        <p:spPr>
          <a:xfrm>
            <a:off x="4406900" y="15367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What gets captured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930ABC-6848-FB4D-9EFA-C6AD0D53B023}"/>
              </a:ext>
            </a:extLst>
          </p:cNvPr>
          <p:cNvSpPr txBox="1"/>
          <p:nvPr/>
        </p:nvSpPr>
        <p:spPr>
          <a:xfrm>
            <a:off x="4406900" y="1892300"/>
            <a:ext cx="3429000" cy="276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Closures capture variables from the surrounding scope automatically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Capture mode is inferred from how the variable is used inside the closure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Use the move keyword to force capture by value (transfers ownership)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A regular </a:t>
            </a:r>
            <a:r>
              <a:rPr lang="en-US" sz="1200" dirty="0" err="1">
                <a:solidFill>
                  <a:srgbClr val="333333"/>
                </a:solidFill>
              </a:rPr>
              <a:t>fn</a:t>
            </a:r>
            <a:r>
              <a:rPr lang="en-US" sz="1200" dirty="0">
                <a:solidFill>
                  <a:srgbClr val="333333"/>
                </a:solidFill>
              </a:rPr>
              <a:t> cannot capture — it has no environment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4A0A9A-03CB-BB48-A0F6-8C6FB0BBAA4A}"/>
              </a:ext>
            </a:extLst>
          </p:cNvPr>
          <p:cNvSpPr/>
          <p:nvPr/>
        </p:nvSpPr>
        <p:spPr>
          <a:xfrm>
            <a:off x="8216900" y="14859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D00317-C1BA-4346-9E93-49729F6363CA}"/>
              </a:ext>
            </a:extLst>
          </p:cNvPr>
          <p:cNvSpPr/>
          <p:nvPr/>
        </p:nvSpPr>
        <p:spPr>
          <a:xfrm>
            <a:off x="8216900" y="1816100"/>
            <a:ext cx="3683000" cy="2921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741F72-93A5-674D-9028-A2C143DDA37F}"/>
              </a:ext>
            </a:extLst>
          </p:cNvPr>
          <p:cNvSpPr txBox="1"/>
          <p:nvPr/>
        </p:nvSpPr>
        <p:spPr>
          <a:xfrm>
            <a:off x="8343900" y="15367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The three Fn traits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B1FD4-C2A0-4444-9750-333D879808D5}"/>
              </a:ext>
            </a:extLst>
          </p:cNvPr>
          <p:cNvSpPr txBox="1"/>
          <p:nvPr/>
        </p:nvSpPr>
        <p:spPr>
          <a:xfrm>
            <a:off x="8343900" y="1892300"/>
            <a:ext cx="3429000" cy="276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Fn</a:t>
            </a:r>
            <a:r>
              <a:rPr lang="en-US" sz="1200">
                <a:solidFill>
                  <a:srgbClr val="333333"/>
                </a:solidFill>
              </a:rPr>
              <a:t> — borrows immutably; can call many times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FnMut</a:t>
            </a:r>
            <a:r>
              <a:rPr lang="en-US" sz="1200">
                <a:solidFill>
                  <a:srgbClr val="333333"/>
                </a:solidFill>
              </a:rPr>
              <a:t> — borrows mutably; mutates captured state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FnOnce</a:t>
            </a:r>
            <a:r>
              <a:rPr lang="en-US" sz="1200">
                <a:solidFill>
                  <a:srgbClr val="333333"/>
                </a:solidFill>
              </a:rPr>
              <a:t> — consumes captures; callable once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Every closure implements FnOnce; some also implement FnMut and Fn (most restrictive trait wins)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C155E2-E1F8-D845-81DB-B78F50769330}"/>
              </a:ext>
            </a:extLst>
          </p:cNvPr>
          <p:cNvSpPr/>
          <p:nvPr/>
        </p:nvSpPr>
        <p:spPr>
          <a:xfrm>
            <a:off x="342900" y="4914900"/>
            <a:ext cx="11557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BACEC3-C358-9040-B15E-2BEB11B78AC7}"/>
              </a:ext>
            </a:extLst>
          </p:cNvPr>
          <p:cNvSpPr/>
          <p:nvPr/>
        </p:nvSpPr>
        <p:spPr>
          <a:xfrm>
            <a:off x="342900" y="5245100"/>
            <a:ext cx="11557000" cy="12954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2268C4-53F2-384E-9FAC-405CEB280167}"/>
              </a:ext>
            </a:extLst>
          </p:cNvPr>
          <p:cNvSpPr txBox="1"/>
          <p:nvPr/>
        </p:nvSpPr>
        <p:spPr>
          <a:xfrm>
            <a:off x="469900" y="4965700"/>
            <a:ext cx="1130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Example: closure capturing a variable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05E9E-9BE6-E64B-996B-6755B2120F49}"/>
              </a:ext>
            </a:extLst>
          </p:cNvPr>
          <p:cNvSpPr txBox="1"/>
          <p:nvPr/>
        </p:nvSpPr>
        <p:spPr>
          <a:xfrm>
            <a:off x="469900" y="5321300"/>
            <a:ext cx="113030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factor = 3;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multiply = |x| x * factor;   // captures `factor` by reference (Fn)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println!("{}", multiply(10));   // 30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println!("{}", multiply(20));   // 60   — callable repeatedly</a:t>
            </a:r>
          </a:p>
        </p:txBody>
      </p:sp>
    </p:spTree>
    <p:extLst>
      <p:ext uri="{BB962C8B-B14F-4D97-AF65-F5344CB8AC3E}">
        <p14:creationId xmlns:p14="http://schemas.microsoft.com/office/powerpoint/2010/main" val="1626308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BC73C6-E5AF-734B-9D25-F8BDCAA178F0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Capture Modes: Borrow, Mut Borrow, Move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3D6900-7742-0144-988E-06DD1663454B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D19A2-D8EE-B942-9A3C-CC32C46658C3}"/>
              </a:ext>
            </a:extLst>
          </p:cNvPr>
          <p:cNvSpPr txBox="1"/>
          <p:nvPr/>
        </p:nvSpPr>
        <p:spPr>
          <a:xfrm>
            <a:off x="838200" y="10668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How a closure captures depends on what it does with the variable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CCF58D-BC84-5D40-9ADC-5041B0710A1B}"/>
              </a:ext>
            </a:extLst>
          </p:cNvPr>
          <p:cNvSpPr/>
          <p:nvPr/>
        </p:nvSpPr>
        <p:spPr>
          <a:xfrm>
            <a:off x="342900" y="14859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0AD223-CDA3-DA45-9BC4-9DBF53DBAB1E}"/>
              </a:ext>
            </a:extLst>
          </p:cNvPr>
          <p:cNvSpPr/>
          <p:nvPr/>
        </p:nvSpPr>
        <p:spPr>
          <a:xfrm>
            <a:off x="342900" y="1816100"/>
            <a:ext cx="3683000" cy="762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1829A-A642-C041-8916-15D3643AE506}"/>
              </a:ext>
            </a:extLst>
          </p:cNvPr>
          <p:cNvSpPr txBox="1"/>
          <p:nvPr/>
        </p:nvSpPr>
        <p:spPr>
          <a:xfrm>
            <a:off x="469900" y="15367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By &amp;reference  →  Fn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C262D-53D6-3A4A-B49B-C8EF26073CDD}"/>
              </a:ext>
            </a:extLst>
          </p:cNvPr>
          <p:cNvSpPr txBox="1"/>
          <p:nvPr/>
        </p:nvSpPr>
        <p:spPr>
          <a:xfrm>
            <a:off x="469900" y="1892300"/>
            <a:ext cx="3429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Closure only reads the value. Compiler picks &amp;T. Original variable still usable after.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4AB72D-9C06-9B4D-AD65-91BCA402E816}"/>
              </a:ext>
            </a:extLst>
          </p:cNvPr>
          <p:cNvSpPr/>
          <p:nvPr/>
        </p:nvSpPr>
        <p:spPr>
          <a:xfrm>
            <a:off x="342900" y="25781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FD69BB-756E-BB4F-AA4D-E668F82B0C19}"/>
              </a:ext>
            </a:extLst>
          </p:cNvPr>
          <p:cNvSpPr/>
          <p:nvPr/>
        </p:nvSpPr>
        <p:spPr>
          <a:xfrm>
            <a:off x="342900" y="2908300"/>
            <a:ext cx="3683000" cy="3632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F1A3D2-D8E4-DF4B-8768-65428541D6DF}"/>
              </a:ext>
            </a:extLst>
          </p:cNvPr>
          <p:cNvSpPr txBox="1"/>
          <p:nvPr/>
        </p:nvSpPr>
        <p:spPr>
          <a:xfrm>
            <a:off x="469900" y="26289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1E9FD4-AE54-7142-8759-75F0FFF7D59D}"/>
              </a:ext>
            </a:extLst>
          </p:cNvPr>
          <p:cNvSpPr txBox="1"/>
          <p:nvPr/>
        </p:nvSpPr>
        <p:spPr>
          <a:xfrm>
            <a:off x="469900" y="2984500"/>
            <a:ext cx="3429000" cy="323817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s = String::from("hi");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print = || {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println!("{s}");  // reads s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};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print();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print();           // OK, callable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println!("{s}");  // OK, s alive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7C7A80-AE3B-2C49-8A6F-7896BAF9F7D7}"/>
              </a:ext>
            </a:extLst>
          </p:cNvPr>
          <p:cNvSpPr/>
          <p:nvPr/>
        </p:nvSpPr>
        <p:spPr>
          <a:xfrm>
            <a:off x="4279900" y="14859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EC07E6-F088-E14A-872B-43A046ACC4A0}"/>
              </a:ext>
            </a:extLst>
          </p:cNvPr>
          <p:cNvSpPr/>
          <p:nvPr/>
        </p:nvSpPr>
        <p:spPr>
          <a:xfrm>
            <a:off x="4279900" y="1816100"/>
            <a:ext cx="3683000" cy="762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4CDC77-4246-934A-BB0A-AC83B14C667D}"/>
              </a:ext>
            </a:extLst>
          </p:cNvPr>
          <p:cNvSpPr txBox="1"/>
          <p:nvPr/>
        </p:nvSpPr>
        <p:spPr>
          <a:xfrm>
            <a:off x="4406900" y="15367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By &amp;mut reference  →  FnMut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035758-3FDE-964C-A8B5-8F73543E114B}"/>
              </a:ext>
            </a:extLst>
          </p:cNvPr>
          <p:cNvSpPr txBox="1"/>
          <p:nvPr/>
        </p:nvSpPr>
        <p:spPr>
          <a:xfrm>
            <a:off x="4406900" y="1892300"/>
            <a:ext cx="3429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Closure mutates a captured variable. Compiler picks &amp;mut T. Closure binding must be mut.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654A3C-78D8-E647-9E40-D16EAF5F8560}"/>
              </a:ext>
            </a:extLst>
          </p:cNvPr>
          <p:cNvSpPr/>
          <p:nvPr/>
        </p:nvSpPr>
        <p:spPr>
          <a:xfrm>
            <a:off x="4279900" y="25781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3A9402-8A35-5742-8DEC-BCCBD3064739}"/>
              </a:ext>
            </a:extLst>
          </p:cNvPr>
          <p:cNvSpPr/>
          <p:nvPr/>
        </p:nvSpPr>
        <p:spPr>
          <a:xfrm>
            <a:off x="4279900" y="2908300"/>
            <a:ext cx="3683000" cy="3632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14587B-4710-264F-961F-6F3BE728F479}"/>
              </a:ext>
            </a:extLst>
          </p:cNvPr>
          <p:cNvSpPr txBox="1"/>
          <p:nvPr/>
        </p:nvSpPr>
        <p:spPr>
          <a:xfrm>
            <a:off x="4406900" y="26289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D23495-878B-AC4C-8CC8-5D20C4DA8171}"/>
              </a:ext>
            </a:extLst>
          </p:cNvPr>
          <p:cNvSpPr txBox="1"/>
          <p:nvPr/>
        </p:nvSpPr>
        <p:spPr>
          <a:xfrm>
            <a:off x="4406900" y="2984500"/>
            <a:ext cx="3429000" cy="323817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mut count = 0;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mut bump = || {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count += 1;       // mutates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};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bump();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bump();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println!("{count}"); //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FBCE11-C353-2E47-BF7C-3FB147DA798E}"/>
              </a:ext>
            </a:extLst>
          </p:cNvPr>
          <p:cNvSpPr/>
          <p:nvPr/>
        </p:nvSpPr>
        <p:spPr>
          <a:xfrm>
            <a:off x="8216900" y="14859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36F4CB-EAC6-F343-AADC-7D803645579F}"/>
              </a:ext>
            </a:extLst>
          </p:cNvPr>
          <p:cNvSpPr/>
          <p:nvPr/>
        </p:nvSpPr>
        <p:spPr>
          <a:xfrm>
            <a:off x="8216900" y="1816100"/>
            <a:ext cx="3683000" cy="762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6F6BDA-5440-4C47-98FD-51ADB30517CA}"/>
              </a:ext>
            </a:extLst>
          </p:cNvPr>
          <p:cNvSpPr txBox="1"/>
          <p:nvPr/>
        </p:nvSpPr>
        <p:spPr>
          <a:xfrm>
            <a:off x="8343900" y="15367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By value (move)  →  FnOnce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9D76C-18C2-B448-926B-D3CF381A26D4}"/>
              </a:ext>
            </a:extLst>
          </p:cNvPr>
          <p:cNvSpPr txBox="1"/>
          <p:nvPr/>
        </p:nvSpPr>
        <p:spPr>
          <a:xfrm>
            <a:off x="8343900" y="1892300"/>
            <a:ext cx="3429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move forces capture by value. Required when the closure outlives its scope (threads, returns).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7364C9-3764-DC4A-863D-E9FF03ECC0E4}"/>
              </a:ext>
            </a:extLst>
          </p:cNvPr>
          <p:cNvSpPr/>
          <p:nvPr/>
        </p:nvSpPr>
        <p:spPr>
          <a:xfrm>
            <a:off x="8216900" y="2578100"/>
            <a:ext cx="3683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C68C8E-5F08-BC41-8B00-BCD21C8024E5}"/>
              </a:ext>
            </a:extLst>
          </p:cNvPr>
          <p:cNvSpPr/>
          <p:nvPr/>
        </p:nvSpPr>
        <p:spPr>
          <a:xfrm>
            <a:off x="8216900" y="2908300"/>
            <a:ext cx="3683000" cy="3632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AF896E-AAFE-9346-8C4E-DE7A4D3EFB50}"/>
              </a:ext>
            </a:extLst>
          </p:cNvPr>
          <p:cNvSpPr txBox="1"/>
          <p:nvPr/>
        </p:nvSpPr>
        <p:spPr>
          <a:xfrm>
            <a:off x="8343900" y="26289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979FB2-AC56-0242-B6E1-C738568BC33D}"/>
              </a:ext>
            </a:extLst>
          </p:cNvPr>
          <p:cNvSpPr txBox="1"/>
          <p:nvPr/>
        </p:nvSpPr>
        <p:spPr>
          <a:xfrm>
            <a:off x="8343900" y="2984500"/>
            <a:ext cx="3429000" cy="323817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s = String::from("hi");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owns = move || {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println!("{s}");  // owns s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};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owns();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// println!("{s}"); // ERROR: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// s was moved into closure</a:t>
            </a:r>
          </a:p>
        </p:txBody>
      </p:sp>
    </p:spTree>
    <p:extLst>
      <p:ext uri="{BB962C8B-B14F-4D97-AF65-F5344CB8AC3E}">
        <p14:creationId xmlns:p14="http://schemas.microsoft.com/office/powerpoint/2010/main" val="3318903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D91EA4-E8A3-DC47-90BF-53FB4CB62038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Move vs Copy: What Ownership Actually Does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82961F-4C94-E647-BEE8-0AEBB2B99099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CE509-3058-9B4C-883D-7176EFAA2B17}"/>
              </a:ext>
            </a:extLst>
          </p:cNvPr>
          <p:cNvSpPr txBox="1"/>
          <p:nvPr/>
        </p:nvSpPr>
        <p:spPr>
          <a:xfrm>
            <a:off x="838200" y="10668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The Copy trait decides whether passing a value transfers ownership or duplicates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32607-5689-B646-810A-ECE502775354}"/>
              </a:ext>
            </a:extLst>
          </p:cNvPr>
          <p:cNvSpPr/>
          <p:nvPr/>
        </p:nvSpPr>
        <p:spPr>
          <a:xfrm>
            <a:off x="342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3D93D9-9061-3841-B0D9-7CF0F397B667}"/>
              </a:ext>
            </a:extLst>
          </p:cNvPr>
          <p:cNvSpPr/>
          <p:nvPr/>
        </p:nvSpPr>
        <p:spPr>
          <a:xfrm>
            <a:off x="342900" y="1816100"/>
            <a:ext cx="5715000" cy="19812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96D19B-4211-B34B-B346-55B09D80F7E9}"/>
              </a:ext>
            </a:extLst>
          </p:cNvPr>
          <p:cNvSpPr txBox="1"/>
          <p:nvPr/>
        </p:nvSpPr>
        <p:spPr>
          <a:xfrm>
            <a:off x="469900" y="15367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Copy types — duplicated bit-for-bit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50097-F69F-E943-AD1B-3A80BD6454FF}"/>
              </a:ext>
            </a:extLst>
          </p:cNvPr>
          <p:cNvSpPr txBox="1"/>
          <p:nvPr/>
        </p:nvSpPr>
        <p:spPr>
          <a:xfrm>
            <a:off x="469900" y="1892300"/>
            <a:ext cx="5461000" cy="1993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Types that implement the Copy trait are duplicated, not moved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Examples:</a:t>
            </a:r>
            <a:r>
              <a:rPr lang="en-US" sz="1200">
                <a:solidFill>
                  <a:srgbClr val="333333"/>
                </a:solidFill>
              </a:rPr>
              <a:t> all integer/float types, bool, char, &amp;T, fixed-size arrays of Copy types, tuples of Copy types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Original variable remains valid after passing it anywhere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Cheap — Copy is only allowed for types with no heap data and no Drop impl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move</a:t>
            </a:r>
            <a:r>
              <a:rPr lang="en-US" sz="1200">
                <a:solidFill>
                  <a:srgbClr val="333333"/>
                </a:solidFill>
              </a:rPr>
              <a:t> on a Copy type still copies — there is nothing to invalidate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71DDB3-C86A-704D-8B78-C3200F0F6BE7}"/>
              </a:ext>
            </a:extLst>
          </p:cNvPr>
          <p:cNvSpPr/>
          <p:nvPr/>
        </p:nvSpPr>
        <p:spPr>
          <a:xfrm>
            <a:off x="6184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376B04-22D9-8947-BC83-012EFC6AB8E6}"/>
              </a:ext>
            </a:extLst>
          </p:cNvPr>
          <p:cNvSpPr/>
          <p:nvPr/>
        </p:nvSpPr>
        <p:spPr>
          <a:xfrm>
            <a:off x="6184900" y="1816100"/>
            <a:ext cx="5715000" cy="19812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44F3C6-8235-494C-BE0F-3E58A1E8EFDF}"/>
              </a:ext>
            </a:extLst>
          </p:cNvPr>
          <p:cNvSpPr txBox="1"/>
          <p:nvPr/>
        </p:nvSpPr>
        <p:spPr>
          <a:xfrm>
            <a:off x="6311900" y="15367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Move types — ownership transfers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8F2310-E5C3-0E49-9519-F75029BF9E20}"/>
              </a:ext>
            </a:extLst>
          </p:cNvPr>
          <p:cNvSpPr txBox="1"/>
          <p:nvPr/>
        </p:nvSpPr>
        <p:spPr>
          <a:xfrm>
            <a:off x="6311900" y="1892300"/>
            <a:ext cx="5461000" cy="1536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Types that don't implement Copy transfer ownership when passed by value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Examples:</a:t>
            </a:r>
            <a:r>
              <a:rPr lang="en-US" sz="1200">
                <a:solidFill>
                  <a:srgbClr val="333333"/>
                </a:solidFill>
              </a:rPr>
              <a:t> String, Vec&lt;T&gt;, Box&lt;T&gt;, File, custom structs (by default)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Original binding becomes invalid — using it is a compile error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Use &amp; or &amp;mut to lend access without giving up ownership, or .clone() for an explicit deep copy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move ||</a:t>
            </a:r>
            <a:r>
              <a:rPr lang="en-US" sz="1200">
                <a:solidFill>
                  <a:srgbClr val="333333"/>
                </a:solidFill>
              </a:rPr>
              <a:t> forces a move closure even if a borrow would suffice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6889B-EEA0-0947-AB84-F7ED33F8600B}"/>
              </a:ext>
            </a:extLst>
          </p:cNvPr>
          <p:cNvSpPr/>
          <p:nvPr/>
        </p:nvSpPr>
        <p:spPr>
          <a:xfrm>
            <a:off x="342900" y="3911600"/>
            <a:ext cx="11557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A4EDF-61F4-BC49-935E-69A2928C5D8A}"/>
              </a:ext>
            </a:extLst>
          </p:cNvPr>
          <p:cNvSpPr/>
          <p:nvPr/>
        </p:nvSpPr>
        <p:spPr>
          <a:xfrm>
            <a:off x="342900" y="4241800"/>
            <a:ext cx="11557000" cy="21844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E3A3A7-BF55-534E-BF63-3080C652A615}"/>
              </a:ext>
            </a:extLst>
          </p:cNvPr>
          <p:cNvSpPr txBox="1"/>
          <p:nvPr/>
        </p:nvSpPr>
        <p:spPr>
          <a:xfrm>
            <a:off x="469900" y="3962400"/>
            <a:ext cx="1130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Side-by-side: i32 vs String into a closure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181B8D-8FC4-FD46-8EF5-7F9A3F9DADAC}"/>
              </a:ext>
            </a:extLst>
          </p:cNvPr>
          <p:cNvSpPr txBox="1"/>
          <p:nvPr/>
        </p:nvSpPr>
        <p:spPr>
          <a:xfrm>
            <a:off x="469900" y="4318000"/>
            <a:ext cx="11303000" cy="2019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n = 5;                          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s = String::from("hi");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take_n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= move ||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println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!("{n}");   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take_s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= move ||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println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!("{s}");</a:t>
            </a:r>
          </a:p>
          <a:p>
            <a:pPr algn="l"/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take_n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();                           </a:t>
            </a:r>
          </a:p>
          <a:p>
            <a:pPr algn="l"/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take_s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();</a:t>
            </a:r>
          </a:p>
          <a:p>
            <a:pPr algn="l"/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println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!("{n}");  // OK — i32 is Copy   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//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println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!("{s}"); // ERROR — moved</a:t>
            </a:r>
          </a:p>
        </p:txBody>
      </p:sp>
    </p:spTree>
    <p:extLst>
      <p:ext uri="{BB962C8B-B14F-4D97-AF65-F5344CB8AC3E}">
        <p14:creationId xmlns:p14="http://schemas.microsoft.com/office/powerpoint/2010/main" val="1240531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F5B73A-B0F4-A343-9048-60AE193465C5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Mutable vs Immutable Arguments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3E650-7B3A-E64C-BCA8-48125F11C7A6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E5D4C-E8D1-344E-B88A-5AD6E4541EA3}"/>
              </a:ext>
            </a:extLst>
          </p:cNvPr>
          <p:cNvSpPr txBox="1"/>
          <p:nvPr/>
        </p:nvSpPr>
        <p:spPr>
          <a:xfrm>
            <a:off x="838200" y="10668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Three orthogonal axes: ownership, mutability, and which Fn trait it implements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622025-055D-6945-A8B6-6BDA79613880}"/>
              </a:ext>
            </a:extLst>
          </p:cNvPr>
          <p:cNvSpPr/>
          <p:nvPr/>
        </p:nvSpPr>
        <p:spPr>
          <a:xfrm>
            <a:off x="342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E7CDD4-C825-7A43-9076-185A421DBB22}"/>
              </a:ext>
            </a:extLst>
          </p:cNvPr>
          <p:cNvSpPr/>
          <p:nvPr/>
        </p:nvSpPr>
        <p:spPr>
          <a:xfrm>
            <a:off x="342900" y="1816100"/>
            <a:ext cx="5715000" cy="1397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43EFD6-6EBD-0E4C-8508-C0572E4CE99A}"/>
              </a:ext>
            </a:extLst>
          </p:cNvPr>
          <p:cNvSpPr txBox="1"/>
          <p:nvPr/>
        </p:nvSpPr>
        <p:spPr>
          <a:xfrm>
            <a:off x="469900" y="15367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Closure binding mutability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D55B0C-90C2-F64B-BE8F-B3D3265887B2}"/>
              </a:ext>
            </a:extLst>
          </p:cNvPr>
          <p:cNvSpPr txBox="1"/>
          <p:nvPr/>
        </p:nvSpPr>
        <p:spPr>
          <a:xfrm>
            <a:off x="469900" y="1892300"/>
            <a:ext cx="5461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let c =</a:t>
            </a:r>
            <a:r>
              <a:rPr lang="en-US" sz="1200">
                <a:solidFill>
                  <a:srgbClr val="333333"/>
                </a:solidFill>
              </a:rPr>
              <a:t> — closure that only reads / borrows immutably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let mut c =</a:t>
            </a:r>
            <a:r>
              <a:rPr lang="en-US" sz="1200">
                <a:solidFill>
                  <a:srgbClr val="333333"/>
                </a:solidFill>
              </a:rPr>
              <a:t> — required if the closure mutates a captured variable (FnMut)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The mut on the binding is about calling the closure, not its parameters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D29BA2-E2FB-B843-BD8B-6A00476CEB3F}"/>
              </a:ext>
            </a:extLst>
          </p:cNvPr>
          <p:cNvSpPr/>
          <p:nvPr/>
        </p:nvSpPr>
        <p:spPr>
          <a:xfrm>
            <a:off x="6184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3EAD89-C7F7-8444-9A0A-ED8E24F0A4FF}"/>
              </a:ext>
            </a:extLst>
          </p:cNvPr>
          <p:cNvSpPr/>
          <p:nvPr/>
        </p:nvSpPr>
        <p:spPr>
          <a:xfrm>
            <a:off x="6184900" y="1816100"/>
            <a:ext cx="5715000" cy="12446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7B7267-EB10-7A49-AA4E-3F2DF7929FFF}"/>
              </a:ext>
            </a:extLst>
          </p:cNvPr>
          <p:cNvSpPr txBox="1"/>
          <p:nvPr/>
        </p:nvSpPr>
        <p:spPr>
          <a:xfrm>
            <a:off x="6311900" y="15367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Argument mutability inside the closure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EAF9F4-306D-6E49-8382-EA6CD8D62E02}"/>
              </a:ext>
            </a:extLst>
          </p:cNvPr>
          <p:cNvSpPr txBox="1"/>
          <p:nvPr/>
        </p:nvSpPr>
        <p:spPr>
          <a:xfrm>
            <a:off x="6311900" y="1892300"/>
            <a:ext cx="54610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|x: &amp;T|</a:t>
            </a:r>
            <a:r>
              <a:rPr lang="en-US" sz="1200">
                <a:solidFill>
                  <a:srgbClr val="333333"/>
                </a:solidFill>
              </a:rPr>
              <a:t> — read-only access to the argument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|x: &amp;mut T|</a:t>
            </a:r>
            <a:r>
              <a:rPr lang="en-US" sz="1200">
                <a:solidFill>
                  <a:srgbClr val="333333"/>
                </a:solidFill>
              </a:rPr>
              <a:t> — caller passes &amp;mut, closure can mutate through it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|x: T|</a:t>
            </a:r>
            <a:r>
              <a:rPr lang="en-US" sz="1200">
                <a:solidFill>
                  <a:srgbClr val="333333"/>
                </a:solidFill>
              </a:rPr>
              <a:t> — closure takes ownership of each call's argument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8E96B-F9AE-B84A-9958-936F4FBE2983}"/>
              </a:ext>
            </a:extLst>
          </p:cNvPr>
          <p:cNvSpPr/>
          <p:nvPr/>
        </p:nvSpPr>
        <p:spPr>
          <a:xfrm>
            <a:off x="342900" y="32131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E6BDF4-7031-0347-A6F4-3154053ED3FC}"/>
              </a:ext>
            </a:extLst>
          </p:cNvPr>
          <p:cNvSpPr/>
          <p:nvPr/>
        </p:nvSpPr>
        <p:spPr>
          <a:xfrm>
            <a:off x="342900" y="3543300"/>
            <a:ext cx="5715000" cy="2997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5B8A3B-2E45-FD4E-AE13-2B648823317D}"/>
              </a:ext>
            </a:extLst>
          </p:cNvPr>
          <p:cNvSpPr txBox="1"/>
          <p:nvPr/>
        </p:nvSpPr>
        <p:spPr>
          <a:xfrm>
            <a:off x="469900" y="32639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Immutable: takes &amp;T, callable many times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8D8A04-EAC3-C141-96AF-217C0B2E4A48}"/>
              </a:ext>
            </a:extLst>
          </p:cNvPr>
          <p:cNvSpPr txBox="1"/>
          <p:nvPr/>
        </p:nvSpPr>
        <p:spPr>
          <a:xfrm>
            <a:off x="469900" y="3619500"/>
            <a:ext cx="5461000" cy="268629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// Argument by shared reference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print_len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= |s: &amp;String| {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 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println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!("{}",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s.len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());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};</a:t>
            </a:r>
          </a:p>
          <a:p>
            <a:pPr algn="l"/>
            <a:endParaRPr lang="en-US" sz="11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name = String::from("Ada");</a:t>
            </a:r>
          </a:p>
          <a:p>
            <a:pPr algn="l"/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print_len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(&amp;name);</a:t>
            </a:r>
          </a:p>
          <a:p>
            <a:pPr algn="l"/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print_len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(&amp;name);    // OK, many times</a:t>
            </a:r>
          </a:p>
          <a:p>
            <a:pPr algn="l"/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println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!("{name}"); // OK, still owned</a:t>
            </a:r>
          </a:p>
          <a:p>
            <a:pPr algn="l"/>
            <a:endParaRPr lang="en-US" sz="1100" dirty="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// Capture by shared ref (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Fn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)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prefix = String::from("&gt;&gt;");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let tag = |s: &amp;str| </a:t>
            </a:r>
            <a:r>
              <a:rPr lang="en-US" sz="1100" dirty="0" err="1">
                <a:solidFill>
                  <a:srgbClr val="F5F5F5"/>
                </a:solidFill>
                <a:latin typeface="Consolas"/>
                <a:cs typeface="Consolas"/>
              </a:rPr>
              <a:t>println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!("{prefix}{s}");</a:t>
            </a:r>
          </a:p>
          <a:p>
            <a:pPr algn="l"/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tag("hi"); tag("hello");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3433DB-9ED5-6C46-BB3C-C76C8BEFE30F}"/>
              </a:ext>
            </a:extLst>
          </p:cNvPr>
          <p:cNvSpPr/>
          <p:nvPr/>
        </p:nvSpPr>
        <p:spPr>
          <a:xfrm>
            <a:off x="6184900" y="32131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413B58-A6C9-C542-A5C5-AFCCD158F780}"/>
              </a:ext>
            </a:extLst>
          </p:cNvPr>
          <p:cNvSpPr/>
          <p:nvPr/>
        </p:nvSpPr>
        <p:spPr>
          <a:xfrm>
            <a:off x="6184900" y="3543300"/>
            <a:ext cx="5715000" cy="2997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70991-F8AA-C740-B15F-EE57D252B988}"/>
              </a:ext>
            </a:extLst>
          </p:cNvPr>
          <p:cNvSpPr txBox="1"/>
          <p:nvPr/>
        </p:nvSpPr>
        <p:spPr>
          <a:xfrm>
            <a:off x="6311900" y="32639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Mutable: takes &amp;mut T, needs `let mut`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DF625-924F-254C-998B-2F86F9CC8613}"/>
              </a:ext>
            </a:extLst>
          </p:cNvPr>
          <p:cNvSpPr txBox="1"/>
          <p:nvPr/>
        </p:nvSpPr>
        <p:spPr>
          <a:xfrm>
            <a:off x="6311900" y="3619500"/>
            <a:ext cx="5461000" cy="268629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// Argument by mutable reference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push_excl = |s: &amp;mut String| {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    s.push('!');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};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mut greeting = String::from("hi");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push_excl(&amp;mut greeting);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push_excl(&amp;mut greeting);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println!("{greeting}"); // hi!!</a:t>
            </a:r>
          </a:p>
          <a:p>
            <a:pPr algn="l"/>
            <a:endParaRPr lang="en-US" sz="1100">
              <a:solidFill>
                <a:srgbClr val="F5F5F5"/>
              </a:solidFill>
              <a:latin typeface="Consolas"/>
              <a:cs typeface="Consolas"/>
            </a:endParaRP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// Capture by mut ref (FnMut)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mut log: Vec&lt;i32&gt; = vec![];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let mut record = |n| log.push(n);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record(1); record(2);</a:t>
            </a:r>
          </a:p>
          <a:p>
            <a:pPr algn="l"/>
            <a:r>
              <a:rPr lang="en-US" sz="1100">
                <a:solidFill>
                  <a:srgbClr val="F5F5F5"/>
                </a:solidFill>
                <a:latin typeface="Consolas"/>
                <a:cs typeface="Consolas"/>
              </a:rPr>
              <a:t>// `let mut record` is required</a:t>
            </a:r>
          </a:p>
        </p:txBody>
      </p:sp>
    </p:spTree>
    <p:extLst>
      <p:ext uri="{BB962C8B-B14F-4D97-AF65-F5344CB8AC3E}">
        <p14:creationId xmlns:p14="http://schemas.microsoft.com/office/powerpoint/2010/main" val="2396706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6DED8D-857B-3B43-9AD6-359C4D3DAA26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Iterators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BCAB4A-D9DB-A843-B33E-6CDEDD2811A1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D4918-FA5B-7345-A50D-F6588852CF9C}"/>
              </a:ext>
            </a:extLst>
          </p:cNvPr>
          <p:cNvSpPr txBox="1"/>
          <p:nvPr/>
        </p:nvSpPr>
        <p:spPr>
          <a:xfrm>
            <a:off x="838200" y="10668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A uniform way to walk a sequence — pull one item at a time, on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FD33B-2936-9042-BCE4-318004515A36}"/>
              </a:ext>
            </a:extLst>
          </p:cNvPr>
          <p:cNvSpPr/>
          <p:nvPr/>
        </p:nvSpPr>
        <p:spPr>
          <a:xfrm>
            <a:off x="342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D0ED0B-41BC-A540-B8D6-4A18A9986A97}"/>
              </a:ext>
            </a:extLst>
          </p:cNvPr>
          <p:cNvSpPr/>
          <p:nvPr/>
        </p:nvSpPr>
        <p:spPr>
          <a:xfrm>
            <a:off x="342900" y="1816100"/>
            <a:ext cx="5715000" cy="14224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903813-1274-374B-B550-20AC2073960E}"/>
              </a:ext>
            </a:extLst>
          </p:cNvPr>
          <p:cNvSpPr txBox="1"/>
          <p:nvPr/>
        </p:nvSpPr>
        <p:spPr>
          <a:xfrm>
            <a:off x="469900" y="1536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The Iterator trait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4C00A4-AECB-A943-B499-F3A134872F8B}"/>
              </a:ext>
            </a:extLst>
          </p:cNvPr>
          <p:cNvSpPr txBox="1"/>
          <p:nvPr/>
        </p:nvSpPr>
        <p:spPr>
          <a:xfrm>
            <a:off x="469900" y="1892300"/>
            <a:ext cx="5461000" cy="88229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trait Iterator</a:t>
            </a:r>
            <a:r>
              <a:rPr lang="en-US" sz="1200">
                <a:solidFill>
                  <a:srgbClr val="EEEEEE"/>
                </a:solidFill>
              </a:rPr>
              <a:t> with one required method: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fn next(&amp;mut self) -&gt; Option&lt;Self::Item&gt;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EEEEEE"/>
                </a:solidFill>
              </a:rPr>
              <a:t>Returns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Some(item)</a:t>
            </a:r>
            <a:r>
              <a:rPr lang="en-US" sz="1200">
                <a:solidFill>
                  <a:srgbClr val="EEEEEE"/>
                </a:solidFill>
              </a:rPr>
              <a:t> while there are more, then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None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EEEEEE"/>
                </a:solidFill>
              </a:rPr>
              <a:t>Everything else is built on top — for free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3BF72E-1948-774E-A705-92C45B5FF2D9}"/>
              </a:ext>
            </a:extLst>
          </p:cNvPr>
          <p:cNvSpPr/>
          <p:nvPr/>
        </p:nvSpPr>
        <p:spPr>
          <a:xfrm>
            <a:off x="6184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7A6B89-3484-0641-A6B5-10312A5774AD}"/>
              </a:ext>
            </a:extLst>
          </p:cNvPr>
          <p:cNvSpPr/>
          <p:nvPr/>
        </p:nvSpPr>
        <p:spPr>
          <a:xfrm>
            <a:off x="6184900" y="1816100"/>
            <a:ext cx="5715000" cy="14224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A63A7-7A85-3742-8D8D-E1DD3B71C428}"/>
              </a:ext>
            </a:extLst>
          </p:cNvPr>
          <p:cNvSpPr txBox="1"/>
          <p:nvPr/>
        </p:nvSpPr>
        <p:spPr>
          <a:xfrm>
            <a:off x="6311900" y="1536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Three flavors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07F70C-A9EE-1B47-86DD-5ECE48E18737}"/>
              </a:ext>
            </a:extLst>
          </p:cNvPr>
          <p:cNvSpPr txBox="1"/>
          <p:nvPr/>
        </p:nvSpPr>
        <p:spPr>
          <a:xfrm>
            <a:off x="6311900" y="1892300"/>
            <a:ext cx="5461000" cy="69762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.iter()</a:t>
            </a:r>
            <a:r>
              <a:rPr lang="en-US" sz="1200">
                <a:solidFill>
                  <a:srgbClr val="EEEEEE"/>
                </a:solidFill>
              </a:rPr>
              <a:t> — borrows, yields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&amp;T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.iter_mut()</a:t>
            </a:r>
            <a:r>
              <a:rPr lang="en-US" sz="1200">
                <a:solidFill>
                  <a:srgbClr val="EEEEEE"/>
                </a:solidFill>
              </a:rPr>
              <a:t> — borrows mutably, yields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&amp;mut T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.into_iter()</a:t>
            </a:r>
            <a:r>
              <a:rPr lang="en-US" sz="1200">
                <a:solidFill>
                  <a:srgbClr val="EEEEEE"/>
                </a:solidFill>
              </a:rPr>
              <a:t> — consumes, yields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68F9B1-EF5D-9D41-ABF9-4801784D15EC}"/>
              </a:ext>
            </a:extLst>
          </p:cNvPr>
          <p:cNvSpPr/>
          <p:nvPr/>
        </p:nvSpPr>
        <p:spPr>
          <a:xfrm>
            <a:off x="342900" y="33401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0C35D2-9CF7-6849-AA51-E4B0CBA4BA90}"/>
              </a:ext>
            </a:extLst>
          </p:cNvPr>
          <p:cNvSpPr/>
          <p:nvPr/>
        </p:nvSpPr>
        <p:spPr>
          <a:xfrm>
            <a:off x="342900" y="3670300"/>
            <a:ext cx="5715000" cy="287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4BE0A1-26C5-D44B-AA2E-896F91C17640}"/>
              </a:ext>
            </a:extLst>
          </p:cNvPr>
          <p:cNvSpPr txBox="1"/>
          <p:nvPr/>
        </p:nvSpPr>
        <p:spPr>
          <a:xfrm>
            <a:off x="469900" y="33909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Adapters vs consumers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91AC7C-2399-CC49-B736-453CEC8E36FC}"/>
              </a:ext>
            </a:extLst>
          </p:cNvPr>
          <p:cNvSpPr txBox="1"/>
          <p:nvPr/>
        </p:nvSpPr>
        <p:spPr>
          <a:xfrm>
            <a:off x="469900" y="3746500"/>
            <a:ext cx="5461000" cy="69762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EEEEEE"/>
                </a:solidFill>
              </a:rPr>
              <a:t>Adapters return another iterator: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map</a:t>
            </a:r>
            <a:r>
              <a:rPr lang="en-US" sz="1200">
                <a:solidFill>
                  <a:srgbClr val="EEEEEE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filter</a:t>
            </a:r>
            <a:r>
              <a:rPr lang="en-US" sz="1200">
                <a:solidFill>
                  <a:srgbClr val="EEEEEE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flat_map</a:t>
            </a:r>
            <a:r>
              <a:rPr lang="en-US" sz="1200">
                <a:solidFill>
                  <a:srgbClr val="EEEEEE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take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EEEEEE"/>
                </a:solidFill>
              </a:rPr>
              <a:t>Consumers drive iteration to completion: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for_each</a:t>
            </a:r>
            <a:r>
              <a:rPr lang="en-US" sz="1200">
                <a:solidFill>
                  <a:srgbClr val="EEEEEE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fold</a:t>
            </a:r>
            <a:r>
              <a:rPr lang="en-US" sz="1200">
                <a:solidFill>
                  <a:srgbClr val="EEEEEE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collect</a:t>
            </a:r>
            <a:r>
              <a:rPr lang="en-US" sz="1200">
                <a:solidFill>
                  <a:srgbClr val="EEEEEE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sum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EEEEEE"/>
                </a:solidFill>
              </a:rPr>
              <a:t>A pipeline is zero or more adapters terminated by exactly one consumer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8E891C-8496-E34F-9D19-A9711F1D14D4}"/>
              </a:ext>
            </a:extLst>
          </p:cNvPr>
          <p:cNvSpPr/>
          <p:nvPr/>
        </p:nvSpPr>
        <p:spPr>
          <a:xfrm>
            <a:off x="6184900" y="33401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810048-AC4E-4340-9058-F23DCD3C7867}"/>
              </a:ext>
            </a:extLst>
          </p:cNvPr>
          <p:cNvSpPr/>
          <p:nvPr/>
        </p:nvSpPr>
        <p:spPr>
          <a:xfrm>
            <a:off x="6184900" y="3670300"/>
            <a:ext cx="5715000" cy="287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6C3DE2-6ABC-3243-AE39-BFC32D1BF5E1}"/>
              </a:ext>
            </a:extLst>
          </p:cNvPr>
          <p:cNvSpPr txBox="1"/>
          <p:nvPr/>
        </p:nvSpPr>
        <p:spPr>
          <a:xfrm>
            <a:off x="6311900" y="33909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Why pull-based matters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7604A3-AAA7-C545-A5B5-FCA5961D0B79}"/>
              </a:ext>
            </a:extLst>
          </p:cNvPr>
          <p:cNvSpPr txBox="1"/>
          <p:nvPr/>
        </p:nvSpPr>
        <p:spPr>
          <a:xfrm>
            <a:off x="6311900" y="3746500"/>
            <a:ext cx="5461000" cy="69762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EEEEEE"/>
                </a:solidFill>
              </a:rPr>
              <a:t>No intermediate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Vec</a:t>
            </a:r>
            <a:r>
              <a:rPr lang="en-US" sz="1200">
                <a:solidFill>
                  <a:srgbClr val="EEEEEE"/>
                </a:solidFill>
              </a:rPr>
              <a:t> allocations between stages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EEEEEE"/>
                </a:solidFill>
              </a:rPr>
              <a:t>Compiler fuses the chain into a single loop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EEEEEE"/>
                </a:solidFill>
              </a:rPr>
              <a:t>Works on infinite sources —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(0..).map(...)</a:t>
            </a:r>
            <a:r>
              <a:rPr lang="en-US" sz="1200">
                <a:solidFill>
                  <a:srgbClr val="EEEEEE"/>
                </a:solidFill>
              </a:rPr>
              <a:t> is fine if you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take</a:t>
            </a:r>
            <a:r>
              <a:rPr lang="en-US" sz="1200">
                <a:solidFill>
                  <a:srgbClr val="EEEEEE"/>
                </a:solidFill>
              </a:rPr>
              <a:t> later</a:t>
            </a:r>
          </a:p>
        </p:txBody>
      </p:sp>
    </p:spTree>
    <p:extLst>
      <p:ext uri="{BB962C8B-B14F-4D97-AF65-F5344CB8AC3E}">
        <p14:creationId xmlns:p14="http://schemas.microsoft.com/office/powerpoint/2010/main" val="3466731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FED35A-D082-F544-BB0E-FD4A1AACCF53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map and flat_map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A1573C-05D7-5440-9AFF-87053B80B1DA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2E3906-522F-B04C-BBFD-78F765B47999}"/>
              </a:ext>
            </a:extLst>
          </p:cNvPr>
          <p:cNvSpPr txBox="1"/>
          <p:nvPr/>
        </p:nvSpPr>
        <p:spPr>
          <a:xfrm>
            <a:off x="838200" y="10668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Transform each item — one-to-one with map, one-to-many with flat_map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432705-16CE-5A48-A808-2F546F9882A3}"/>
              </a:ext>
            </a:extLst>
          </p:cNvPr>
          <p:cNvSpPr/>
          <p:nvPr/>
        </p:nvSpPr>
        <p:spPr>
          <a:xfrm>
            <a:off x="342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8FCA99-D944-ED49-814D-FEC609CC1CA3}"/>
              </a:ext>
            </a:extLst>
          </p:cNvPr>
          <p:cNvSpPr/>
          <p:nvPr/>
        </p:nvSpPr>
        <p:spPr>
          <a:xfrm>
            <a:off x="342900" y="1816100"/>
            <a:ext cx="5715000" cy="2209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8800D-9C2B-654E-8E78-1929FA754816}"/>
              </a:ext>
            </a:extLst>
          </p:cNvPr>
          <p:cNvSpPr txBox="1"/>
          <p:nvPr/>
        </p:nvSpPr>
        <p:spPr>
          <a:xfrm>
            <a:off x="469900" y="1536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map — transform each element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4186B-F1E4-D24A-9DBC-BF42855C80DC}"/>
              </a:ext>
            </a:extLst>
          </p:cNvPr>
          <p:cNvSpPr txBox="1"/>
          <p:nvPr/>
        </p:nvSpPr>
        <p:spPr>
          <a:xfrm>
            <a:off x="469900" y="1892300"/>
            <a:ext cx="5461000" cy="185691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let nums = vec![1, 2, 3, 4];</a:t>
            </a:r>
          </a:p>
          <a:p>
            <a:pPr algn="l">
              <a:spcBef>
                <a:spcPts val="100"/>
              </a:spcBef>
              <a:buNone/>
            </a:pPr>
            <a:endParaRPr lang="en-US" sz="120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let squared: Vec&lt;i32&gt; = nums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    .iter()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    .map(|n| n * n)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    .collect();</a:t>
            </a:r>
          </a:p>
          <a:p>
            <a:pPr algn="l">
              <a:spcBef>
                <a:spcPts val="100"/>
              </a:spcBef>
              <a:buNone/>
            </a:pPr>
            <a:endParaRPr lang="en-US" sz="120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[1, 4, 9, 16]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Signature: map(self, F: FnMut(Self::Item) -&gt; B)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7D9E16-45AD-6846-A053-D055F4657265}"/>
              </a:ext>
            </a:extLst>
          </p:cNvPr>
          <p:cNvSpPr/>
          <p:nvPr/>
        </p:nvSpPr>
        <p:spPr>
          <a:xfrm>
            <a:off x="6184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159AEE-8A19-5D40-B264-92CCFCFED976}"/>
              </a:ext>
            </a:extLst>
          </p:cNvPr>
          <p:cNvSpPr/>
          <p:nvPr/>
        </p:nvSpPr>
        <p:spPr>
          <a:xfrm>
            <a:off x="6184900" y="1816100"/>
            <a:ext cx="5715000" cy="2209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B3623-C996-564F-A84A-FFD1F4184E26}"/>
              </a:ext>
            </a:extLst>
          </p:cNvPr>
          <p:cNvSpPr txBox="1"/>
          <p:nvPr/>
        </p:nvSpPr>
        <p:spPr>
          <a:xfrm>
            <a:off x="6311900" y="1536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flat_map — transform &amp; flatten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ACBCBB-1AE6-1645-A3A9-76968AE06910}"/>
              </a:ext>
            </a:extLst>
          </p:cNvPr>
          <p:cNvSpPr txBox="1"/>
          <p:nvPr/>
        </p:nvSpPr>
        <p:spPr>
          <a:xfrm>
            <a:off x="6311900" y="1892300"/>
            <a:ext cx="5461000" cy="185691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let words = vec!["hi there", "rust rocks"];</a:t>
            </a:r>
          </a:p>
          <a:p>
            <a:pPr algn="l">
              <a:spcBef>
                <a:spcPts val="100"/>
              </a:spcBef>
              <a:buNone/>
            </a:pPr>
            <a:endParaRPr lang="en-US" sz="120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let toks: Vec&lt;&amp;str&gt; = words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    .iter()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    .flat_map(|s| s.split_whitespace())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    .collect();</a:t>
            </a:r>
          </a:p>
          <a:p>
            <a:pPr algn="l">
              <a:spcBef>
                <a:spcPts val="100"/>
              </a:spcBef>
              <a:buNone/>
            </a:pPr>
            <a:endParaRPr lang="en-US" sz="120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["hi", "there", "rust", "rocks"]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F returns an IntoIterator — outputs are concatenated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2CD6CD-917D-DC43-B914-AAEBDB0338F7}"/>
              </a:ext>
            </a:extLst>
          </p:cNvPr>
          <p:cNvSpPr/>
          <p:nvPr/>
        </p:nvSpPr>
        <p:spPr>
          <a:xfrm>
            <a:off x="342900" y="4152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E477A6-4E12-C141-95FD-973DD1256102}"/>
              </a:ext>
            </a:extLst>
          </p:cNvPr>
          <p:cNvSpPr/>
          <p:nvPr/>
        </p:nvSpPr>
        <p:spPr>
          <a:xfrm>
            <a:off x="342900" y="4483100"/>
            <a:ext cx="5715000" cy="20574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24C836-D40A-AE42-B353-1C2A7BD0EEDC}"/>
              </a:ext>
            </a:extLst>
          </p:cNvPr>
          <p:cNvSpPr txBox="1"/>
          <p:nvPr/>
        </p:nvSpPr>
        <p:spPr>
          <a:xfrm>
            <a:off x="469900" y="4203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When to reach for map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A6DF72-9F42-CA4F-80FF-16AF300D18A6}"/>
              </a:ext>
            </a:extLst>
          </p:cNvPr>
          <p:cNvSpPr txBox="1"/>
          <p:nvPr/>
        </p:nvSpPr>
        <p:spPr>
          <a:xfrm>
            <a:off x="469900" y="4559300"/>
            <a:ext cx="5461000" cy="109260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You have N items in, you want N items out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Pure transformation: parse, format, project a field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Output type can differ from input —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Iterator&lt;Item=A&gt;</a:t>
            </a:r>
            <a:r>
              <a:rPr lang="en-US" sz="1200">
                <a:solidFill>
                  <a:srgbClr val="333333"/>
                </a:solidFill>
              </a:rPr>
              <a:t> →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Iterator&lt;Item=B&gt;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Closure runs lazily — only when the iterator is consumed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380872-06BD-5041-83A2-577E1D9FFE46}"/>
              </a:ext>
            </a:extLst>
          </p:cNvPr>
          <p:cNvSpPr/>
          <p:nvPr/>
        </p:nvSpPr>
        <p:spPr>
          <a:xfrm>
            <a:off x="6184900" y="4152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284F41-A226-264A-9413-649B53249E3A}"/>
              </a:ext>
            </a:extLst>
          </p:cNvPr>
          <p:cNvSpPr/>
          <p:nvPr/>
        </p:nvSpPr>
        <p:spPr>
          <a:xfrm>
            <a:off x="6184900" y="4483100"/>
            <a:ext cx="5715000" cy="20574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9E3069-47A4-834F-ABE7-CB4A1AD205DE}"/>
              </a:ext>
            </a:extLst>
          </p:cNvPr>
          <p:cNvSpPr txBox="1"/>
          <p:nvPr/>
        </p:nvSpPr>
        <p:spPr>
          <a:xfrm>
            <a:off x="6311900" y="4203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When to reach for flat_map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A564D7-076E-024C-B43B-DEF0D0312745}"/>
              </a:ext>
            </a:extLst>
          </p:cNvPr>
          <p:cNvSpPr txBox="1"/>
          <p:nvPr/>
        </p:nvSpPr>
        <p:spPr>
          <a:xfrm>
            <a:off x="6311900" y="4559300"/>
            <a:ext cx="5461000" cy="90794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Each input produces 0, 1, or many outputs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Flattening nested iterators: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Vec&lt;Vec&lt;T&gt;&gt;</a:t>
            </a:r>
            <a:r>
              <a:rPr lang="en-US" sz="1200">
                <a:solidFill>
                  <a:srgbClr val="333333"/>
                </a:solidFill>
              </a:rPr>
              <a:t> →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Vec&lt;T&gt;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Unwrapping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Option</a:t>
            </a:r>
            <a:r>
              <a:rPr lang="en-US" sz="1200">
                <a:solidFill>
                  <a:srgbClr val="333333"/>
                </a:solidFill>
              </a:rPr>
              <a:t> /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Result</a:t>
            </a:r>
            <a:r>
              <a:rPr lang="en-US" sz="1200">
                <a:solidFill>
                  <a:srgbClr val="333333"/>
                </a:solidFill>
              </a:rPr>
              <a:t> —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None</a:t>
            </a:r>
            <a:r>
              <a:rPr lang="en-US" sz="1200">
                <a:solidFill>
                  <a:srgbClr val="333333"/>
                </a:solidFill>
              </a:rPr>
              <a:t> contributes nothing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Equivalent to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.map(f).flatten()</a:t>
            </a:r>
            <a:r>
              <a:rPr lang="en-US" sz="1200">
                <a:solidFill>
                  <a:srgbClr val="333333"/>
                </a:solidFill>
              </a:rPr>
              <a:t> but more direct</a:t>
            </a:r>
          </a:p>
        </p:txBody>
      </p:sp>
    </p:spTree>
    <p:extLst>
      <p:ext uri="{BB962C8B-B14F-4D97-AF65-F5344CB8AC3E}">
        <p14:creationId xmlns:p14="http://schemas.microsoft.com/office/powerpoint/2010/main" val="26818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C71688-7715-FC47-A0EF-63E6693C657D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for_each and fold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D6799F-C41B-3642-89A1-0AFD5D5BF7BD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D25EC-B9BA-0941-BA7D-1904541BC2F8}"/>
              </a:ext>
            </a:extLst>
          </p:cNvPr>
          <p:cNvSpPr txBox="1"/>
          <p:nvPr/>
        </p:nvSpPr>
        <p:spPr>
          <a:xfrm>
            <a:off x="838200" y="10668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Consumers — they actually drive the iterator and produce a result (or a side effect)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2B047B-7CB8-6647-8768-8D003AD7C15D}"/>
              </a:ext>
            </a:extLst>
          </p:cNvPr>
          <p:cNvSpPr/>
          <p:nvPr/>
        </p:nvSpPr>
        <p:spPr>
          <a:xfrm>
            <a:off x="342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34F3CF-2CAE-4042-8801-1F5BB9C446F1}"/>
              </a:ext>
            </a:extLst>
          </p:cNvPr>
          <p:cNvSpPr/>
          <p:nvPr/>
        </p:nvSpPr>
        <p:spPr>
          <a:xfrm>
            <a:off x="342900" y="1816100"/>
            <a:ext cx="5715000" cy="2209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F95BE-BE66-CB43-8468-63C5656CDB3D}"/>
              </a:ext>
            </a:extLst>
          </p:cNvPr>
          <p:cNvSpPr txBox="1"/>
          <p:nvPr/>
        </p:nvSpPr>
        <p:spPr>
          <a:xfrm>
            <a:off x="469900" y="1536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for_each — run a side effect per item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0B42C-6149-3F4B-9F2C-325BBF0DA751}"/>
              </a:ext>
            </a:extLst>
          </p:cNvPr>
          <p:cNvSpPr txBox="1"/>
          <p:nvPr/>
        </p:nvSpPr>
        <p:spPr>
          <a:xfrm>
            <a:off x="469900" y="1892300"/>
            <a:ext cx="5461000" cy="165942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(1..=3).for_each(|n| {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    println!("{}", n);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});</a:t>
            </a:r>
          </a:p>
          <a:p>
            <a:pPr algn="l">
              <a:spcBef>
                <a:spcPts val="100"/>
              </a:spcBef>
              <a:buNone/>
            </a:pPr>
            <a:endParaRPr lang="en-US" sz="120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Signature: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for_each(self, F: FnMut(Self::Item))</a:t>
            </a:r>
          </a:p>
          <a:p>
            <a:pPr algn="l">
              <a:spcBef>
                <a:spcPts val="100"/>
              </a:spcBef>
              <a:buNone/>
            </a:pPr>
            <a:endParaRPr lang="en-US" sz="120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Returns () — used for side effects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C5305E-3C0C-D648-B091-33D20D8AC081}"/>
              </a:ext>
            </a:extLst>
          </p:cNvPr>
          <p:cNvSpPr/>
          <p:nvPr/>
        </p:nvSpPr>
        <p:spPr>
          <a:xfrm>
            <a:off x="6184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A46B06-2852-364C-B575-4A3C90691AE1}"/>
              </a:ext>
            </a:extLst>
          </p:cNvPr>
          <p:cNvSpPr/>
          <p:nvPr/>
        </p:nvSpPr>
        <p:spPr>
          <a:xfrm>
            <a:off x="6184900" y="1816100"/>
            <a:ext cx="5715000" cy="2209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727830-5592-FC42-8382-5F78320D4A1A}"/>
              </a:ext>
            </a:extLst>
          </p:cNvPr>
          <p:cNvSpPr txBox="1"/>
          <p:nvPr/>
        </p:nvSpPr>
        <p:spPr>
          <a:xfrm>
            <a:off x="6311900" y="1536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fold — collapse to a single 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0DE174-3CA8-3C4E-BC45-F10F3015A47F}"/>
              </a:ext>
            </a:extLst>
          </p:cNvPr>
          <p:cNvSpPr txBox="1"/>
          <p:nvPr/>
        </p:nvSpPr>
        <p:spPr>
          <a:xfrm>
            <a:off x="6311900" y="1892300"/>
            <a:ext cx="5461000" cy="165942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let sum = (1..=4).fold(0, |acc, n| acc + n);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10</a:t>
            </a:r>
          </a:p>
          <a:p>
            <a:pPr algn="l">
              <a:spcBef>
                <a:spcPts val="100"/>
              </a:spcBef>
              <a:buNone/>
            </a:pPr>
            <a:endParaRPr lang="en-US" sz="120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let max = nums.iter()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    .fold(i32::MIN, |a, &amp;n| a.max(n));</a:t>
            </a:r>
          </a:p>
          <a:p>
            <a:pPr algn="l">
              <a:spcBef>
                <a:spcPts val="100"/>
              </a:spcBef>
              <a:buNone/>
            </a:pPr>
            <a:endParaRPr lang="en-US" sz="120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Signature: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fold(self, init: B, F: FnMut(B, Item) -&gt; B)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09D769-049F-ED40-A23E-F43F4A7979CA}"/>
              </a:ext>
            </a:extLst>
          </p:cNvPr>
          <p:cNvSpPr/>
          <p:nvPr/>
        </p:nvSpPr>
        <p:spPr>
          <a:xfrm>
            <a:off x="342900" y="4152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1A19D7-739F-E24D-9872-7B7E2E23038B}"/>
              </a:ext>
            </a:extLst>
          </p:cNvPr>
          <p:cNvSpPr/>
          <p:nvPr/>
        </p:nvSpPr>
        <p:spPr>
          <a:xfrm>
            <a:off x="342900" y="4483100"/>
            <a:ext cx="5715000" cy="20574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64A0AE-D504-0549-9A70-F7A91AC3A0D2}"/>
              </a:ext>
            </a:extLst>
          </p:cNvPr>
          <p:cNvSpPr txBox="1"/>
          <p:nvPr/>
        </p:nvSpPr>
        <p:spPr>
          <a:xfrm>
            <a:off x="469900" y="4203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for_each vs a for loop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660C86-0B36-D44A-8799-81D9807FE2B4}"/>
              </a:ext>
            </a:extLst>
          </p:cNvPr>
          <p:cNvSpPr txBox="1"/>
          <p:nvPr/>
        </p:nvSpPr>
        <p:spPr>
          <a:xfrm>
            <a:off x="469900" y="4559300"/>
            <a:ext cx="5461000" cy="109260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Same job, but composes with iterator chains: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.filter(...).for_each(...)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Closure is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FnMut</a:t>
            </a:r>
            <a:r>
              <a:rPr lang="en-US" sz="1200">
                <a:solidFill>
                  <a:srgbClr val="333333"/>
                </a:solidFill>
              </a:rPr>
              <a:t> — can mutate captured state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Cannot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break</a:t>
            </a:r>
            <a:r>
              <a:rPr lang="en-US" sz="1200">
                <a:solidFill>
                  <a:srgbClr val="333333"/>
                </a:solidFill>
              </a:rPr>
              <a:t> or return early — use a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for</a:t>
            </a:r>
            <a:r>
              <a:rPr lang="en-US" sz="1200">
                <a:solidFill>
                  <a:srgbClr val="333333"/>
                </a:solidFill>
              </a:rPr>
              <a:t> loop or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try_for_each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Prefer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for</a:t>
            </a:r>
            <a:r>
              <a:rPr lang="en-US" sz="1200">
                <a:solidFill>
                  <a:srgbClr val="333333"/>
                </a:solidFill>
              </a:rPr>
              <a:t> when the body is large or async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53B3EB-17C6-434C-A5FA-01E08A8FA9DF}"/>
              </a:ext>
            </a:extLst>
          </p:cNvPr>
          <p:cNvSpPr/>
          <p:nvPr/>
        </p:nvSpPr>
        <p:spPr>
          <a:xfrm>
            <a:off x="6184900" y="4152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75BDDC-F92C-4340-BCF3-2CF8F0FE17B1}"/>
              </a:ext>
            </a:extLst>
          </p:cNvPr>
          <p:cNvSpPr/>
          <p:nvPr/>
        </p:nvSpPr>
        <p:spPr>
          <a:xfrm>
            <a:off x="6184900" y="4483100"/>
            <a:ext cx="5715000" cy="20574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DD0A08-27F3-574B-88BA-9596468BBF2F}"/>
              </a:ext>
            </a:extLst>
          </p:cNvPr>
          <p:cNvSpPr txBox="1"/>
          <p:nvPr/>
        </p:nvSpPr>
        <p:spPr>
          <a:xfrm>
            <a:off x="6311900" y="4203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fold is the universal consumer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C444B9-7DFF-E14C-807F-DA8168503E95}"/>
              </a:ext>
            </a:extLst>
          </p:cNvPr>
          <p:cNvSpPr txBox="1"/>
          <p:nvPr/>
        </p:nvSpPr>
        <p:spPr>
          <a:xfrm>
            <a:off x="6311900" y="4559300"/>
            <a:ext cx="5461000" cy="90794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Threads an accumulator through every item, yields the final accumulator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sum</a:t>
            </a:r>
            <a:r>
              <a:rPr lang="en-US" sz="1200">
                <a:solidFill>
                  <a:srgbClr val="333333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product</a:t>
            </a:r>
            <a:r>
              <a:rPr lang="en-US" sz="1200">
                <a:solidFill>
                  <a:srgbClr val="333333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count</a:t>
            </a:r>
            <a:r>
              <a:rPr lang="en-US" sz="1200">
                <a:solidFill>
                  <a:srgbClr val="333333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max</a:t>
            </a:r>
            <a:r>
              <a:rPr lang="en-US" sz="1200">
                <a:solidFill>
                  <a:srgbClr val="333333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collect</a:t>
            </a:r>
            <a:r>
              <a:rPr lang="en-US" sz="1200">
                <a:solidFill>
                  <a:srgbClr val="333333"/>
                </a:solidFill>
              </a:rPr>
              <a:t> are all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fold</a:t>
            </a:r>
            <a:r>
              <a:rPr lang="en-US" sz="1200">
                <a:solidFill>
                  <a:srgbClr val="333333"/>
                </a:solidFill>
              </a:rPr>
              <a:t> in disguise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Init value sets both starting state AND the result type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Reach for it when no built-in consumer matches your reduction</a:t>
            </a:r>
          </a:p>
        </p:txBody>
      </p:sp>
    </p:spTree>
    <p:extLst>
      <p:ext uri="{BB962C8B-B14F-4D97-AF65-F5344CB8AC3E}">
        <p14:creationId xmlns:p14="http://schemas.microsoft.com/office/powerpoint/2010/main" val="1339778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C14DE1-FC02-0740-A7FD-32A525F1187A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Lazy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2F2BB8-F58A-5B4F-A900-34158EBBBAFC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51A43B-5520-9646-89A0-EC84BC03DD45}"/>
              </a:ext>
            </a:extLst>
          </p:cNvPr>
          <p:cNvSpPr txBox="1"/>
          <p:nvPr/>
        </p:nvSpPr>
        <p:spPr>
          <a:xfrm>
            <a:off x="838200" y="10668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Adapters do nothing on their own — work happens only when a consumer pulls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88F778-1DB0-524F-BAEC-3E380EAAC3A2}"/>
              </a:ext>
            </a:extLst>
          </p:cNvPr>
          <p:cNvSpPr/>
          <p:nvPr/>
        </p:nvSpPr>
        <p:spPr>
          <a:xfrm>
            <a:off x="342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6DFDA0-7D08-0C4C-B2B8-C3BE09953185}"/>
              </a:ext>
            </a:extLst>
          </p:cNvPr>
          <p:cNvSpPr/>
          <p:nvPr/>
        </p:nvSpPr>
        <p:spPr>
          <a:xfrm>
            <a:off x="342900" y="1816100"/>
            <a:ext cx="5715000" cy="2209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924A62-5773-DF42-9CAF-B425C9CE6FA3}"/>
              </a:ext>
            </a:extLst>
          </p:cNvPr>
          <p:cNvSpPr txBox="1"/>
          <p:nvPr/>
        </p:nvSpPr>
        <p:spPr>
          <a:xfrm>
            <a:off x="469900" y="1536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The compiler warns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3338D-C4A5-604B-889D-8367C9C46BCD}"/>
              </a:ext>
            </a:extLst>
          </p:cNvPr>
          <p:cNvSpPr txBox="1"/>
          <p:nvPr/>
        </p:nvSpPr>
        <p:spPr>
          <a:xfrm>
            <a:off x="469900" y="1892300"/>
            <a:ext cx="5461000" cy="165942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(1..=3).map(|n| {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    println!("mapping {}", n);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    n * 2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});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warning: unused `Map` that must be used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iterators are lazy and do nothing unless consumed</a:t>
            </a:r>
          </a:p>
          <a:p>
            <a:pPr algn="l">
              <a:spcBef>
                <a:spcPts val="100"/>
              </a:spcBef>
              <a:buNone/>
            </a:pPr>
            <a:endParaRPr lang="en-US" sz="120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Nothing prints. The closure never runs.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EF01AA-F4BD-9C46-93A1-659C6BD983F1}"/>
              </a:ext>
            </a:extLst>
          </p:cNvPr>
          <p:cNvSpPr/>
          <p:nvPr/>
        </p:nvSpPr>
        <p:spPr>
          <a:xfrm>
            <a:off x="6184900" y="1485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9292BB-D33D-E748-B328-B8F44AE5704E}"/>
              </a:ext>
            </a:extLst>
          </p:cNvPr>
          <p:cNvSpPr/>
          <p:nvPr/>
        </p:nvSpPr>
        <p:spPr>
          <a:xfrm>
            <a:off x="6184900" y="1816100"/>
            <a:ext cx="5715000" cy="2209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66B27-E6E6-B146-AF8E-3AAEED8AE920}"/>
              </a:ext>
            </a:extLst>
          </p:cNvPr>
          <p:cNvSpPr txBox="1"/>
          <p:nvPr/>
        </p:nvSpPr>
        <p:spPr>
          <a:xfrm>
            <a:off x="6311900" y="1536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Pull, don't push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B0FE07-B6AE-6B40-A5C1-7C2B8648C46A}"/>
              </a:ext>
            </a:extLst>
          </p:cNvPr>
          <p:cNvSpPr txBox="1"/>
          <p:nvPr/>
        </p:nvSpPr>
        <p:spPr>
          <a:xfrm>
            <a:off x="6311900" y="1892300"/>
            <a:ext cx="5461000" cy="165942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let it = (1..=3).map(|n| n * 2);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it is just a struct holding the closure</a:t>
            </a:r>
          </a:p>
          <a:p>
            <a:pPr algn="l">
              <a:spcBef>
                <a:spcPts val="100"/>
              </a:spcBef>
              <a:buNone/>
            </a:pPr>
            <a:endParaRPr lang="en-US" sz="120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for x in it { println!("{}", x); }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Now next() is called 3 times,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pulling one item through the chain at a time.</a:t>
            </a:r>
          </a:p>
          <a:p>
            <a:pPr algn="l">
              <a:spcBef>
                <a:spcPts val="100"/>
              </a:spcBef>
              <a:buNone/>
            </a:pPr>
            <a:endParaRPr lang="en-US" sz="120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200">
                <a:solidFill>
                  <a:srgbClr val="EEEEEE"/>
                </a:solidFill>
                <a:latin typeface="Consolas"/>
                <a:cs typeface="Consolas"/>
              </a:rPr>
              <a:t>// Each item flows: source -&gt; map -&gt; consumer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A7EC09-D563-1B41-9D9A-889357750757}"/>
              </a:ext>
            </a:extLst>
          </p:cNvPr>
          <p:cNvSpPr/>
          <p:nvPr/>
        </p:nvSpPr>
        <p:spPr>
          <a:xfrm>
            <a:off x="342900" y="4152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78AF4E-846D-F743-8E7B-7A8588F877A4}"/>
              </a:ext>
            </a:extLst>
          </p:cNvPr>
          <p:cNvSpPr/>
          <p:nvPr/>
        </p:nvSpPr>
        <p:spPr>
          <a:xfrm>
            <a:off x="342900" y="4483100"/>
            <a:ext cx="5715000" cy="20574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16F41-6A48-E64C-A824-C90A2CFAA334}"/>
              </a:ext>
            </a:extLst>
          </p:cNvPr>
          <p:cNvSpPr txBox="1"/>
          <p:nvPr/>
        </p:nvSpPr>
        <p:spPr>
          <a:xfrm>
            <a:off x="469900" y="4203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What lazy buys 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C964F-D577-1B48-BD6F-3CF911F8AEAE}"/>
              </a:ext>
            </a:extLst>
          </p:cNvPr>
          <p:cNvSpPr txBox="1"/>
          <p:nvPr/>
        </p:nvSpPr>
        <p:spPr>
          <a:xfrm>
            <a:off x="469900" y="4559300"/>
            <a:ext cx="5461000" cy="90794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No intermediate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Vec</a:t>
            </a:r>
            <a:r>
              <a:rPr lang="en-US" sz="1200">
                <a:solidFill>
                  <a:srgbClr val="333333"/>
                </a:solidFill>
              </a:rPr>
              <a:t>s — items stream through the pipeline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Early termination: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find</a:t>
            </a:r>
            <a:r>
              <a:rPr lang="en-US" sz="1200">
                <a:solidFill>
                  <a:srgbClr val="333333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take</a:t>
            </a:r>
            <a:r>
              <a:rPr lang="en-US" sz="1200">
                <a:solidFill>
                  <a:srgbClr val="333333"/>
                </a:solidFill>
              </a:rPr>
              <a:t>,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any</a:t>
            </a:r>
            <a:r>
              <a:rPr lang="en-US" sz="1200">
                <a:solidFill>
                  <a:srgbClr val="333333"/>
                </a:solidFill>
              </a:rPr>
              <a:t> stop pulling as soon as they're done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Infinite iterators are usable: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(0..).filter(...).take(10)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Compiler fuses adapters into one tight loop — zero-cost abstraction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3A5461-7C65-864A-B433-99490C4C7157}"/>
              </a:ext>
            </a:extLst>
          </p:cNvPr>
          <p:cNvSpPr/>
          <p:nvPr/>
        </p:nvSpPr>
        <p:spPr>
          <a:xfrm>
            <a:off x="6184900" y="4152900"/>
            <a:ext cx="5715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35C91E-32D6-DF4B-A0C2-18B21A1766AE}"/>
              </a:ext>
            </a:extLst>
          </p:cNvPr>
          <p:cNvSpPr/>
          <p:nvPr/>
        </p:nvSpPr>
        <p:spPr>
          <a:xfrm>
            <a:off x="6184900" y="4483100"/>
            <a:ext cx="5715000" cy="20574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CB5E8E-7EAC-A946-93F3-9AD822A6ED76}"/>
              </a:ext>
            </a:extLst>
          </p:cNvPr>
          <p:cNvSpPr txBox="1"/>
          <p:nvPr/>
        </p:nvSpPr>
        <p:spPr>
          <a:xfrm>
            <a:off x="6311900" y="4203700"/>
            <a:ext cx="5461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Gotchas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5229A8-79D1-C343-9F7D-B5E495399894}"/>
              </a:ext>
            </a:extLst>
          </p:cNvPr>
          <p:cNvSpPr txBox="1"/>
          <p:nvPr/>
        </p:nvSpPr>
        <p:spPr>
          <a:xfrm>
            <a:off x="6311900" y="4559300"/>
            <a:ext cx="5461000" cy="109260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Forgetting to consume — code silently does nothing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Side effects in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map</a:t>
            </a:r>
            <a:r>
              <a:rPr lang="en-US" sz="1200">
                <a:solidFill>
                  <a:srgbClr val="333333"/>
                </a:solidFill>
              </a:rPr>
              <a:t> are surprising; use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inspect</a:t>
            </a:r>
            <a:r>
              <a:rPr lang="en-US" sz="1200">
                <a:solidFill>
                  <a:srgbClr val="333333"/>
                </a:solidFill>
              </a:rPr>
              <a:t> or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for_each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An iterator can only be consumed once — </a:t>
            </a:r>
            <a:r>
              <a:rPr lang="en-US" sz="1200" b="1">
                <a:solidFill>
                  <a:srgbClr val="CE422B"/>
                </a:solidFill>
                <a:latin typeface="Consolas"/>
                <a:cs typeface="Consolas"/>
              </a:rPr>
              <a:t>clone</a:t>
            </a:r>
            <a:r>
              <a:rPr lang="en-US" sz="1200">
                <a:solidFill>
                  <a:srgbClr val="333333"/>
                </a:solidFill>
              </a:rPr>
              <a:t> the source if you need two passes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</a:rPr>
              <a:t>Borrows captured by closures live as long as the iterator does</a:t>
            </a:r>
          </a:p>
        </p:txBody>
      </p:sp>
    </p:spTree>
    <p:extLst>
      <p:ext uri="{BB962C8B-B14F-4D97-AF65-F5344CB8AC3E}">
        <p14:creationId xmlns:p14="http://schemas.microsoft.com/office/powerpoint/2010/main" val="1537254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CD0881-DBB6-5A44-A851-8DE66774C471}"/>
              </a:ext>
            </a:extLst>
          </p:cNvPr>
          <p:cNvSpPr txBox="1"/>
          <p:nvPr/>
        </p:nvSpPr>
        <p:spPr>
          <a:xfrm>
            <a:off x="838200" y="317500"/>
            <a:ext cx="105156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E1E1E"/>
                </a:solidFill>
              </a:rPr>
              <a:t>Putting it together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9830D6-80FA-AD47-A7A0-3F8DCCB23FC5}"/>
              </a:ext>
            </a:extLst>
          </p:cNvPr>
          <p:cNvSpPr/>
          <p:nvPr/>
        </p:nvSpPr>
        <p:spPr>
          <a:xfrm>
            <a:off x="838200" y="914400"/>
            <a:ext cx="762000" cy="508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1596DE-7058-E544-B48B-8F3C5036F4A6}"/>
              </a:ext>
            </a:extLst>
          </p:cNvPr>
          <p:cNvSpPr txBox="1"/>
          <p:nvPr/>
        </p:nvSpPr>
        <p:spPr>
          <a:xfrm>
            <a:off x="838200" y="10668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A pipeline that uses every piece — adapters chain lazily, one consumer drives the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6BA41D-BE14-BB44-9D48-5AB4916B8228}"/>
              </a:ext>
            </a:extLst>
          </p:cNvPr>
          <p:cNvSpPr/>
          <p:nvPr/>
        </p:nvSpPr>
        <p:spPr>
          <a:xfrm>
            <a:off x="342900" y="1485900"/>
            <a:ext cx="11557000" cy="330200"/>
          </a:xfrm>
          <a:prstGeom prst="rect">
            <a:avLst/>
          </a:prstGeom>
          <a:solidFill>
            <a:srgbClr val="CE4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DCD95-6E3F-9548-8B00-8724E6B138B5}"/>
              </a:ext>
            </a:extLst>
          </p:cNvPr>
          <p:cNvSpPr/>
          <p:nvPr/>
        </p:nvSpPr>
        <p:spPr>
          <a:xfrm>
            <a:off x="342900" y="1816100"/>
            <a:ext cx="11557000" cy="3987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5BBDB-AC4A-134B-9D0E-BBAAE35C2BCB}"/>
              </a:ext>
            </a:extLst>
          </p:cNvPr>
          <p:cNvSpPr txBox="1"/>
          <p:nvPr/>
        </p:nvSpPr>
        <p:spPr>
          <a:xfrm>
            <a:off x="469900" y="1536700"/>
            <a:ext cx="11303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Word-count by line — one pass, no intermediate Vecs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FED069-E03A-AA46-99A7-18B15188B28B}"/>
              </a:ext>
            </a:extLst>
          </p:cNvPr>
          <p:cNvSpPr txBox="1"/>
          <p:nvPr/>
        </p:nvSpPr>
        <p:spPr>
          <a:xfrm>
            <a:off x="469900" y="1892300"/>
            <a:ext cx="11303000" cy="37215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let lines = 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vec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![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   "  hello world  ",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   "",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   "rust iterators are lazy",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   "map 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flat_map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fold 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for_each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",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];</a:t>
            </a:r>
          </a:p>
          <a:p>
            <a:pPr algn="l">
              <a:spcBef>
                <a:spcPts val="100"/>
              </a:spcBef>
              <a:buNone/>
            </a:pPr>
            <a:endParaRPr lang="en-US" sz="1100" dirty="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// 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flat_map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: line -&gt; many words   (one-to-many)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// map:      word -&gt; length        (one-to-one)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// fold:     lengths -&gt; total      (consumer)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let total: 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usize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= lines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   .iter()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   .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flat_map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(|line| 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line.split_whitespace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())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   .map(|word| 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word.len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())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   .fold(0, |acc, n| acc + n);</a:t>
            </a:r>
          </a:p>
          <a:p>
            <a:pPr algn="l">
              <a:spcBef>
                <a:spcPts val="100"/>
              </a:spcBef>
              <a:buNone/>
            </a:pPr>
            <a:endParaRPr lang="en-US" sz="1100" dirty="0">
              <a:solidFill>
                <a:srgbClr val="EEEEEE"/>
              </a:solidFill>
              <a:latin typeface="Consolas"/>
              <a:cs typeface="Consolas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// And a side-effect pass over the same shape: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lines.iter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()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   .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flat_map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(|l| 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l.split_whitespace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())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    .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for_each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(|w| </a:t>
            </a:r>
            <a:r>
              <a:rPr lang="en-US" sz="1100" dirty="0" err="1">
                <a:solidFill>
                  <a:srgbClr val="EEEEEE"/>
                </a:solidFill>
                <a:latin typeface="Consolas"/>
                <a:cs typeface="Consolas"/>
              </a:rPr>
              <a:t>println</a:t>
            </a:r>
            <a:r>
              <a:rPr lang="en-US" sz="1100" dirty="0">
                <a:solidFill>
                  <a:srgbClr val="EEEEEE"/>
                </a:solidFill>
                <a:latin typeface="Consolas"/>
                <a:cs typeface="Consolas"/>
              </a:rPr>
              <a:t>!("{}", w));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3030FC-76A3-2642-AF41-279705AC5773}"/>
              </a:ext>
            </a:extLst>
          </p:cNvPr>
          <p:cNvSpPr/>
          <p:nvPr/>
        </p:nvSpPr>
        <p:spPr>
          <a:xfrm>
            <a:off x="342900" y="5905500"/>
            <a:ext cx="11557000" cy="635000"/>
          </a:xfrm>
          <a:prstGeom prst="rect">
            <a:avLst/>
          </a:prstGeom>
          <a:solidFill>
            <a:srgbClr val="F5F0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CE531E-AC70-9441-9CE1-6AD1CD58F429}"/>
              </a:ext>
            </a:extLst>
          </p:cNvPr>
          <p:cNvSpPr txBox="1"/>
          <p:nvPr/>
        </p:nvSpPr>
        <p:spPr>
          <a:xfrm>
            <a:off x="469900" y="5981700"/>
            <a:ext cx="11303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E1E1E"/>
                </a:solidFill>
              </a:rPr>
              <a:t>Takeaway: </a:t>
            </a:r>
            <a:r>
              <a:rPr lang="en-US" sz="1300">
                <a:solidFill>
                  <a:srgbClr val="333333"/>
                </a:solidFill>
              </a:rPr>
              <a:t>build the pipeline with adapters, end it with exactly one consumer. Nothing runs until that consumer pulls.</a:t>
            </a:r>
          </a:p>
        </p:txBody>
      </p:sp>
    </p:spTree>
    <p:extLst>
      <p:ext uri="{BB962C8B-B14F-4D97-AF65-F5344CB8AC3E}">
        <p14:creationId xmlns:p14="http://schemas.microsoft.com/office/powerpoint/2010/main" val="134607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71761D-5C5F-8B43-B125-666DFAF263C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60ebce2-3124-49ef-b581-241f7e53761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9122</TotalTime>
  <Words>7687</Words>
  <Application>Microsoft Macintosh PowerPoint</Application>
  <PresentationFormat>Widescreen</PresentationFormat>
  <Paragraphs>873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What is Rust used for?</vt:lpstr>
      <vt:lpstr>Hello, World! </vt:lpstr>
      <vt:lpstr>PowerPoint Presentation</vt:lpstr>
      <vt:lpstr>PowerPoint Presentation</vt:lpstr>
      <vt:lpstr>Rust Ownership: Move, Borrow, Mutable Borrow</vt:lpstr>
      <vt:lpstr>Lifetime of 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Rahim AHMADOV</dc:creator>
  <cp:lastModifiedBy>Rahim AHMADOV</cp:lastModifiedBy>
  <cp:revision>23</cp:revision>
  <dcterms:created xsi:type="dcterms:W3CDTF">2026-04-28T17:41:06Z</dcterms:created>
  <dcterms:modified xsi:type="dcterms:W3CDTF">2026-05-07T20:13:45Z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aaf4973-c537-4152-b5ae-4c85692069c8_Enabled">
    <vt:lpwstr>true</vt:lpwstr>
  </property>
  <property fmtid="{D5CDD505-2E9C-101B-9397-08002B2CF9AE}" pid="3" name="MSIP_Label_caaf4973-c537-4152-b5ae-4c85692069c8_SetDate">
    <vt:lpwstr>2026-04-29T18:35:55Z</vt:lpwstr>
  </property>
  <property fmtid="{D5CDD505-2E9C-101B-9397-08002B2CF9AE}" pid="4" name="MSIP_Label_caaf4973-c537-4152-b5ae-4c85692069c8_Method">
    <vt:lpwstr>Standard</vt:lpwstr>
  </property>
  <property fmtid="{D5CDD505-2E9C-101B-9397-08002B2CF9AE}" pid="5" name="MSIP_Label_caaf4973-c537-4152-b5ae-4c85692069c8_Name">
    <vt:lpwstr>Internal-Use</vt:lpwstr>
  </property>
  <property fmtid="{D5CDD505-2E9C-101B-9397-08002B2CF9AE}" pid="6" name="MSIP_Label_caaf4973-c537-4152-b5ae-4c85692069c8_SiteId">
    <vt:lpwstr>eb9ce242-ddc8-46b4-8167-93551652f4b8</vt:lpwstr>
  </property>
  <property fmtid="{D5CDD505-2E9C-101B-9397-08002B2CF9AE}" pid="7" name="MSIP_Label_caaf4973-c537-4152-b5ae-4c85692069c8_ActionId">
    <vt:lpwstr>792aaabf-b2f8-43ec-98bb-06bee020eac5</vt:lpwstr>
  </property>
  <property fmtid="{D5CDD505-2E9C-101B-9397-08002B2CF9AE}" pid="8" name="MSIP_Label_caaf4973-c537-4152-b5ae-4c85692069c8_ContentBits">
    <vt:lpwstr>2</vt:lpwstr>
  </property>
  <property fmtid="{D5CDD505-2E9C-101B-9397-08002B2CF9AE}" pid="9" name="MSIP_Label_caaf4973-c537-4152-b5ae-4c85692069c8_Tag">
    <vt:lpwstr>50, 3, 0, 1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Daxili İstifadə - Internal Use</vt:lpwstr>
  </property>
</Properties>
</file>