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6" Type="http://schemas.openxmlformats.org/officeDocument/2006/relationships/custom-properties" Target="docProps/custom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6"/>
  </p:notesMasterIdLst>
  <p:sldIdLst>
    <p:sldId id="256" r:id="rId2"/>
    <p:sldId id="259" r:id="rId3"/>
    <p:sldId id="263" r:id="rId4"/>
    <p:sldId id="258" r:id="rId5"/>
    <p:sldId id="261" r:id="rId6"/>
    <p:sldId id="265" r:id="rId7"/>
    <p:sldId id="268" r:id="rId8"/>
    <p:sldId id="269" r:id="rId9"/>
    <p:sldId id="270" r:id="rId10"/>
    <p:sldId id="272" r:id="rId11"/>
    <p:sldId id="273" r:id="rId12"/>
    <p:sldId id="274" r:id="rId13"/>
    <p:sldId id="275" r:id="rId14"/>
    <p:sldId id="276" r:id="rId15"/>
  </p:sldIdLst>
  <p:sldSz cx="12192000" cy="6858000"/>
  <p:notesSz cx="6858000" cy="9144000"/>
  <p:defaultTextStyle>
    <a:defPPr>
      <a:defRPr lang="en-AZ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7296"/>
    <p:restoredTop sz="85044"/>
  </p:normalViewPr>
  <p:slideViewPr>
    <p:cSldViewPr snapToGrid="0">
      <p:cViewPr varScale="1">
        <p:scale>
          <a:sx n="99" d="100"/>
          <a:sy n="99" d="100"/>
        </p:scale>
        <p:origin x="200" y="9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01B2C63-9184-7B41-897D-B987911E75C8}" type="datetimeFigureOut">
              <a:rPr lang="en-US" smtClean="0"/>
              <a:t>4/29/26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39A970C-2A22-694C-8F30-D4BBC57008A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406448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39A970C-2A22-694C-8F30-D4BBC57008A9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495201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I'll explain heap and stack memory with a visual diagram to make the concepts </a:t>
            </a:r>
            <a:r>
              <a:rPr lang="en-US" dirty="0" err="1"/>
              <a:t>clear.Let</a:t>
            </a:r>
            <a:r>
              <a:rPr lang="en-US" dirty="0"/>
              <a:t> me create a clear illustrative diagram showing how stack and heap memory work.## The core idea</a:t>
            </a:r>
          </a:p>
          <a:p>
            <a:r>
              <a:rPr lang="en-US" dirty="0"/>
              <a:t>When a program runs, it gets two main regions of memory to work with. They behave very differently because they solve different problems.</a:t>
            </a:r>
          </a:p>
          <a:p>
            <a:r>
              <a:rPr lang="en-US" b="1" dirty="0"/>
              <a:t>The stack</a:t>
            </a:r>
          </a:p>
          <a:p>
            <a:r>
              <a:rPr lang="en-US" dirty="0"/>
              <a:t>The stack handles </a:t>
            </a:r>
            <a:r>
              <a:rPr lang="en-US" b="1" dirty="0"/>
              <a:t>function calls and local variables</a:t>
            </a:r>
            <a:r>
              <a:rPr lang="en-US" dirty="0"/>
              <a:t>. Every time you call a function, the program pushes a new "frame" on top — containing that function's parameters and local variables. When the function returns, its frame is popped off and that memory is instantly reclaimed.</a:t>
            </a:r>
          </a:p>
          <a:p>
            <a:r>
              <a:rPr lang="en-US" dirty="0"/>
              <a:t>It's called a stack because it works exactly like a stack of plates: last in, first out (LIFO). You can only add or remove from the top.</a:t>
            </a:r>
          </a:p>
          <a:p>
            <a:r>
              <a:rPr lang="en-US" dirty="0"/>
              <a:t>The stack is fast because allocation is just moving a pointer up by a few bytes. There's no searching, no bookkeeping. The downside: size must be known at compile time, and the total stack space is limited — recurse too deep and you get a stack overflow.</a:t>
            </a:r>
          </a:p>
          <a:p>
            <a:r>
              <a:rPr lang="en-US" b="1" dirty="0"/>
              <a:t>The heap</a:t>
            </a:r>
          </a:p>
          <a:p>
            <a:r>
              <a:rPr lang="en-US" dirty="0"/>
              <a:t>The heap handles everything else — objects whose size isn't known until runtime, data that needs to outlive the function that created it, or anything large. When you write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new Object()</a:t>
            </a:r>
            <a:r>
              <a:rPr lang="en-US" dirty="0"/>
              <a:t> in Java,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malloc()</a:t>
            </a:r>
            <a:r>
              <a:rPr lang="en-US" dirty="0"/>
              <a:t> in C, or create a list in Python, that memory comes from the heap.</a:t>
            </a:r>
          </a:p>
          <a:p>
            <a:r>
              <a:rPr lang="en-US" dirty="0"/>
              <a:t>Unlike the stack's strict ordering, the heap is more like a warehouse where you can request a chunk of any size at any time. The memory manager finds free space, gives you the address, and you (or the garbage collector) are responsible for releasing it later.</a:t>
            </a:r>
          </a:p>
          <a:p>
            <a:r>
              <a:rPr lang="en-US" b="1" dirty="0"/>
              <a:t>How they connect</a:t>
            </a:r>
          </a:p>
          <a:p>
            <a:r>
              <a:rPr lang="en-US" dirty="0"/>
              <a:t>Look at the orange arrow in the diagram — that's a </a:t>
            </a:r>
            <a:r>
              <a:rPr lang="en-US" b="1" dirty="0"/>
              <a:t>pointer</a:t>
            </a:r>
            <a:r>
              <a:rPr lang="en-US" dirty="0"/>
              <a:t>. A local variable on the stack (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ptr</a:t>
            </a:r>
            <a:r>
              <a:rPr lang="en-US" dirty="0"/>
              <a:t>) holds the </a:t>
            </a:r>
            <a:r>
              <a:rPr lang="en-US" i="1" dirty="0"/>
              <a:t>address</a:t>
            </a:r>
            <a:r>
              <a:rPr lang="en-US" dirty="0"/>
              <a:t> of an object that lives on the heap. This is how the two regions cooperate: small, short-lived references on the stack point to large, long-lived data on the heap.</a:t>
            </a:r>
          </a:p>
          <a:p>
            <a:r>
              <a:rPr lang="en-US" b="1" dirty="0"/>
              <a:t>Quick comparison</a:t>
            </a:r>
          </a:p>
          <a:p>
            <a:r>
              <a:rPr lang="en-US" dirty="0"/>
              <a:t>Stack Heap Speed Very fast Slower Size Small, fixed Large, growable Lifetime Until function returns Until manually freed or </a:t>
            </a:r>
            <a:r>
              <a:rPr lang="en-US" dirty="0" err="1"/>
              <a:t>GC'd</a:t>
            </a:r>
            <a:r>
              <a:rPr lang="en-US" dirty="0"/>
              <a:t> Order Strict LIFO Random access Common bugs Stack overflow Memory leaks, dangling pointers </a:t>
            </a:r>
          </a:p>
          <a:p>
            <a:r>
              <a:rPr lang="en-US" dirty="0"/>
              <a:t>A simple way to remember it: </a:t>
            </a:r>
            <a:r>
              <a:rPr lang="en-US" b="1" dirty="0"/>
              <a:t>stack = scratch paper for the current function</a:t>
            </a:r>
            <a:r>
              <a:rPr lang="en-US" dirty="0"/>
              <a:t>, </a:t>
            </a:r>
            <a:r>
              <a:rPr lang="en-US" b="1" dirty="0"/>
              <a:t>heap = the filing cabinet shared across the whole program</a:t>
            </a:r>
            <a:r>
              <a:rPr lang="en-US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39A970C-2A22-694C-8F30-D4BBC57008A9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023694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According to the provided table of contents for </a:t>
            </a:r>
            <a:r>
              <a:rPr lang="en-US" b="1" dirty="0"/>
              <a:t>"The Rust Programming Language,"</a:t>
            </a:r>
            <a:r>
              <a:rPr lang="en-US" dirty="0"/>
              <a:t> the concept of </a:t>
            </a:r>
            <a:r>
              <a:rPr lang="en-US" b="1" dirty="0"/>
              <a:t>Ownership</a:t>
            </a:r>
            <a:r>
              <a:rPr lang="en-US" dirty="0"/>
              <a:t> is the central focus of Chapter 4,. While the sources list the structure of this section—including </a:t>
            </a:r>
            <a:r>
              <a:rPr lang="en-US" b="1" dirty="0"/>
              <a:t>"What is Ownership?"</a:t>
            </a:r>
            <a:r>
              <a:rPr lang="en-US" dirty="0"/>
              <a:t> (Chapter 4.1) and </a:t>
            </a:r>
            <a:r>
              <a:rPr lang="en-US" b="1" dirty="0"/>
              <a:t>"References and Borrowing"</a:t>
            </a:r>
            <a:r>
              <a:rPr lang="en-US" dirty="0"/>
              <a:t> (Chapter 4.2)—the full explanatory text for these chapters is not included in the current source material.</a:t>
            </a:r>
          </a:p>
          <a:p>
            <a:r>
              <a:rPr lang="en-US" i="1" dirty="0"/>
              <a:t>Please note that the following explanation is based on general knowledge of the Rust language and our previous discussion regarding the borrow mechanism; you may want to independently verify these details:</a:t>
            </a:r>
            <a:endParaRPr lang="en-US" dirty="0"/>
          </a:p>
          <a:p>
            <a:r>
              <a:rPr lang="en-US" b="1" dirty="0"/>
              <a:t>The Purpose of Ownership</a:t>
            </a:r>
          </a:p>
          <a:p>
            <a:r>
              <a:rPr lang="en-US" dirty="0"/>
              <a:t>Ownership is Rust’s unique approach to memory management. It allows the language to make memory safety guarantees without needing a garbage collector or requiring the programmer to manually allocate and free memory (as in C++).</a:t>
            </a:r>
          </a:p>
          <a:p>
            <a:r>
              <a:rPr lang="en-US" b="1" dirty="0"/>
              <a:t>The Three Rules of Ownership</a:t>
            </a:r>
          </a:p>
          <a:p>
            <a:r>
              <a:rPr lang="en-US" dirty="0"/>
              <a:t>The entire system is built upon three fundamental rules that the compiler enforces:</a:t>
            </a:r>
          </a:p>
          <a:p>
            <a:r>
              <a:rPr lang="en-US" b="1" dirty="0"/>
              <a:t>Each value in Rust has an owner:</a:t>
            </a:r>
            <a:r>
              <a:rPr lang="en-US" dirty="0"/>
              <a:t> Every piece of data is associated with a specific variable.</a:t>
            </a:r>
          </a:p>
          <a:p>
            <a:r>
              <a:rPr lang="en-US" b="1" dirty="0"/>
              <a:t>There can only be one owner at a time:</a:t>
            </a:r>
            <a:r>
              <a:rPr lang="en-US" dirty="0"/>
              <a:t> This prevents multiple variables from trying to manage the same memory simultaneously, which avoids "double free" errors.</a:t>
            </a:r>
          </a:p>
          <a:p>
            <a:r>
              <a:rPr lang="en-US" b="1" dirty="0"/>
              <a:t>When the owner goes out of scope, the value is dropped:</a:t>
            </a:r>
            <a:r>
              <a:rPr lang="en-US" dirty="0"/>
              <a:t> Rust automatically cleans up the memory as soon as the variable owning it is no longer needed.</a:t>
            </a:r>
          </a:p>
          <a:p>
            <a:r>
              <a:rPr lang="en-US" b="1" dirty="0"/>
              <a:t>Ownership and the Heap</a:t>
            </a:r>
          </a:p>
          <a:p>
            <a:r>
              <a:rPr lang="en-US" dirty="0"/>
              <a:t>For data stored on the </a:t>
            </a:r>
            <a:r>
              <a:rPr lang="en-US" b="1" dirty="0"/>
              <a:t>heap</a:t>
            </a:r>
            <a:r>
              <a:rPr lang="en-US" dirty="0"/>
              <a:t> (like the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String</a:t>
            </a:r>
            <a:r>
              <a:rPr lang="en-US" dirty="0"/>
              <a:t> type mentioned in the TOC under Chapter 8.2), ownership determines which part of the code is responsible for that memory.</a:t>
            </a:r>
          </a:p>
          <a:p>
            <a:r>
              <a:rPr lang="en-US" b="1" dirty="0"/>
              <a:t>Move Semantics:</a:t>
            </a:r>
            <a:r>
              <a:rPr lang="en-US" dirty="0"/>
              <a:t> When you assign a heap-based variable to a new variable, Rust </a:t>
            </a:r>
            <a:r>
              <a:rPr lang="en-US" b="1" dirty="0"/>
              <a:t>moves</a:t>
            </a:r>
            <a:r>
              <a:rPr lang="en-US" dirty="0"/>
              <a:t> the ownership. The original variable becomes invalid, ensuring Rule #2 is maintained.</a:t>
            </a:r>
          </a:p>
          <a:p>
            <a:r>
              <a:rPr lang="en-US" b="1" dirty="0"/>
              <a:t>Copy Semantics:</a:t>
            </a:r>
            <a:r>
              <a:rPr lang="en-US" dirty="0"/>
              <a:t> For simple types stored on the </a:t>
            </a:r>
            <a:r>
              <a:rPr lang="en-US" b="1" dirty="0"/>
              <a:t>stack</a:t>
            </a:r>
            <a:r>
              <a:rPr lang="en-US" dirty="0"/>
              <a:t> (like integers), Rust copies the data instead of moving it because copying these values is inexpensive and doesn't involve complex memory management.</a:t>
            </a:r>
          </a:p>
          <a:p>
            <a:r>
              <a:rPr lang="en-US" b="1" dirty="0"/>
              <a:t>Relationship to Borrowing</a:t>
            </a:r>
          </a:p>
          <a:p>
            <a:r>
              <a:rPr lang="en-US" dirty="0"/>
              <a:t>As we discussed in our previous conversation regarding </a:t>
            </a:r>
            <a:r>
              <a:rPr lang="en-US" b="1" dirty="0"/>
              <a:t>References and Borrowing</a:t>
            </a:r>
            <a:r>
              <a:rPr lang="en-US" dirty="0"/>
              <a:t> (Chapter 4.2), you don't always want to take full ownership of a value just to read it. Borrowing allows you to create </a:t>
            </a:r>
            <a:r>
              <a:rPr lang="en-US" b="1" dirty="0"/>
              <a:t>references</a:t>
            </a:r>
            <a:r>
              <a:rPr lang="en-US" dirty="0"/>
              <a:t> that let you access data while the original owner maintains control. This system ensures that data is always valid and that no data races occur at compile time.</a:t>
            </a:r>
          </a:p>
          <a:p>
            <a:r>
              <a:rPr lang="en-US" dirty="0"/>
              <a:t>Since the current sources only provide the chapter titles, would you like me to search for the full text of Chapter 4 to provide a more detailed breakdown with the book's specific examples?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39A970C-2A22-694C-8F30-D4BBC57008A9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3114872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BF65EA-6CE2-0C59-6EF7-819837A1708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49FA5D8-0760-F84B-224A-55536BB97F4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E093F94-DF10-8169-99F9-715A0D96EE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98A69A-3EA9-0A47-8D25-10A00CFA088E}" type="datetimeFigureOut">
              <a:rPr lang="en-US" smtClean="0"/>
              <a:t>4/29/26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AFC5346-F5D2-B6CD-2669-884A48D3B1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90F8A7D-B3BF-8505-8946-8043EEEE9B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AAABA3-542F-124A-866F-97BE85F6AD0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979875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7D55C4-57E7-2DB0-77B3-4D94164D3C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7B5A662-A983-73CB-4B8B-DAEDBD460E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B88D099-E13A-2905-B198-69C5ABE6EB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98A69A-3EA9-0A47-8D25-10A00CFA088E}" type="datetimeFigureOut">
              <a:rPr lang="en-US" smtClean="0"/>
              <a:t>4/29/26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42FC35F-669B-772A-B245-5A72AC267B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8C3B4FF-0007-ADE7-4945-709C2EBBAE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AAABA3-542F-124A-866F-97BE85F6AD0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3434101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94FE61-6FD3-52B0-5554-CE4FD5E5A2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47DD711-CF80-5BF9-A38C-71E4F445A43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1DD99CE-79E4-C5A5-F2FE-23112BF4D9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98A69A-3EA9-0A47-8D25-10A00CFA088E}" type="datetimeFigureOut">
              <a:rPr lang="en-US" smtClean="0"/>
              <a:t>4/29/26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3C39DAD-72F0-B156-6C52-6F5AEB3484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AD02683-6B0E-829A-E049-8494E18B4D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AAABA3-542F-124A-866F-97BE85F6AD0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7649643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3FF0DB-B4B7-08DB-3A8B-D863124E91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AF8968A-638B-07E1-92C4-1D548E22C6A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1E9FF57-820B-9A2E-8D48-BFB79BF6F67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CFA0580-9581-7843-1470-73D993355E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98A69A-3EA9-0A47-8D25-10A00CFA088E}" type="datetimeFigureOut">
              <a:rPr lang="en-US" smtClean="0"/>
              <a:t>4/29/26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752CA2C-074D-D051-BD9F-BEB681C046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3F58A37-9DEB-1859-F740-597B5054E9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AAABA3-542F-124A-866F-97BE85F6AD0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8385735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E15874-91EA-FE41-B7D4-73206596C3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02983A8-30E6-61B3-C2D4-A75E41434A2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57C473A-0EE3-3C2D-F713-3B842ADEE03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BD89EB0-9A42-5C06-7703-F77908130AE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535C0B7-BCBC-9E64-1557-7087574F0D9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20C8E56-FC79-17D2-CC1D-E3B29346CA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98A69A-3EA9-0A47-8D25-10A00CFA088E}" type="datetimeFigureOut">
              <a:rPr lang="en-US" smtClean="0"/>
              <a:t>4/29/26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FCDB25D-DEF3-F6DF-387C-ACA2152DD0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AC9BFC1-EE81-9F2F-C10E-F6475AD427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AAABA3-542F-124A-866F-97BE85F6AD0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74390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8C9C4C-A67D-D7EC-6EE1-A64F67EFF5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D3CBBA5-150F-9C90-8983-B7B65CBCDB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98A69A-3EA9-0A47-8D25-10A00CFA088E}" type="datetimeFigureOut">
              <a:rPr lang="en-US" smtClean="0"/>
              <a:t>4/29/26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46BC0D9-FFDE-72A6-5F70-E6E3EF8AC3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990CB9F-01F6-E078-76F8-38731A5F6E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AAABA3-542F-124A-866F-97BE85F6AD0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373838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792038D-3937-83B2-B555-7120AC7605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98A69A-3EA9-0A47-8D25-10A00CFA088E}" type="datetimeFigureOut">
              <a:rPr lang="en-US" smtClean="0"/>
              <a:t>4/29/26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C7D1F22-3C50-C19F-2181-DA38F7EA45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861ECCA-3F12-66CD-9134-CBEBAB0E98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AAABA3-542F-124A-866F-97BE85F6AD0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1816729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C64883-DB1B-CE26-C11E-9CE5833C54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4561FBF-DB1D-8429-0FDA-46836A1B4C3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E653960-075F-23D8-A7A6-08C25FE83B6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D9BD29C-D4E1-64A2-D58B-2F9A052C3F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98A69A-3EA9-0A47-8D25-10A00CFA088E}" type="datetimeFigureOut">
              <a:rPr lang="en-US" smtClean="0"/>
              <a:t>4/29/26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E4C29D-9644-801A-FA9C-03C2AE73C4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A269E78-6376-2931-BEE7-95C841F8CF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AAABA3-542F-124A-866F-97BE85F6AD0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945357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064508-8701-6ECF-1E34-4BA3FC76B8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8EF63E70-188E-B6B2-CA96-E19E100BEEA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258193E-B069-9CA9-E158-28055D0FF01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1871BFC-9229-3D1D-9149-02F99E41C0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98A69A-3EA9-0A47-8D25-10A00CFA088E}" type="datetimeFigureOut">
              <a:rPr lang="en-US" smtClean="0"/>
              <a:t>4/29/26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FA6CB6C-AD89-0886-6B2E-DB0BEAE5E3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8DD78A6-6F6C-0536-830E-993432C06C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AAABA3-542F-124A-866F-97BE85F6AD0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5277867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88301D-3AD6-7F4A-2C49-4AE3181571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CD79EA0-B1F6-80D2-E98E-B04759F2D62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4487398-754E-7DB3-D899-5A0243A20A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98A69A-3EA9-0A47-8D25-10A00CFA088E}" type="datetimeFigureOut">
              <a:rPr lang="en-US" smtClean="0"/>
              <a:t>4/29/26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490B9E1-0DB7-4179-5D5F-05C722F7F5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ECF7E4B-51B5-B65A-B5B2-C22C991D2B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AAABA3-542F-124A-866F-97BE85F6AD0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6167477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E942144-346A-69F8-69E1-307214FB8A4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F2C46CF-88F6-7007-19C6-203F6337B6E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534CA70-D1D9-4441-511E-5317F2E256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98A69A-3EA9-0A47-8D25-10A00CFA088E}" type="datetimeFigureOut">
              <a:rPr lang="en-US" smtClean="0"/>
              <a:t>4/29/26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5E7352B-6E84-DC42-1D84-703B9383F0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BE117F9-3D09-765B-C83F-942D66E3F6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AAABA3-542F-124A-866F-97BE85F6AD0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339544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BC47745-71A1-F268-55C1-AFC62E84AF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1A855F8-87D7-C31D-B1D8-7384AE14572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1046B12-82A0-39F8-C82A-AD5DE399C53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998A69A-3EA9-0A47-8D25-10A00CFA088E}" type="datetimeFigureOut">
              <a:rPr lang="en-US" smtClean="0"/>
              <a:t>4/29/26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4017E60-072A-2EBD-659D-30F08250FBB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B4824F1-8F7D-AF60-EE15-553B88616F8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AAABA3-542F-124A-866F-97BE85F6AD0C}" type="slidenum">
              <a:rPr lang="en-US" smtClean="0"/>
              <a:t>‹#›</a:t>
            </a:fld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3B8E8EB-A164-D6CA-ACAF-1B0E58FBCE9C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ftr"/>
              </p:ext>
            </p:extLst>
          </p:nvPr>
        </p:nvSpPr>
        <p:spPr>
          <a:xfrm>
            <a:off x="63500" y="6642100"/>
            <a:ext cx="1525588" cy="15240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en-US" sz="1000">
                <a:solidFill>
                  <a:srgbClr val="0000FF">
                    <a:alpha val="50000"/>
                  </a:srgbClr>
                </a:solidFill>
                <a:latin typeface="Aptos" panose="020B0004020202020204" pitchFamily="34" charset="0"/>
              </a:rPr>
              <a:t>Daxili İstifadə - Internal Use</a:t>
            </a:r>
          </a:p>
        </p:txBody>
      </p:sp>
    </p:spTree>
    <p:extLst>
      <p:ext uri="{BB962C8B-B14F-4D97-AF65-F5344CB8AC3E}">
        <p14:creationId xmlns:p14="http://schemas.microsoft.com/office/powerpoint/2010/main" val="279381911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AZ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BF156522-5EC7-CE78-78F2-DE9E44BD059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2603" b="6361"/>
          <a:stretch>
            <a:fillRect/>
          </a:stretch>
        </p:blipFill>
        <p:spPr>
          <a:xfrm>
            <a:off x="1489504" y="0"/>
            <a:ext cx="9212992" cy="68622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7938013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E9A40854-7D33-7044-880B-E362D6A4E8B4}"/>
              </a:ext>
            </a:extLst>
          </p:cNvPr>
          <p:cNvSpPr txBox="1"/>
          <p:nvPr/>
        </p:nvSpPr>
        <p:spPr>
          <a:xfrm>
            <a:off x="508000" y="279400"/>
            <a:ext cx="11176000" cy="508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3000" b="1">
                <a:solidFill>
                  <a:srgbClr val="1F2937"/>
                </a:solidFill>
              </a:rPr>
              <a:t>What we'll cover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15DDA64D-20D3-D24E-8AAD-E9997574494C}"/>
              </a:ext>
            </a:extLst>
          </p:cNvPr>
          <p:cNvSpPr/>
          <p:nvPr/>
        </p:nvSpPr>
        <p:spPr>
          <a:xfrm>
            <a:off x="508000" y="812800"/>
            <a:ext cx="762000" cy="50800"/>
          </a:xfrm>
          <a:prstGeom prst="rect">
            <a:avLst/>
          </a:prstGeom>
          <a:solidFill>
            <a:srgbClr val="CE422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D217826-62BB-5A49-82D3-95C61FFAACF0}"/>
              </a:ext>
            </a:extLst>
          </p:cNvPr>
          <p:cNvSpPr txBox="1"/>
          <p:nvPr/>
        </p:nvSpPr>
        <p:spPr>
          <a:xfrm>
            <a:off x="508000" y="939800"/>
            <a:ext cx="11176000" cy="2794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 i="1">
                <a:solidFill>
                  <a:srgbClr val="6B7280"/>
                </a:solidFill>
              </a:rPr>
              <a:t>A Friday tour of Rust — 10 topics</a:t>
            </a:r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CB4A7A23-E52A-874F-9060-E9972746E935}"/>
              </a:ext>
            </a:extLst>
          </p:cNvPr>
          <p:cNvSpPr/>
          <p:nvPr/>
        </p:nvSpPr>
        <p:spPr>
          <a:xfrm>
            <a:off x="508000" y="1397000"/>
            <a:ext cx="2092960" cy="2489200"/>
          </a:xfrm>
          <a:prstGeom prst="roundRect">
            <a:avLst/>
          </a:prstGeom>
          <a:solidFill>
            <a:srgbClr val="FFF8F4"/>
          </a:solidFill>
          <a:ln w="15875" cap="flat" cmpd="sng" algn="ctr">
            <a:solidFill>
              <a:srgbClr val="CE422B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692BD18F-EB83-914F-B78D-F0B33E03E752}"/>
              </a:ext>
            </a:extLst>
          </p:cNvPr>
          <p:cNvSpPr/>
          <p:nvPr/>
        </p:nvSpPr>
        <p:spPr>
          <a:xfrm>
            <a:off x="1287780" y="1676400"/>
            <a:ext cx="533400" cy="533400"/>
          </a:xfrm>
          <a:prstGeom prst="ellipse">
            <a:avLst/>
          </a:prstGeom>
          <a:solidFill>
            <a:srgbClr val="CE422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400" b="1">
                <a:solidFill>
                  <a:srgbClr val="FFFFFF"/>
                </a:solidFill>
              </a:rPr>
              <a:t>01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8091EDC-1DC1-8E4A-883E-896102D6B230}"/>
              </a:ext>
            </a:extLst>
          </p:cNvPr>
          <p:cNvSpPr txBox="1"/>
          <p:nvPr/>
        </p:nvSpPr>
        <p:spPr>
          <a:xfrm>
            <a:off x="609600" y="2387600"/>
            <a:ext cx="1889760" cy="13970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400" b="1">
                <a:solidFill>
                  <a:srgbClr val="1F2937"/>
                </a:solidFill>
              </a:rPr>
              <a:t>Hello World.rs</a:t>
            </a: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3B160F53-230C-5C40-9B68-B1D2CBE4832E}"/>
              </a:ext>
            </a:extLst>
          </p:cNvPr>
          <p:cNvSpPr/>
          <p:nvPr/>
        </p:nvSpPr>
        <p:spPr>
          <a:xfrm>
            <a:off x="2778760" y="1397000"/>
            <a:ext cx="2092960" cy="2489200"/>
          </a:xfrm>
          <a:prstGeom prst="roundRect">
            <a:avLst/>
          </a:prstGeom>
          <a:solidFill>
            <a:srgbClr val="FFF8F4"/>
          </a:solidFill>
          <a:ln w="15875" cap="flat" cmpd="sng" algn="ctr">
            <a:solidFill>
              <a:srgbClr val="CE422B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55EFE7F1-AF3D-0F43-A9FA-10F2D3C67F15}"/>
              </a:ext>
            </a:extLst>
          </p:cNvPr>
          <p:cNvSpPr/>
          <p:nvPr/>
        </p:nvSpPr>
        <p:spPr>
          <a:xfrm>
            <a:off x="3558540" y="1676400"/>
            <a:ext cx="533400" cy="533400"/>
          </a:xfrm>
          <a:prstGeom prst="ellipse">
            <a:avLst/>
          </a:prstGeom>
          <a:solidFill>
            <a:srgbClr val="CE422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400" b="1">
                <a:solidFill>
                  <a:srgbClr val="FFFFFF"/>
                </a:solidFill>
              </a:rPr>
              <a:t>02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C037B87-ADBB-2A45-814E-6A3EE3A4A346}"/>
              </a:ext>
            </a:extLst>
          </p:cNvPr>
          <p:cNvSpPr txBox="1"/>
          <p:nvPr/>
        </p:nvSpPr>
        <p:spPr>
          <a:xfrm>
            <a:off x="2880360" y="2387600"/>
            <a:ext cx="1889760" cy="13970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400" b="1">
                <a:solidFill>
                  <a:srgbClr val="1F2937"/>
                </a:solidFill>
              </a:rPr>
              <a:t>Rust ownership system</a:t>
            </a:r>
          </a:p>
        </p:txBody>
      </p:sp>
      <p:sp>
        <p:nvSpPr>
          <p:cNvPr id="17" name="Rounded Rectangle 16">
            <a:extLst>
              <a:ext uri="{FF2B5EF4-FFF2-40B4-BE49-F238E27FC236}">
                <a16:creationId xmlns:a16="http://schemas.microsoft.com/office/drawing/2014/main" id="{0819117A-9562-2849-A4E9-18BD93A42331}"/>
              </a:ext>
            </a:extLst>
          </p:cNvPr>
          <p:cNvSpPr/>
          <p:nvPr/>
        </p:nvSpPr>
        <p:spPr>
          <a:xfrm>
            <a:off x="5049520" y="1397000"/>
            <a:ext cx="2092960" cy="2489200"/>
          </a:xfrm>
          <a:prstGeom prst="roundRect">
            <a:avLst/>
          </a:prstGeom>
          <a:solidFill>
            <a:srgbClr val="FFF8F4"/>
          </a:solidFill>
          <a:ln w="15875" cap="flat" cmpd="sng" algn="ctr">
            <a:solidFill>
              <a:srgbClr val="CE422B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C174DEF7-F58B-D64E-BDB4-89C7B6D50068}"/>
              </a:ext>
            </a:extLst>
          </p:cNvPr>
          <p:cNvSpPr/>
          <p:nvPr/>
        </p:nvSpPr>
        <p:spPr>
          <a:xfrm>
            <a:off x="5829300" y="1676400"/>
            <a:ext cx="533400" cy="533400"/>
          </a:xfrm>
          <a:prstGeom prst="ellipse">
            <a:avLst/>
          </a:prstGeom>
          <a:solidFill>
            <a:srgbClr val="CE422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400" b="1">
                <a:solidFill>
                  <a:srgbClr val="FFFFFF"/>
                </a:solidFill>
              </a:rPr>
              <a:t>03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FB9E0A4-88FE-694D-A98D-775EBAF1D2A4}"/>
              </a:ext>
            </a:extLst>
          </p:cNvPr>
          <p:cNvSpPr txBox="1"/>
          <p:nvPr/>
        </p:nvSpPr>
        <p:spPr>
          <a:xfrm>
            <a:off x="5151120" y="2387600"/>
            <a:ext cx="1889760" cy="13970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400" b="1" dirty="0">
                <a:solidFill>
                  <a:srgbClr val="1F2937"/>
                </a:solidFill>
              </a:rPr>
              <a:t>Lifetime of references</a:t>
            </a:r>
          </a:p>
        </p:txBody>
      </p:sp>
      <p:sp>
        <p:nvSpPr>
          <p:cNvPr id="20" name="Rounded Rectangle 19">
            <a:extLst>
              <a:ext uri="{FF2B5EF4-FFF2-40B4-BE49-F238E27FC236}">
                <a16:creationId xmlns:a16="http://schemas.microsoft.com/office/drawing/2014/main" id="{1399E465-B450-6443-840E-94262060A5DF}"/>
              </a:ext>
            </a:extLst>
          </p:cNvPr>
          <p:cNvSpPr/>
          <p:nvPr/>
        </p:nvSpPr>
        <p:spPr>
          <a:xfrm>
            <a:off x="7320280" y="1397000"/>
            <a:ext cx="2092960" cy="2489200"/>
          </a:xfrm>
          <a:prstGeom prst="roundRect">
            <a:avLst/>
          </a:prstGeom>
          <a:solidFill>
            <a:srgbClr val="FFF8F4"/>
          </a:solidFill>
          <a:ln w="15875" cap="flat" cmpd="sng" algn="ctr">
            <a:solidFill>
              <a:srgbClr val="CE422B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D4EA9C93-C4CA-F245-AB43-9A1BC61EA991}"/>
              </a:ext>
            </a:extLst>
          </p:cNvPr>
          <p:cNvSpPr/>
          <p:nvPr/>
        </p:nvSpPr>
        <p:spPr>
          <a:xfrm>
            <a:off x="8100060" y="1676400"/>
            <a:ext cx="533400" cy="533400"/>
          </a:xfrm>
          <a:prstGeom prst="ellipse">
            <a:avLst/>
          </a:prstGeom>
          <a:solidFill>
            <a:srgbClr val="CE422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400" b="1">
                <a:solidFill>
                  <a:srgbClr val="FFFFFF"/>
                </a:solidFill>
              </a:rPr>
              <a:t>04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293C0D68-2780-AA49-8721-9C7AAE6EE77D}"/>
              </a:ext>
            </a:extLst>
          </p:cNvPr>
          <p:cNvSpPr txBox="1"/>
          <p:nvPr/>
        </p:nvSpPr>
        <p:spPr>
          <a:xfrm>
            <a:off x="7421880" y="2387600"/>
            <a:ext cx="1889760" cy="13970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400" b="1" dirty="0">
                <a:solidFill>
                  <a:srgbClr val="1F2937"/>
                </a:solidFill>
              </a:rPr>
              <a:t>OOP  kind of – Structs, Traits  </a:t>
            </a:r>
          </a:p>
        </p:txBody>
      </p:sp>
      <p:sp>
        <p:nvSpPr>
          <p:cNvPr id="23" name="Rounded Rectangle 22">
            <a:extLst>
              <a:ext uri="{FF2B5EF4-FFF2-40B4-BE49-F238E27FC236}">
                <a16:creationId xmlns:a16="http://schemas.microsoft.com/office/drawing/2014/main" id="{A7EDDAD9-CAB3-3944-81DE-616A1FA16B88}"/>
              </a:ext>
            </a:extLst>
          </p:cNvPr>
          <p:cNvSpPr/>
          <p:nvPr/>
        </p:nvSpPr>
        <p:spPr>
          <a:xfrm>
            <a:off x="9591040" y="1397000"/>
            <a:ext cx="2092960" cy="2489200"/>
          </a:xfrm>
          <a:prstGeom prst="roundRect">
            <a:avLst/>
          </a:prstGeom>
          <a:solidFill>
            <a:srgbClr val="FFF8F4"/>
          </a:solidFill>
          <a:ln w="15875" cap="flat" cmpd="sng" algn="ctr">
            <a:solidFill>
              <a:srgbClr val="CE422B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F413B3D9-6CFF-5541-AD26-C242997826F7}"/>
              </a:ext>
            </a:extLst>
          </p:cNvPr>
          <p:cNvSpPr/>
          <p:nvPr/>
        </p:nvSpPr>
        <p:spPr>
          <a:xfrm>
            <a:off x="10370820" y="1676400"/>
            <a:ext cx="533400" cy="533400"/>
          </a:xfrm>
          <a:prstGeom prst="ellipse">
            <a:avLst/>
          </a:prstGeom>
          <a:solidFill>
            <a:srgbClr val="CE422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400" b="1">
                <a:solidFill>
                  <a:srgbClr val="FFFFFF"/>
                </a:solidFill>
              </a:rPr>
              <a:t>05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A017EFA-EB7B-EA40-A90F-603A6DFAD6BA}"/>
              </a:ext>
            </a:extLst>
          </p:cNvPr>
          <p:cNvSpPr txBox="1"/>
          <p:nvPr/>
        </p:nvSpPr>
        <p:spPr>
          <a:xfrm>
            <a:off x="9692640" y="2387600"/>
            <a:ext cx="1889760" cy="13970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400" b="1" dirty="0">
                <a:solidFill>
                  <a:srgbClr val="1F2937"/>
                </a:solidFill>
              </a:rPr>
              <a:t>Enum with Steroids, pattern matching</a:t>
            </a:r>
          </a:p>
        </p:txBody>
      </p:sp>
      <p:sp>
        <p:nvSpPr>
          <p:cNvPr id="26" name="Rounded Rectangle 25">
            <a:extLst>
              <a:ext uri="{FF2B5EF4-FFF2-40B4-BE49-F238E27FC236}">
                <a16:creationId xmlns:a16="http://schemas.microsoft.com/office/drawing/2014/main" id="{9BB4544A-8FC8-7246-AD0B-93873A53A016}"/>
              </a:ext>
            </a:extLst>
          </p:cNvPr>
          <p:cNvSpPr/>
          <p:nvPr/>
        </p:nvSpPr>
        <p:spPr>
          <a:xfrm>
            <a:off x="508000" y="4114800"/>
            <a:ext cx="2092960" cy="2489200"/>
          </a:xfrm>
          <a:prstGeom prst="roundRect">
            <a:avLst/>
          </a:prstGeom>
          <a:solidFill>
            <a:srgbClr val="FFF8F4"/>
          </a:solidFill>
          <a:ln w="15875" cap="flat" cmpd="sng" algn="ctr">
            <a:solidFill>
              <a:srgbClr val="CE422B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4EE51EE8-68C4-014B-9D01-856E814F4612}"/>
              </a:ext>
            </a:extLst>
          </p:cNvPr>
          <p:cNvSpPr/>
          <p:nvPr/>
        </p:nvSpPr>
        <p:spPr>
          <a:xfrm>
            <a:off x="1287780" y="4394200"/>
            <a:ext cx="533400" cy="533400"/>
          </a:xfrm>
          <a:prstGeom prst="ellipse">
            <a:avLst/>
          </a:prstGeom>
          <a:solidFill>
            <a:srgbClr val="CE422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400" b="1">
                <a:solidFill>
                  <a:srgbClr val="FFFFFF"/>
                </a:solidFill>
              </a:rPr>
              <a:t>06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DDED2500-9D81-8943-8EF8-78D5ECD175EE}"/>
              </a:ext>
            </a:extLst>
          </p:cNvPr>
          <p:cNvSpPr txBox="1"/>
          <p:nvPr/>
        </p:nvSpPr>
        <p:spPr>
          <a:xfrm>
            <a:off x="609600" y="5105400"/>
            <a:ext cx="1889760" cy="13970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400" b="1" dirty="0">
                <a:solidFill>
                  <a:srgbClr val="1F2937"/>
                </a:solidFill>
              </a:rPr>
              <a:t>Closures and Iterators</a:t>
            </a:r>
          </a:p>
        </p:txBody>
      </p:sp>
      <p:sp>
        <p:nvSpPr>
          <p:cNvPr id="29" name="Rounded Rectangle 28">
            <a:extLst>
              <a:ext uri="{FF2B5EF4-FFF2-40B4-BE49-F238E27FC236}">
                <a16:creationId xmlns:a16="http://schemas.microsoft.com/office/drawing/2014/main" id="{CB3D4606-042B-494D-A5B9-929EFDE7A2C6}"/>
              </a:ext>
            </a:extLst>
          </p:cNvPr>
          <p:cNvSpPr/>
          <p:nvPr/>
        </p:nvSpPr>
        <p:spPr>
          <a:xfrm>
            <a:off x="2778760" y="4114800"/>
            <a:ext cx="2092960" cy="2489200"/>
          </a:xfrm>
          <a:prstGeom prst="roundRect">
            <a:avLst/>
          </a:prstGeom>
          <a:solidFill>
            <a:srgbClr val="FFF8F4"/>
          </a:solidFill>
          <a:ln w="15875" cap="flat" cmpd="sng" algn="ctr">
            <a:solidFill>
              <a:srgbClr val="CE422B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0" name="Oval 29">
            <a:extLst>
              <a:ext uri="{FF2B5EF4-FFF2-40B4-BE49-F238E27FC236}">
                <a16:creationId xmlns:a16="http://schemas.microsoft.com/office/drawing/2014/main" id="{0F3E38E6-994E-C748-9A33-A5A4373B01E7}"/>
              </a:ext>
            </a:extLst>
          </p:cNvPr>
          <p:cNvSpPr/>
          <p:nvPr/>
        </p:nvSpPr>
        <p:spPr>
          <a:xfrm>
            <a:off x="3558540" y="4394200"/>
            <a:ext cx="533400" cy="533400"/>
          </a:xfrm>
          <a:prstGeom prst="ellipse">
            <a:avLst/>
          </a:prstGeom>
          <a:solidFill>
            <a:srgbClr val="CE422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400" b="1">
                <a:solidFill>
                  <a:srgbClr val="FFFFFF"/>
                </a:solidFill>
              </a:rPr>
              <a:t>07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B818D440-97E9-C840-8A24-D2A2127A841D}"/>
              </a:ext>
            </a:extLst>
          </p:cNvPr>
          <p:cNvSpPr txBox="1"/>
          <p:nvPr/>
        </p:nvSpPr>
        <p:spPr>
          <a:xfrm>
            <a:off x="2880360" y="5105400"/>
            <a:ext cx="1889760" cy="13970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400" b="1" dirty="0">
                <a:solidFill>
                  <a:srgbClr val="1F2937"/>
                </a:solidFill>
              </a:rPr>
              <a:t>Exceptions  - should not be handled</a:t>
            </a:r>
          </a:p>
        </p:txBody>
      </p:sp>
      <p:sp>
        <p:nvSpPr>
          <p:cNvPr id="32" name="Rounded Rectangle 31">
            <a:extLst>
              <a:ext uri="{FF2B5EF4-FFF2-40B4-BE49-F238E27FC236}">
                <a16:creationId xmlns:a16="http://schemas.microsoft.com/office/drawing/2014/main" id="{CCAA426C-1E74-FD49-9C7B-828B45DB2F0F}"/>
              </a:ext>
            </a:extLst>
          </p:cNvPr>
          <p:cNvSpPr/>
          <p:nvPr/>
        </p:nvSpPr>
        <p:spPr>
          <a:xfrm>
            <a:off x="5049520" y="4114800"/>
            <a:ext cx="2092960" cy="2489200"/>
          </a:xfrm>
          <a:prstGeom prst="roundRect">
            <a:avLst/>
          </a:prstGeom>
          <a:solidFill>
            <a:srgbClr val="FFF8F4"/>
          </a:solidFill>
          <a:ln w="15875" cap="flat" cmpd="sng" algn="ctr">
            <a:solidFill>
              <a:srgbClr val="CE422B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3" name="Oval 32">
            <a:extLst>
              <a:ext uri="{FF2B5EF4-FFF2-40B4-BE49-F238E27FC236}">
                <a16:creationId xmlns:a16="http://schemas.microsoft.com/office/drawing/2014/main" id="{B5250786-A01B-8241-A066-93DFE2CBDA7F}"/>
              </a:ext>
            </a:extLst>
          </p:cNvPr>
          <p:cNvSpPr/>
          <p:nvPr/>
        </p:nvSpPr>
        <p:spPr>
          <a:xfrm>
            <a:off x="5829300" y="4394200"/>
            <a:ext cx="533400" cy="533400"/>
          </a:xfrm>
          <a:prstGeom prst="ellipse">
            <a:avLst/>
          </a:prstGeom>
          <a:solidFill>
            <a:srgbClr val="CE422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400" b="1">
                <a:solidFill>
                  <a:srgbClr val="FFFFFF"/>
                </a:solidFill>
              </a:rPr>
              <a:t>08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0F78BC56-CB5E-814C-AF3B-675183E53CDD}"/>
              </a:ext>
            </a:extLst>
          </p:cNvPr>
          <p:cNvSpPr txBox="1"/>
          <p:nvPr/>
        </p:nvSpPr>
        <p:spPr>
          <a:xfrm>
            <a:off x="5151120" y="5105400"/>
            <a:ext cx="1889760" cy="13970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400" b="1">
                <a:solidFill>
                  <a:srgbClr val="1F2937"/>
                </a:solidFill>
              </a:rPr>
              <a:t>Concurrency</a:t>
            </a:r>
          </a:p>
        </p:txBody>
      </p:sp>
      <p:sp>
        <p:nvSpPr>
          <p:cNvPr id="35" name="Rounded Rectangle 34">
            <a:extLst>
              <a:ext uri="{FF2B5EF4-FFF2-40B4-BE49-F238E27FC236}">
                <a16:creationId xmlns:a16="http://schemas.microsoft.com/office/drawing/2014/main" id="{8DE6E628-0A35-474F-B090-2FAB4BCB026B}"/>
              </a:ext>
            </a:extLst>
          </p:cNvPr>
          <p:cNvSpPr/>
          <p:nvPr/>
        </p:nvSpPr>
        <p:spPr>
          <a:xfrm>
            <a:off x="7320280" y="4114800"/>
            <a:ext cx="2092960" cy="2489200"/>
          </a:xfrm>
          <a:prstGeom prst="roundRect">
            <a:avLst/>
          </a:prstGeom>
          <a:solidFill>
            <a:srgbClr val="FFF8F4"/>
          </a:solidFill>
          <a:ln w="15875" cap="flat" cmpd="sng" algn="ctr">
            <a:solidFill>
              <a:srgbClr val="CE422B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6" name="Oval 35">
            <a:extLst>
              <a:ext uri="{FF2B5EF4-FFF2-40B4-BE49-F238E27FC236}">
                <a16:creationId xmlns:a16="http://schemas.microsoft.com/office/drawing/2014/main" id="{A77C47E7-5132-0E4B-8FEB-597D89AB3066}"/>
              </a:ext>
            </a:extLst>
          </p:cNvPr>
          <p:cNvSpPr/>
          <p:nvPr/>
        </p:nvSpPr>
        <p:spPr>
          <a:xfrm>
            <a:off x="8100060" y="4394200"/>
            <a:ext cx="533400" cy="533400"/>
          </a:xfrm>
          <a:prstGeom prst="ellipse">
            <a:avLst/>
          </a:prstGeom>
          <a:solidFill>
            <a:srgbClr val="CE422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400" b="1">
                <a:solidFill>
                  <a:srgbClr val="FFFFFF"/>
                </a:solidFill>
              </a:rPr>
              <a:t>09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0E333DA4-C2F2-3E46-AD5B-9F3A532354BA}"/>
              </a:ext>
            </a:extLst>
          </p:cNvPr>
          <p:cNvSpPr txBox="1"/>
          <p:nvPr/>
        </p:nvSpPr>
        <p:spPr>
          <a:xfrm>
            <a:off x="7421880" y="5105400"/>
            <a:ext cx="1889760" cy="13970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400" b="1">
                <a:solidFill>
                  <a:srgbClr val="1F2937"/>
                </a:solidFill>
              </a:rPr>
              <a:t>Modules and crates</a:t>
            </a:r>
          </a:p>
        </p:txBody>
      </p:sp>
      <p:sp>
        <p:nvSpPr>
          <p:cNvPr id="38" name="Rounded Rectangle 37">
            <a:extLst>
              <a:ext uri="{FF2B5EF4-FFF2-40B4-BE49-F238E27FC236}">
                <a16:creationId xmlns:a16="http://schemas.microsoft.com/office/drawing/2014/main" id="{B63C3F03-E3FC-274D-88AC-F03DD259A730}"/>
              </a:ext>
            </a:extLst>
          </p:cNvPr>
          <p:cNvSpPr/>
          <p:nvPr/>
        </p:nvSpPr>
        <p:spPr>
          <a:xfrm>
            <a:off x="9591040" y="4114800"/>
            <a:ext cx="2092960" cy="2489200"/>
          </a:xfrm>
          <a:prstGeom prst="roundRect">
            <a:avLst/>
          </a:prstGeom>
          <a:solidFill>
            <a:srgbClr val="FFF8F4"/>
          </a:solidFill>
          <a:ln w="15875" cap="flat" cmpd="sng" algn="ctr">
            <a:solidFill>
              <a:srgbClr val="CE422B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9" name="Oval 38">
            <a:extLst>
              <a:ext uri="{FF2B5EF4-FFF2-40B4-BE49-F238E27FC236}">
                <a16:creationId xmlns:a16="http://schemas.microsoft.com/office/drawing/2014/main" id="{2DE330CC-68CE-DA46-AD07-DAB1A5D3EC91}"/>
              </a:ext>
            </a:extLst>
          </p:cNvPr>
          <p:cNvSpPr/>
          <p:nvPr/>
        </p:nvSpPr>
        <p:spPr>
          <a:xfrm>
            <a:off x="10370820" y="4394200"/>
            <a:ext cx="533400" cy="533400"/>
          </a:xfrm>
          <a:prstGeom prst="ellipse">
            <a:avLst/>
          </a:prstGeom>
          <a:solidFill>
            <a:srgbClr val="CE422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400" b="1">
                <a:solidFill>
                  <a:srgbClr val="FFFFFF"/>
                </a:solidFill>
              </a:rPr>
              <a:t>10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7D0BC9E5-BBF8-3340-B9CF-C00FC49FA9AB}"/>
              </a:ext>
            </a:extLst>
          </p:cNvPr>
          <p:cNvSpPr txBox="1"/>
          <p:nvPr/>
        </p:nvSpPr>
        <p:spPr>
          <a:xfrm>
            <a:off x="9692640" y="5105400"/>
            <a:ext cx="1889760" cy="13970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400" b="1" dirty="0">
                <a:solidFill>
                  <a:srgbClr val="1F2937"/>
                </a:solidFill>
              </a:rPr>
              <a:t>Metaprogramming</a:t>
            </a:r>
          </a:p>
        </p:txBody>
      </p:sp>
    </p:spTree>
    <p:extLst>
      <p:ext uri="{BB962C8B-B14F-4D97-AF65-F5344CB8AC3E}">
        <p14:creationId xmlns:p14="http://schemas.microsoft.com/office/powerpoint/2010/main" val="93505226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961BB3-1BE2-6BA9-46EF-71D699AC13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Hello, World! — Cargo, Compilation &amp; Syntax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D7AB668-0CE5-FC46-8E6D-7E046F4A173D}"/>
              </a:ext>
            </a:extLst>
          </p:cNvPr>
          <p:cNvSpPr txBox="1"/>
          <p:nvPr/>
        </p:nvSpPr>
        <p:spPr>
          <a:xfrm>
            <a:off x="609600" y="1828800"/>
            <a:ext cx="5334000" cy="3048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600" b="1">
                <a:solidFill>
                  <a:srgbClr val="CE422B"/>
                </a:solidFill>
              </a:rPr>
              <a:t>1. Create &amp; run with Cargo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CD227ACD-8D4A-BC42-9910-53EDBE9489DB}"/>
              </a:ext>
            </a:extLst>
          </p:cNvPr>
          <p:cNvSpPr/>
          <p:nvPr/>
        </p:nvSpPr>
        <p:spPr>
          <a:xfrm>
            <a:off x="609600" y="2209800"/>
            <a:ext cx="330200" cy="330200"/>
          </a:xfrm>
          <a:prstGeom prst="ellipse">
            <a:avLst/>
          </a:prstGeom>
          <a:solidFill>
            <a:srgbClr val="CE422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4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BF7C925-74F5-E847-AC30-C458F83A9E3C}"/>
              </a:ext>
            </a:extLst>
          </p:cNvPr>
          <p:cNvSpPr/>
          <p:nvPr/>
        </p:nvSpPr>
        <p:spPr>
          <a:xfrm>
            <a:off x="1041400" y="2209800"/>
            <a:ext cx="4572000" cy="330200"/>
          </a:xfrm>
          <a:prstGeom prst="rect">
            <a:avLst/>
          </a:prstGeom>
          <a:solidFill>
            <a:srgbClr val="1E1E1E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400" b="1">
                <a:solidFill>
                  <a:srgbClr val="A8E6A1"/>
                </a:solidFill>
                <a:latin typeface="Consolas"/>
                <a:cs typeface="Consolas"/>
              </a:rPr>
              <a:t>$ cargo new hello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8F45D30-931B-F345-969B-95E5E6E2D748}"/>
              </a:ext>
            </a:extLst>
          </p:cNvPr>
          <p:cNvSpPr txBox="1"/>
          <p:nvPr/>
        </p:nvSpPr>
        <p:spPr>
          <a:xfrm>
            <a:off x="1041400" y="2565400"/>
            <a:ext cx="4572000" cy="2794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 i="1">
                <a:solidFill>
                  <a:srgbClr val="444444"/>
                </a:solidFill>
              </a:rPr>
              <a:t>Scaffolds project: Cargo.toml + src/main.rs + git</a:t>
            </a: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29E0B43B-998D-0B46-B91B-5494A69A562E}"/>
              </a:ext>
            </a:extLst>
          </p:cNvPr>
          <p:cNvSpPr/>
          <p:nvPr/>
        </p:nvSpPr>
        <p:spPr>
          <a:xfrm>
            <a:off x="609600" y="2971800"/>
            <a:ext cx="330200" cy="330200"/>
          </a:xfrm>
          <a:prstGeom prst="ellipse">
            <a:avLst/>
          </a:prstGeom>
          <a:solidFill>
            <a:srgbClr val="CE422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4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879AC4CE-35A6-DB43-8478-33278DD87A59}"/>
              </a:ext>
            </a:extLst>
          </p:cNvPr>
          <p:cNvSpPr/>
          <p:nvPr/>
        </p:nvSpPr>
        <p:spPr>
          <a:xfrm>
            <a:off x="1041400" y="2971800"/>
            <a:ext cx="4572000" cy="330200"/>
          </a:xfrm>
          <a:prstGeom prst="rect">
            <a:avLst/>
          </a:prstGeom>
          <a:solidFill>
            <a:srgbClr val="1E1E1E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400" b="1">
                <a:solidFill>
                  <a:srgbClr val="A8E6A1"/>
                </a:solidFill>
                <a:latin typeface="Consolas"/>
                <a:cs typeface="Consolas"/>
              </a:rPr>
              <a:t>$ cd hello &amp;&amp; cargo build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8FFC4E2-4DCC-F64E-A93C-CCB362CAD666}"/>
              </a:ext>
            </a:extLst>
          </p:cNvPr>
          <p:cNvSpPr txBox="1"/>
          <p:nvPr/>
        </p:nvSpPr>
        <p:spPr>
          <a:xfrm>
            <a:off x="1041400" y="3327400"/>
            <a:ext cx="4572000" cy="2794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 i="1">
                <a:solidFill>
                  <a:srgbClr val="444444"/>
                </a:solidFill>
              </a:rPr>
              <a:t>Compiles → target/debug/hello (rustc under the hood)</a:t>
            </a: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50D263D8-FF14-B043-BAFD-FF644BB24E86}"/>
              </a:ext>
            </a:extLst>
          </p:cNvPr>
          <p:cNvSpPr/>
          <p:nvPr/>
        </p:nvSpPr>
        <p:spPr>
          <a:xfrm>
            <a:off x="609600" y="3733800"/>
            <a:ext cx="330200" cy="330200"/>
          </a:xfrm>
          <a:prstGeom prst="ellipse">
            <a:avLst/>
          </a:prstGeom>
          <a:solidFill>
            <a:srgbClr val="CE422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4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0E34D489-AC7C-A145-8104-D8A5A9D8F77D}"/>
              </a:ext>
            </a:extLst>
          </p:cNvPr>
          <p:cNvSpPr/>
          <p:nvPr/>
        </p:nvSpPr>
        <p:spPr>
          <a:xfrm>
            <a:off x="1041400" y="3733800"/>
            <a:ext cx="4572000" cy="330200"/>
          </a:xfrm>
          <a:prstGeom prst="rect">
            <a:avLst/>
          </a:prstGeom>
          <a:solidFill>
            <a:srgbClr val="1E1E1E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400" b="1">
                <a:solidFill>
                  <a:srgbClr val="A8E6A1"/>
                </a:solidFill>
                <a:latin typeface="Consolas"/>
                <a:cs typeface="Consolas"/>
              </a:rPr>
              <a:t>$ cargo run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04B6B33-EA20-404F-ABD9-7914D28D40D8}"/>
              </a:ext>
            </a:extLst>
          </p:cNvPr>
          <p:cNvSpPr txBox="1"/>
          <p:nvPr/>
        </p:nvSpPr>
        <p:spPr>
          <a:xfrm>
            <a:off x="1041400" y="4089400"/>
            <a:ext cx="4572000" cy="2794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 i="1">
                <a:solidFill>
                  <a:srgbClr val="444444"/>
                </a:solidFill>
              </a:rPr>
              <a:t>Builds if needed, then runs the binary</a:t>
            </a:r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7B2A2990-8FAB-C94D-AE3C-4449D87DB2A6}"/>
              </a:ext>
            </a:extLst>
          </p:cNvPr>
          <p:cNvSpPr/>
          <p:nvPr/>
        </p:nvSpPr>
        <p:spPr>
          <a:xfrm>
            <a:off x="609600" y="4495800"/>
            <a:ext cx="330200" cy="330200"/>
          </a:xfrm>
          <a:prstGeom prst="ellipse">
            <a:avLst/>
          </a:prstGeom>
          <a:solidFill>
            <a:srgbClr val="CE422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4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3F6EBDA0-130A-5E41-9691-423C921CB2EC}"/>
              </a:ext>
            </a:extLst>
          </p:cNvPr>
          <p:cNvSpPr/>
          <p:nvPr/>
        </p:nvSpPr>
        <p:spPr>
          <a:xfrm>
            <a:off x="1041400" y="4495800"/>
            <a:ext cx="4572000" cy="330200"/>
          </a:xfrm>
          <a:prstGeom prst="rect">
            <a:avLst/>
          </a:prstGeom>
          <a:solidFill>
            <a:srgbClr val="1E1E1E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400" b="1">
                <a:solidFill>
                  <a:srgbClr val="A8E6A1"/>
                </a:solidFill>
                <a:latin typeface="Consolas"/>
                <a:cs typeface="Consolas"/>
              </a:rPr>
              <a:t>$ cargo add rand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45C15CD-2DA7-D94C-8F73-B78993E9540B}"/>
              </a:ext>
            </a:extLst>
          </p:cNvPr>
          <p:cNvSpPr txBox="1"/>
          <p:nvPr/>
        </p:nvSpPr>
        <p:spPr>
          <a:xfrm>
            <a:off x="1041400" y="4851400"/>
            <a:ext cx="4572000" cy="2794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 i="1">
                <a:solidFill>
                  <a:srgbClr val="444444"/>
                </a:solidFill>
              </a:rPr>
              <a:t>Adds dependency to Cargo.toml; fetched from crates.io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EFCE02D2-8101-7542-8AB3-5F1B9007BA20}"/>
              </a:ext>
            </a:extLst>
          </p:cNvPr>
          <p:cNvSpPr txBox="1"/>
          <p:nvPr/>
        </p:nvSpPr>
        <p:spPr>
          <a:xfrm>
            <a:off x="609600" y="5334000"/>
            <a:ext cx="5334000" cy="254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 b="1">
                <a:solidFill>
                  <a:srgbClr val="CE422B"/>
                </a:solidFill>
              </a:rPr>
              <a:t>Cargo.toml (manifest)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F13E302A-135A-174D-AF54-793AC6D9A434}"/>
              </a:ext>
            </a:extLst>
          </p:cNvPr>
          <p:cNvSpPr/>
          <p:nvPr/>
        </p:nvSpPr>
        <p:spPr>
          <a:xfrm>
            <a:off x="609600" y="5613400"/>
            <a:ext cx="5003800" cy="1016000"/>
          </a:xfrm>
          <a:prstGeom prst="rect">
            <a:avLst/>
          </a:prstGeom>
          <a:solidFill>
            <a:srgbClr val="1E1E1E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 anchorCtr="0">
            <a:noAutofit/>
          </a:bodyPr>
          <a:lstStyle/>
          <a:p>
            <a:pPr algn="l"/>
            <a:r>
              <a:rPr lang="en-US" sz="1400">
                <a:solidFill>
                  <a:srgbClr val="F5F5F5"/>
                </a:solidFill>
                <a:latin typeface="Consolas"/>
                <a:cs typeface="Consolas"/>
              </a:rPr>
              <a:t>[package]
name = "hello"
edition = "2021"
[dependencies]
rand = "0.8"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CBF84C88-2665-9945-9C26-CE19C237B72E}"/>
              </a:ext>
            </a:extLst>
          </p:cNvPr>
          <p:cNvSpPr txBox="1"/>
          <p:nvPr/>
        </p:nvSpPr>
        <p:spPr>
          <a:xfrm>
            <a:off x="6146800" y="1828800"/>
            <a:ext cx="5461000" cy="3048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600" b="1">
                <a:solidFill>
                  <a:srgbClr val="CE422B"/>
                </a:solidFill>
              </a:rPr>
              <a:t>2. src/main.rs — basic syntax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83B354F5-2B58-334F-B5CC-007C8D5436E9}"/>
              </a:ext>
            </a:extLst>
          </p:cNvPr>
          <p:cNvSpPr/>
          <p:nvPr/>
        </p:nvSpPr>
        <p:spPr>
          <a:xfrm>
            <a:off x="6146800" y="2209800"/>
            <a:ext cx="5461000" cy="2540000"/>
          </a:xfrm>
          <a:prstGeom prst="rect">
            <a:avLst/>
          </a:prstGeom>
          <a:solidFill>
            <a:srgbClr val="1E1E1E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 anchorCtr="0">
            <a:noAutofit/>
          </a:bodyPr>
          <a:lstStyle/>
          <a:p>
            <a:pPr algn="l"/>
            <a:r>
              <a:rPr lang="en-US" sz="1400">
                <a:solidFill>
                  <a:srgbClr val="F5F5F5"/>
                </a:solidFill>
                <a:latin typeface="Consolas"/>
                <a:cs typeface="Consolas"/>
              </a:rPr>
              <a:t>// Entry point of every Rust program
fn main() {
    let name = "World";
    let count: i32 = 3;
    for i in 1..=count {
        println!("Hello, {}! ({})", name, i);
    }
}</a:t>
            </a:r>
          </a:p>
        </p:txBody>
      </p:sp>
      <p:sp>
        <p:nvSpPr>
          <p:cNvPr id="22" name="Rounded Rectangle 21">
            <a:extLst>
              <a:ext uri="{FF2B5EF4-FFF2-40B4-BE49-F238E27FC236}">
                <a16:creationId xmlns:a16="http://schemas.microsoft.com/office/drawing/2014/main" id="{0E0AC8C0-BB88-8F45-839C-A7814DD90D9B}"/>
              </a:ext>
            </a:extLst>
          </p:cNvPr>
          <p:cNvSpPr/>
          <p:nvPr/>
        </p:nvSpPr>
        <p:spPr>
          <a:xfrm>
            <a:off x="6146800" y="4876800"/>
            <a:ext cx="1397000" cy="279400"/>
          </a:xfrm>
          <a:prstGeom prst="roundRect">
            <a:avLst/>
          </a:prstGeom>
          <a:solidFill>
            <a:srgbClr val="1E1E1E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400" b="1">
                <a:solidFill>
                  <a:srgbClr val="F5F5F5"/>
                </a:solidFill>
                <a:latin typeface="Consolas"/>
                <a:cs typeface="Consolas"/>
              </a:rPr>
              <a:t>fn main()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840EDB3E-17F9-C64E-A97E-489989D93F6D}"/>
              </a:ext>
            </a:extLst>
          </p:cNvPr>
          <p:cNvSpPr txBox="1"/>
          <p:nvPr/>
        </p:nvSpPr>
        <p:spPr>
          <a:xfrm>
            <a:off x="7620000" y="4876800"/>
            <a:ext cx="3987800" cy="2794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spAutoFit/>
          </a:bodyPr>
          <a:lstStyle/>
          <a:p>
            <a:pPr algn="l"/>
            <a:r>
              <a:rPr lang="en-US" sz="1400">
                <a:solidFill>
                  <a:srgbClr val="1E1E1E"/>
                </a:solidFill>
              </a:rPr>
              <a:t>program entry point — required</a:t>
            </a:r>
          </a:p>
        </p:txBody>
      </p:sp>
      <p:sp>
        <p:nvSpPr>
          <p:cNvPr id="24" name="Rounded Rectangle 23">
            <a:extLst>
              <a:ext uri="{FF2B5EF4-FFF2-40B4-BE49-F238E27FC236}">
                <a16:creationId xmlns:a16="http://schemas.microsoft.com/office/drawing/2014/main" id="{A9DC19F7-14E3-E14F-9EF6-1361A191D020}"/>
              </a:ext>
            </a:extLst>
          </p:cNvPr>
          <p:cNvSpPr/>
          <p:nvPr/>
        </p:nvSpPr>
        <p:spPr>
          <a:xfrm>
            <a:off x="6146800" y="5181600"/>
            <a:ext cx="1397000" cy="279400"/>
          </a:xfrm>
          <a:prstGeom prst="roundRect">
            <a:avLst/>
          </a:prstGeom>
          <a:solidFill>
            <a:srgbClr val="1E1E1E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400" b="1">
                <a:solidFill>
                  <a:srgbClr val="F5F5F5"/>
                </a:solidFill>
                <a:latin typeface="Consolas"/>
                <a:cs typeface="Consolas"/>
              </a:rPr>
              <a:t>let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95144CCB-11EF-AF46-A1BB-0D6B2B6C390E}"/>
              </a:ext>
            </a:extLst>
          </p:cNvPr>
          <p:cNvSpPr txBox="1"/>
          <p:nvPr/>
        </p:nvSpPr>
        <p:spPr>
          <a:xfrm>
            <a:off x="7620000" y="5181600"/>
            <a:ext cx="3987800" cy="2794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spAutoFit/>
          </a:bodyPr>
          <a:lstStyle/>
          <a:p>
            <a:pPr algn="l"/>
            <a:r>
              <a:rPr lang="en-US" sz="1400">
                <a:solidFill>
                  <a:srgbClr val="1E1E1E"/>
                </a:solidFill>
              </a:rPr>
              <a:t>immutable binding (let mut to mutate)</a:t>
            </a:r>
          </a:p>
        </p:txBody>
      </p:sp>
      <p:sp>
        <p:nvSpPr>
          <p:cNvPr id="26" name="Rounded Rectangle 25">
            <a:extLst>
              <a:ext uri="{FF2B5EF4-FFF2-40B4-BE49-F238E27FC236}">
                <a16:creationId xmlns:a16="http://schemas.microsoft.com/office/drawing/2014/main" id="{024766AC-DE24-4341-8961-9D3743F848D5}"/>
              </a:ext>
            </a:extLst>
          </p:cNvPr>
          <p:cNvSpPr/>
          <p:nvPr/>
        </p:nvSpPr>
        <p:spPr>
          <a:xfrm>
            <a:off x="6146800" y="5486400"/>
            <a:ext cx="1397000" cy="279400"/>
          </a:xfrm>
          <a:prstGeom prst="roundRect">
            <a:avLst/>
          </a:prstGeom>
          <a:solidFill>
            <a:srgbClr val="1E1E1E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400" b="1">
                <a:solidFill>
                  <a:srgbClr val="F5F5F5"/>
                </a:solidFill>
                <a:latin typeface="Consolas"/>
                <a:cs typeface="Consolas"/>
              </a:rPr>
              <a:t>: i32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9D763AAF-79C4-DE4B-AE95-6C0D387456B8}"/>
              </a:ext>
            </a:extLst>
          </p:cNvPr>
          <p:cNvSpPr txBox="1"/>
          <p:nvPr/>
        </p:nvSpPr>
        <p:spPr>
          <a:xfrm>
            <a:off x="7620000" y="5486400"/>
            <a:ext cx="3987800" cy="2794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spAutoFit/>
          </a:bodyPr>
          <a:lstStyle/>
          <a:p>
            <a:pPr algn="l"/>
            <a:r>
              <a:rPr lang="en-US" sz="1400">
                <a:solidFill>
                  <a:srgbClr val="1E1E1E"/>
                </a:solidFill>
              </a:rPr>
              <a:t>type annotation — 32-bit signed int</a:t>
            </a:r>
          </a:p>
        </p:txBody>
      </p:sp>
      <p:sp>
        <p:nvSpPr>
          <p:cNvPr id="28" name="Rounded Rectangle 27">
            <a:extLst>
              <a:ext uri="{FF2B5EF4-FFF2-40B4-BE49-F238E27FC236}">
                <a16:creationId xmlns:a16="http://schemas.microsoft.com/office/drawing/2014/main" id="{AC5CE2CD-78CF-4E40-AC7A-A5C02FD5AB47}"/>
              </a:ext>
            </a:extLst>
          </p:cNvPr>
          <p:cNvSpPr/>
          <p:nvPr/>
        </p:nvSpPr>
        <p:spPr>
          <a:xfrm>
            <a:off x="6146800" y="5791200"/>
            <a:ext cx="1397000" cy="279400"/>
          </a:xfrm>
          <a:prstGeom prst="roundRect">
            <a:avLst/>
          </a:prstGeom>
          <a:solidFill>
            <a:srgbClr val="1E1E1E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400" b="1">
                <a:solidFill>
                  <a:srgbClr val="F5F5F5"/>
                </a:solidFill>
                <a:latin typeface="Consolas"/>
                <a:cs typeface="Consolas"/>
              </a:rPr>
              <a:t>1..=count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A1F7DD12-9F5B-0345-8529-B94F12F93595}"/>
              </a:ext>
            </a:extLst>
          </p:cNvPr>
          <p:cNvSpPr txBox="1"/>
          <p:nvPr/>
        </p:nvSpPr>
        <p:spPr>
          <a:xfrm>
            <a:off x="7620000" y="5791200"/>
            <a:ext cx="3987800" cy="2794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spAutoFit/>
          </a:bodyPr>
          <a:lstStyle/>
          <a:p>
            <a:pPr algn="l"/>
            <a:r>
              <a:rPr lang="en-US" sz="1400">
                <a:solidFill>
                  <a:srgbClr val="1E1E1E"/>
                </a:solidFill>
              </a:rPr>
              <a:t>inclusive range (1, 2, 3)</a:t>
            </a:r>
          </a:p>
        </p:txBody>
      </p:sp>
      <p:sp>
        <p:nvSpPr>
          <p:cNvPr id="30" name="Rounded Rectangle 29">
            <a:extLst>
              <a:ext uri="{FF2B5EF4-FFF2-40B4-BE49-F238E27FC236}">
                <a16:creationId xmlns:a16="http://schemas.microsoft.com/office/drawing/2014/main" id="{42B95288-8C3B-BA4A-9CD1-9E1CC029044F}"/>
              </a:ext>
            </a:extLst>
          </p:cNvPr>
          <p:cNvSpPr/>
          <p:nvPr/>
        </p:nvSpPr>
        <p:spPr>
          <a:xfrm>
            <a:off x="6146800" y="6096000"/>
            <a:ext cx="1397000" cy="279400"/>
          </a:xfrm>
          <a:prstGeom prst="roundRect">
            <a:avLst/>
          </a:prstGeom>
          <a:solidFill>
            <a:srgbClr val="1E1E1E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400" b="1">
                <a:solidFill>
                  <a:srgbClr val="F5F5F5"/>
                </a:solidFill>
                <a:latin typeface="Consolas"/>
                <a:cs typeface="Consolas"/>
              </a:rPr>
              <a:t>println!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AF283218-4B7D-3C40-AECD-FB76E4F7DCEF}"/>
              </a:ext>
            </a:extLst>
          </p:cNvPr>
          <p:cNvSpPr txBox="1"/>
          <p:nvPr/>
        </p:nvSpPr>
        <p:spPr>
          <a:xfrm>
            <a:off x="7620000" y="6096000"/>
            <a:ext cx="3987800" cy="2794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spAutoFit/>
          </a:bodyPr>
          <a:lstStyle/>
          <a:p>
            <a:pPr algn="l"/>
            <a:r>
              <a:rPr lang="en-US" sz="1400">
                <a:solidFill>
                  <a:srgbClr val="1E1E1E"/>
                </a:solidFill>
              </a:rPr>
              <a:t>macro (note the !) — formatted print</a:t>
            </a:r>
          </a:p>
        </p:txBody>
      </p:sp>
      <p:sp>
        <p:nvSpPr>
          <p:cNvPr id="32" name="Rounded Rectangle 31">
            <a:extLst>
              <a:ext uri="{FF2B5EF4-FFF2-40B4-BE49-F238E27FC236}">
                <a16:creationId xmlns:a16="http://schemas.microsoft.com/office/drawing/2014/main" id="{C6391F21-2401-E441-B529-1B6F84043477}"/>
              </a:ext>
            </a:extLst>
          </p:cNvPr>
          <p:cNvSpPr/>
          <p:nvPr/>
        </p:nvSpPr>
        <p:spPr>
          <a:xfrm>
            <a:off x="6146800" y="6400800"/>
            <a:ext cx="1397000" cy="279400"/>
          </a:xfrm>
          <a:prstGeom prst="roundRect">
            <a:avLst/>
          </a:prstGeom>
          <a:solidFill>
            <a:srgbClr val="1E1E1E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400" b="1">
                <a:solidFill>
                  <a:srgbClr val="F5F5F5"/>
                </a:solidFill>
                <a:latin typeface="Consolas"/>
                <a:cs typeface="Consolas"/>
              </a:rPr>
              <a:t>{}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8ADC0269-FA85-E244-A2C8-52E49636F470}"/>
              </a:ext>
            </a:extLst>
          </p:cNvPr>
          <p:cNvSpPr txBox="1"/>
          <p:nvPr/>
        </p:nvSpPr>
        <p:spPr>
          <a:xfrm>
            <a:off x="7620000" y="6400800"/>
            <a:ext cx="3987800" cy="2794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spAutoFit/>
          </a:bodyPr>
          <a:lstStyle/>
          <a:p>
            <a:pPr algn="l"/>
            <a:r>
              <a:rPr lang="en-US" sz="1400">
                <a:solidFill>
                  <a:srgbClr val="1E1E1E"/>
                </a:solidFill>
              </a:rPr>
              <a:t>placeholder filled by following args</a:t>
            </a:r>
          </a:p>
        </p:txBody>
      </p:sp>
    </p:spTree>
    <p:extLst>
      <p:ext uri="{BB962C8B-B14F-4D97-AF65-F5344CB8AC3E}">
        <p14:creationId xmlns:p14="http://schemas.microsoft.com/office/powerpoint/2010/main" val="305368173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AF460415-12B7-6545-B56C-43C6EF3692CC}"/>
              </a:ext>
            </a:extLst>
          </p:cNvPr>
          <p:cNvSpPr txBox="1"/>
          <p:nvPr/>
        </p:nvSpPr>
        <p:spPr>
          <a:xfrm>
            <a:off x="508000" y="254000"/>
            <a:ext cx="11176000" cy="635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3200" b="1">
                <a:solidFill>
                  <a:srgbClr val="1F2937"/>
                </a:solidFill>
              </a:rPr>
              <a:t>Stack vs Heap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7CCD0A6-FF5E-7648-B427-1C7A28447B60}"/>
              </a:ext>
            </a:extLst>
          </p:cNvPr>
          <p:cNvSpPr txBox="1"/>
          <p:nvPr/>
        </p:nvSpPr>
        <p:spPr>
          <a:xfrm>
            <a:off x="508000" y="863600"/>
            <a:ext cx="11176000" cy="3302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 i="1">
                <a:solidFill>
                  <a:srgbClr val="6B7280"/>
                </a:solidFill>
              </a:rPr>
              <a:t>Two regions of memory with very different rules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0FE8B57-40C8-6842-9646-E99841811BF0}"/>
              </a:ext>
            </a:extLst>
          </p:cNvPr>
          <p:cNvSpPr/>
          <p:nvPr/>
        </p:nvSpPr>
        <p:spPr>
          <a:xfrm>
            <a:off x="635000" y="1397000"/>
            <a:ext cx="5334000" cy="558800"/>
          </a:xfrm>
          <a:prstGeom prst="rect">
            <a:avLst/>
          </a:prstGeom>
          <a:solidFill>
            <a:srgbClr val="2E7D6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ctr" anchorCtr="0">
            <a:noAutofit/>
          </a:bodyPr>
          <a:lstStyle/>
          <a:p>
            <a:pPr algn="l"/>
            <a:r>
              <a:rPr lang="en-US" sz="2000" b="1">
                <a:solidFill>
                  <a:srgbClr val="FFFFFF"/>
                </a:solidFill>
              </a:rPr>
              <a:t>STACK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09187511-D0D4-3145-A758-F3F574ED5DC6}"/>
              </a:ext>
            </a:extLst>
          </p:cNvPr>
          <p:cNvSpPr/>
          <p:nvPr/>
        </p:nvSpPr>
        <p:spPr>
          <a:xfrm>
            <a:off x="1016000" y="2159000"/>
            <a:ext cx="2032000" cy="381000"/>
          </a:xfrm>
          <a:prstGeom prst="rect">
            <a:avLst/>
          </a:prstGeom>
          <a:solidFill>
            <a:srgbClr val="E8F1EE"/>
          </a:solidFill>
          <a:ln w="19050" cap="flat" cmpd="sng" algn="ctr">
            <a:solidFill>
              <a:srgbClr val="2E7D6B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ctr" anchorCtr="0">
            <a:noAutofit/>
          </a:bodyPr>
          <a:lstStyle/>
          <a:p>
            <a:pPr algn="l"/>
            <a:r>
              <a:rPr lang="en-US" sz="1400">
                <a:solidFill>
                  <a:srgbClr val="1F2937"/>
                </a:solidFill>
              </a:rPr>
              <a:t>main()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3800CAA-E6E2-1B4E-A965-00EC912BCAFD}"/>
              </a:ext>
            </a:extLst>
          </p:cNvPr>
          <p:cNvSpPr/>
          <p:nvPr/>
        </p:nvSpPr>
        <p:spPr>
          <a:xfrm>
            <a:off x="1016000" y="2590800"/>
            <a:ext cx="2032000" cy="381000"/>
          </a:xfrm>
          <a:prstGeom prst="rect">
            <a:avLst/>
          </a:prstGeom>
          <a:solidFill>
            <a:srgbClr val="E8F1EE"/>
          </a:solidFill>
          <a:ln w="19050" cap="flat" cmpd="sng" algn="ctr">
            <a:solidFill>
              <a:srgbClr val="2E7D6B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ctr" anchorCtr="0">
            <a:noAutofit/>
          </a:bodyPr>
          <a:lstStyle/>
          <a:p>
            <a:pPr algn="l"/>
            <a:r>
              <a:rPr lang="en-US" sz="1400">
                <a:solidFill>
                  <a:srgbClr val="1F2937"/>
                </a:solidFill>
              </a:rPr>
              <a:t>foo()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6C9CD31F-0619-1D44-92B0-F81355EC43C3}"/>
              </a:ext>
            </a:extLst>
          </p:cNvPr>
          <p:cNvSpPr/>
          <p:nvPr/>
        </p:nvSpPr>
        <p:spPr>
          <a:xfrm>
            <a:off x="1016000" y="3022600"/>
            <a:ext cx="2032000" cy="381000"/>
          </a:xfrm>
          <a:prstGeom prst="rect">
            <a:avLst/>
          </a:prstGeom>
          <a:solidFill>
            <a:srgbClr val="E8F1EE"/>
          </a:solidFill>
          <a:ln w="19050" cap="flat" cmpd="sng" algn="ctr">
            <a:solidFill>
              <a:srgbClr val="2E7D6B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ctr" anchorCtr="0">
            <a:noAutofit/>
          </a:bodyPr>
          <a:lstStyle/>
          <a:p>
            <a:pPr algn="l"/>
            <a:r>
              <a:rPr lang="en-US" sz="1400" b="1">
                <a:solidFill>
                  <a:srgbClr val="1F2937"/>
                </a:solidFill>
              </a:rPr>
              <a:t>bar()  ← top</a:t>
            </a:r>
          </a:p>
        </p:txBody>
      </p:sp>
      <p:sp>
        <p:nvSpPr>
          <p:cNvPr id="10" name="Down Arrow 9">
            <a:extLst>
              <a:ext uri="{FF2B5EF4-FFF2-40B4-BE49-F238E27FC236}">
                <a16:creationId xmlns:a16="http://schemas.microsoft.com/office/drawing/2014/main" id="{09463426-06A9-3444-A682-2B8E6C0C7C02}"/>
              </a:ext>
            </a:extLst>
          </p:cNvPr>
          <p:cNvSpPr/>
          <p:nvPr/>
        </p:nvSpPr>
        <p:spPr>
          <a:xfrm>
            <a:off x="3251200" y="2260600"/>
            <a:ext cx="304800" cy="1143000"/>
          </a:xfrm>
          <a:prstGeom prst="downArrow">
            <a:avLst/>
          </a:prstGeom>
          <a:solidFill>
            <a:srgbClr val="2E7D6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52370C5-CE44-8F4C-B8CF-4217DB2704E9}"/>
              </a:ext>
            </a:extLst>
          </p:cNvPr>
          <p:cNvSpPr txBox="1"/>
          <p:nvPr/>
        </p:nvSpPr>
        <p:spPr>
          <a:xfrm>
            <a:off x="3606800" y="2413000"/>
            <a:ext cx="889000" cy="635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100" i="1">
                <a:solidFill>
                  <a:srgbClr val="2E7D6B"/>
                </a:solidFill>
              </a:rPr>
              <a:t>grows
down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6E1A4F1-A9BA-3B45-8A75-6A5B3551EE97}"/>
              </a:ext>
            </a:extLst>
          </p:cNvPr>
          <p:cNvSpPr txBox="1"/>
          <p:nvPr/>
        </p:nvSpPr>
        <p:spPr>
          <a:xfrm>
            <a:off x="838200" y="3683000"/>
            <a:ext cx="4927600" cy="1349087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marL="228600" indent="-228600">
              <a:spcBef>
                <a:spcPts val="200"/>
              </a:spcBef>
              <a:buFont typeface="Arial"/>
              <a:buChar char="•"/>
            </a:pPr>
            <a:r>
              <a:rPr lang="en-US" sz="1500" dirty="0">
                <a:solidFill>
                  <a:srgbClr val="1F2937"/>
                </a:solidFill>
              </a:rPr>
              <a:t>Fast: just move a pointer</a:t>
            </a:r>
          </a:p>
          <a:p>
            <a:pPr marL="228600" indent="-228600">
              <a:spcBef>
                <a:spcPts val="200"/>
              </a:spcBef>
              <a:buFont typeface="Arial"/>
              <a:buChar char="•"/>
            </a:pPr>
            <a:r>
              <a:rPr lang="en-US" sz="1500" dirty="0">
                <a:solidFill>
                  <a:srgbClr val="1F2937"/>
                </a:solidFill>
              </a:rPr>
              <a:t>LIFO: push on call, pop on return</a:t>
            </a:r>
          </a:p>
          <a:p>
            <a:pPr marL="228600" indent="-228600">
              <a:spcBef>
                <a:spcPts val="200"/>
              </a:spcBef>
              <a:buFont typeface="Arial"/>
              <a:buChar char="•"/>
            </a:pPr>
            <a:r>
              <a:rPr lang="en-US" sz="1500" dirty="0">
                <a:solidFill>
                  <a:srgbClr val="1F2937"/>
                </a:solidFill>
              </a:rPr>
              <a:t>Fixed, known size at compile time</a:t>
            </a:r>
          </a:p>
          <a:p>
            <a:pPr marL="228600" indent="-228600">
              <a:spcBef>
                <a:spcPts val="200"/>
              </a:spcBef>
              <a:buFont typeface="Arial"/>
              <a:buChar char="•"/>
            </a:pPr>
            <a:r>
              <a:rPr lang="en-US" sz="1500" dirty="0">
                <a:solidFill>
                  <a:srgbClr val="1F2937"/>
                </a:solidFill>
              </a:rPr>
              <a:t>Auto-freed when function exits</a:t>
            </a:r>
          </a:p>
          <a:p>
            <a:pPr marL="228600" indent="-228600">
              <a:spcBef>
                <a:spcPts val="200"/>
              </a:spcBef>
              <a:buFont typeface="Arial"/>
              <a:buChar char="•"/>
            </a:pPr>
            <a:r>
              <a:rPr lang="en-US" sz="1500" dirty="0">
                <a:solidFill>
                  <a:srgbClr val="1F2937"/>
                </a:solidFill>
              </a:rPr>
              <a:t>Limited capacity (~MBs)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DD112547-1444-7041-9D89-CABE5D7B2B40}"/>
              </a:ext>
            </a:extLst>
          </p:cNvPr>
          <p:cNvSpPr/>
          <p:nvPr/>
        </p:nvSpPr>
        <p:spPr>
          <a:xfrm>
            <a:off x="6223000" y="1397000"/>
            <a:ext cx="5334000" cy="558800"/>
          </a:xfrm>
          <a:prstGeom prst="rect">
            <a:avLst/>
          </a:prstGeom>
          <a:solidFill>
            <a:srgbClr val="C65D3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ctr" anchorCtr="0">
            <a:noAutofit/>
          </a:bodyPr>
          <a:lstStyle/>
          <a:p>
            <a:pPr algn="l"/>
            <a:r>
              <a:rPr lang="en-US" sz="2000" b="1">
                <a:solidFill>
                  <a:srgbClr val="FFFFFF"/>
                </a:solidFill>
              </a:rPr>
              <a:t>HEAP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209F53F5-4304-4B43-93BF-A881E6CF9AD2}"/>
              </a:ext>
            </a:extLst>
          </p:cNvPr>
          <p:cNvSpPr/>
          <p:nvPr/>
        </p:nvSpPr>
        <p:spPr>
          <a:xfrm>
            <a:off x="6604000" y="2159000"/>
            <a:ext cx="889000" cy="482600"/>
          </a:xfrm>
          <a:prstGeom prst="rect">
            <a:avLst/>
          </a:prstGeom>
          <a:solidFill>
            <a:srgbClr val="FBEBE3"/>
          </a:solidFill>
          <a:ln w="19050" cap="flat" cmpd="sng" algn="ctr">
            <a:solidFill>
              <a:srgbClr val="C65D3A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ctr" anchorCtr="0">
            <a:noAutofit/>
          </a:bodyPr>
          <a:lstStyle/>
          <a:p>
            <a:pPr algn="l"/>
            <a:r>
              <a:rPr lang="en-US" sz="1100">
                <a:solidFill>
                  <a:srgbClr val="1F2937"/>
                </a:solidFill>
              </a:rPr>
              <a:t>0x42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24EA0222-6806-D046-839F-E650BD009558}"/>
              </a:ext>
            </a:extLst>
          </p:cNvPr>
          <p:cNvSpPr/>
          <p:nvPr/>
        </p:nvSpPr>
        <p:spPr>
          <a:xfrm>
            <a:off x="7874000" y="2286000"/>
            <a:ext cx="1143000" cy="355600"/>
          </a:xfrm>
          <a:prstGeom prst="rect">
            <a:avLst/>
          </a:prstGeom>
          <a:solidFill>
            <a:srgbClr val="FBEBE3"/>
          </a:solidFill>
          <a:ln w="19050" cap="flat" cmpd="sng" algn="ctr">
            <a:solidFill>
              <a:srgbClr val="C65D3A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ctr" anchorCtr="0">
            <a:noAutofit/>
          </a:bodyPr>
          <a:lstStyle/>
          <a:p>
            <a:pPr algn="l"/>
            <a:r>
              <a:rPr lang="en-US" sz="1100">
                <a:solidFill>
                  <a:srgbClr val="1F2937"/>
                </a:solidFill>
              </a:rPr>
              <a:t>0xA1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D3780FA2-A884-394E-8B97-67B6D6DB9BE0}"/>
              </a:ext>
            </a:extLst>
          </p:cNvPr>
          <p:cNvSpPr/>
          <p:nvPr/>
        </p:nvSpPr>
        <p:spPr>
          <a:xfrm>
            <a:off x="9398000" y="2133600"/>
            <a:ext cx="762000" cy="635000"/>
          </a:xfrm>
          <a:prstGeom prst="rect">
            <a:avLst/>
          </a:prstGeom>
          <a:solidFill>
            <a:srgbClr val="FBEBE3"/>
          </a:solidFill>
          <a:ln w="19050" cap="flat" cmpd="sng" algn="ctr">
            <a:solidFill>
              <a:srgbClr val="C65D3A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ctr" anchorCtr="0">
            <a:noAutofit/>
          </a:bodyPr>
          <a:lstStyle/>
          <a:p>
            <a:pPr algn="l"/>
            <a:r>
              <a:rPr lang="en-US" sz="1100">
                <a:solidFill>
                  <a:srgbClr val="1F2937"/>
                </a:solidFill>
              </a:rPr>
              <a:t>0x7F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FF613566-A647-0341-8EBD-B3BBB8C22C66}"/>
              </a:ext>
            </a:extLst>
          </p:cNvPr>
          <p:cNvSpPr/>
          <p:nvPr/>
        </p:nvSpPr>
        <p:spPr>
          <a:xfrm>
            <a:off x="6985000" y="2794000"/>
            <a:ext cx="1270000" cy="406400"/>
          </a:xfrm>
          <a:prstGeom prst="rect">
            <a:avLst/>
          </a:prstGeom>
          <a:solidFill>
            <a:srgbClr val="FBEBE3"/>
          </a:solidFill>
          <a:ln w="19050" cap="flat" cmpd="sng" algn="ctr">
            <a:solidFill>
              <a:srgbClr val="C65D3A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ctr" anchorCtr="0">
            <a:noAutofit/>
          </a:bodyPr>
          <a:lstStyle/>
          <a:p>
            <a:pPr algn="l"/>
            <a:r>
              <a:rPr lang="en-US" sz="1100">
                <a:solidFill>
                  <a:srgbClr val="1F2937"/>
                </a:solidFill>
              </a:rPr>
              <a:t>0xC3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B9278355-07B2-894C-880F-0FA8264FCFCD}"/>
              </a:ext>
            </a:extLst>
          </p:cNvPr>
          <p:cNvSpPr/>
          <p:nvPr/>
        </p:nvSpPr>
        <p:spPr>
          <a:xfrm>
            <a:off x="8763000" y="2870200"/>
            <a:ext cx="889000" cy="381000"/>
          </a:xfrm>
          <a:prstGeom prst="rect">
            <a:avLst/>
          </a:prstGeom>
          <a:solidFill>
            <a:srgbClr val="FBEBE3"/>
          </a:solidFill>
          <a:ln w="19050" cap="flat" cmpd="sng" algn="ctr">
            <a:solidFill>
              <a:srgbClr val="C65D3A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ctr" anchorCtr="0">
            <a:noAutofit/>
          </a:bodyPr>
          <a:lstStyle/>
          <a:p>
            <a:pPr algn="l"/>
            <a:r>
              <a:rPr lang="en-US" sz="1100">
                <a:solidFill>
                  <a:srgbClr val="1F2937"/>
                </a:solidFill>
              </a:rPr>
              <a:t>0x12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23A1C52A-1F4F-9D44-BE63-D74630CA3348}"/>
              </a:ext>
            </a:extLst>
          </p:cNvPr>
          <p:cNvSpPr txBox="1"/>
          <p:nvPr/>
        </p:nvSpPr>
        <p:spPr>
          <a:xfrm>
            <a:off x="10287000" y="2413000"/>
            <a:ext cx="1143000" cy="635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100" i="1">
                <a:solidFill>
                  <a:srgbClr val="C65D3A"/>
                </a:solidFill>
              </a:rPr>
              <a:t>scattered
allocations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56E09632-EB15-4D46-99BF-C5DD348815E7}"/>
              </a:ext>
            </a:extLst>
          </p:cNvPr>
          <p:cNvSpPr txBox="1"/>
          <p:nvPr/>
        </p:nvSpPr>
        <p:spPr>
          <a:xfrm>
            <a:off x="6426200" y="3683000"/>
            <a:ext cx="4927600" cy="1349087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marL="228600" indent="-228600">
              <a:spcBef>
                <a:spcPts val="200"/>
              </a:spcBef>
              <a:buFont typeface="Arial"/>
              <a:buChar char="•"/>
            </a:pPr>
            <a:r>
              <a:rPr lang="en-US" sz="1500" dirty="0">
                <a:solidFill>
                  <a:srgbClr val="1F2937"/>
                </a:solidFill>
              </a:rPr>
              <a:t>Slower: allocator finds free space</a:t>
            </a:r>
          </a:p>
          <a:p>
            <a:pPr marL="228600" indent="-228600">
              <a:spcBef>
                <a:spcPts val="200"/>
              </a:spcBef>
              <a:buFont typeface="Arial"/>
              <a:buChar char="•"/>
            </a:pPr>
            <a:r>
              <a:rPr lang="en-US" sz="1500" dirty="0">
                <a:solidFill>
                  <a:srgbClr val="1F2937"/>
                </a:solidFill>
              </a:rPr>
              <a:t>Any order: alloc &amp; free anytime</a:t>
            </a:r>
          </a:p>
          <a:p>
            <a:pPr marL="228600" indent="-228600">
              <a:spcBef>
                <a:spcPts val="200"/>
              </a:spcBef>
              <a:buFont typeface="Arial"/>
              <a:buChar char="•"/>
            </a:pPr>
            <a:r>
              <a:rPr lang="en-US" sz="1500" dirty="0">
                <a:solidFill>
                  <a:srgbClr val="1F2937"/>
                </a:solidFill>
              </a:rPr>
              <a:t>Dynamic size, decided at runtime</a:t>
            </a:r>
          </a:p>
          <a:p>
            <a:pPr marL="228600" indent="-228600">
              <a:spcBef>
                <a:spcPts val="200"/>
              </a:spcBef>
              <a:buFont typeface="Arial"/>
              <a:buChar char="•"/>
            </a:pPr>
            <a:r>
              <a:rPr lang="en-US" sz="1500" dirty="0">
                <a:solidFill>
                  <a:srgbClr val="1F2937"/>
                </a:solidFill>
              </a:rPr>
              <a:t>You manage lifetime (or GC does)</a:t>
            </a:r>
          </a:p>
          <a:p>
            <a:pPr marL="228600" indent="-228600">
              <a:spcBef>
                <a:spcPts val="200"/>
              </a:spcBef>
              <a:buFont typeface="Arial"/>
              <a:buChar char="•"/>
            </a:pPr>
            <a:r>
              <a:rPr lang="en-US" sz="1500" dirty="0">
                <a:solidFill>
                  <a:srgbClr val="1F2937"/>
                </a:solidFill>
              </a:rPr>
              <a:t>Large capacity (~GBs)</a:t>
            </a:r>
          </a:p>
        </p:txBody>
      </p:sp>
    </p:spTree>
    <p:extLst>
      <p:ext uri="{BB962C8B-B14F-4D97-AF65-F5344CB8AC3E}">
        <p14:creationId xmlns:p14="http://schemas.microsoft.com/office/powerpoint/2010/main" val="275572307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A029FA-9CEF-87E5-1B98-F83EDEF9A8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Rust Ownership: Move, Borrow, Mutable Borrow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8EBD4656-08E4-3741-906C-F162E2926E9E}"/>
              </a:ext>
            </a:extLst>
          </p:cNvPr>
          <p:cNvSpPr/>
          <p:nvPr/>
        </p:nvSpPr>
        <p:spPr>
          <a:xfrm>
            <a:off x="609600" y="1905000"/>
            <a:ext cx="3251200" cy="482600"/>
          </a:xfrm>
          <a:prstGeom prst="rect">
            <a:avLst/>
          </a:prstGeom>
          <a:solidFill>
            <a:srgbClr val="C0392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600" b="1">
                <a:solidFill>
                  <a:srgbClr val="FFFFFF"/>
                </a:solidFill>
              </a:rPr>
              <a:t>MOVE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1F17326-2FEE-2B4C-8654-280E2E4AE584}"/>
              </a:ext>
            </a:extLst>
          </p:cNvPr>
          <p:cNvSpPr txBox="1"/>
          <p:nvPr/>
        </p:nvSpPr>
        <p:spPr>
          <a:xfrm>
            <a:off x="609600" y="2413000"/>
            <a:ext cx="3251200" cy="2794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 i="1">
                <a:solidFill>
                  <a:srgbClr val="555555"/>
                </a:solidFill>
              </a:rPr>
              <a:t>Ownership transfers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558C532-931B-6B42-AC70-AF0FC301AB52}"/>
              </a:ext>
            </a:extLst>
          </p:cNvPr>
          <p:cNvSpPr/>
          <p:nvPr/>
        </p:nvSpPr>
        <p:spPr>
          <a:xfrm>
            <a:off x="4470400" y="1905000"/>
            <a:ext cx="3251200" cy="482600"/>
          </a:xfrm>
          <a:prstGeom prst="rect">
            <a:avLst/>
          </a:prstGeom>
          <a:solidFill>
            <a:srgbClr val="1F5F7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600" b="1">
                <a:solidFill>
                  <a:srgbClr val="FFFFFF"/>
                </a:solidFill>
              </a:rPr>
              <a:t>BORROW (&amp;)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BEFAA42-9209-3F46-B072-CD3DAFF778AC}"/>
              </a:ext>
            </a:extLst>
          </p:cNvPr>
          <p:cNvSpPr txBox="1"/>
          <p:nvPr/>
        </p:nvSpPr>
        <p:spPr>
          <a:xfrm>
            <a:off x="4470400" y="2413000"/>
            <a:ext cx="3251200" cy="2794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 i="1">
                <a:solidFill>
                  <a:srgbClr val="555555"/>
                </a:solidFill>
              </a:rPr>
              <a:t>Read-only reference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6267667-40F9-4F4F-A28F-4AA8491BE66A}"/>
              </a:ext>
            </a:extLst>
          </p:cNvPr>
          <p:cNvSpPr/>
          <p:nvPr/>
        </p:nvSpPr>
        <p:spPr>
          <a:xfrm>
            <a:off x="8331200" y="1905000"/>
            <a:ext cx="3251200" cy="482600"/>
          </a:xfrm>
          <a:prstGeom prst="rect">
            <a:avLst/>
          </a:prstGeom>
          <a:solidFill>
            <a:srgbClr val="117A3D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600" b="1">
                <a:solidFill>
                  <a:srgbClr val="FFFFFF"/>
                </a:solidFill>
              </a:rPr>
              <a:t>MUT BORROW (&amp;mut)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7E5BB27-4965-044B-A3AF-932E806205EB}"/>
              </a:ext>
            </a:extLst>
          </p:cNvPr>
          <p:cNvSpPr txBox="1"/>
          <p:nvPr/>
        </p:nvSpPr>
        <p:spPr>
          <a:xfrm>
            <a:off x="8331200" y="2413000"/>
            <a:ext cx="3251200" cy="2794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 i="1">
                <a:solidFill>
                  <a:srgbClr val="555555"/>
                </a:solidFill>
              </a:rPr>
              <a:t>Exclusive write access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C321C5D-9CA5-BD4D-86FF-D92023AEDFCE}"/>
              </a:ext>
            </a:extLst>
          </p:cNvPr>
          <p:cNvSpPr/>
          <p:nvPr/>
        </p:nvSpPr>
        <p:spPr>
          <a:xfrm>
            <a:off x="609600" y="2768600"/>
            <a:ext cx="3251200" cy="1905000"/>
          </a:xfrm>
          <a:prstGeom prst="rect">
            <a:avLst/>
          </a:prstGeom>
          <a:solidFill>
            <a:srgbClr val="1E1E1E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 anchorCtr="0">
            <a:noAutofit/>
          </a:bodyPr>
          <a:lstStyle/>
          <a:p>
            <a:pPr algn="l"/>
            <a:r>
              <a:rPr lang="en-US" sz="1400">
                <a:solidFill>
                  <a:srgbClr val="F5F5F5"/>
                </a:solidFill>
                <a:latin typeface="Consolas"/>
                <a:cs typeface="Consolas"/>
              </a:rPr>
              <a:t>let s1 = String::from("hi");
let s2 = s1;
// s1 is INVALID now
// println!("{}", s1); ❌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9542068B-8144-4F45-A4A2-E423CEB7AA5C}"/>
              </a:ext>
            </a:extLst>
          </p:cNvPr>
          <p:cNvSpPr/>
          <p:nvPr/>
        </p:nvSpPr>
        <p:spPr>
          <a:xfrm>
            <a:off x="4470400" y="2768600"/>
            <a:ext cx="3251200" cy="1905000"/>
          </a:xfrm>
          <a:prstGeom prst="rect">
            <a:avLst/>
          </a:prstGeom>
          <a:solidFill>
            <a:srgbClr val="1E1E1E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 anchorCtr="0">
            <a:noAutofit/>
          </a:bodyPr>
          <a:lstStyle/>
          <a:p>
            <a:pPr algn="l"/>
            <a:r>
              <a:rPr lang="en-US" sz="1400">
                <a:solidFill>
                  <a:srgbClr val="F5F5F5"/>
                </a:solidFill>
                <a:latin typeface="Consolas"/>
                <a:cs typeface="Consolas"/>
              </a:rPr>
              <a:t>let s = String::from("hi");
let r1 = &amp;s;
let r2 = &amp;s;
println!("{} {}", r1, r2); ✓
// many readers OK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18BE9106-6547-7F4B-9CEB-FF910ED1D381}"/>
              </a:ext>
            </a:extLst>
          </p:cNvPr>
          <p:cNvSpPr/>
          <p:nvPr/>
        </p:nvSpPr>
        <p:spPr>
          <a:xfrm>
            <a:off x="8331200" y="2768600"/>
            <a:ext cx="3251200" cy="1905000"/>
          </a:xfrm>
          <a:prstGeom prst="rect">
            <a:avLst/>
          </a:prstGeom>
          <a:solidFill>
            <a:srgbClr val="1E1E1E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 anchorCtr="0">
            <a:noAutofit/>
          </a:bodyPr>
          <a:lstStyle/>
          <a:p>
            <a:pPr algn="l"/>
            <a:r>
              <a:rPr lang="en-US" sz="1400">
                <a:solidFill>
                  <a:srgbClr val="F5F5F5"/>
                </a:solidFill>
                <a:latin typeface="Consolas"/>
                <a:cs typeface="Consolas"/>
              </a:rPr>
              <a:t>let mut s = String::from("hi");
let r = &amp;mut s;
r.push_str("!");
// only ONE &amp;mut
// no &amp; while &amp;mut lives</a:t>
            </a:r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F463779E-7D50-5742-A045-D564BB2857BC}"/>
              </a:ext>
            </a:extLst>
          </p:cNvPr>
          <p:cNvSpPr/>
          <p:nvPr/>
        </p:nvSpPr>
        <p:spPr>
          <a:xfrm>
            <a:off x="660400" y="4953000"/>
            <a:ext cx="762000" cy="355600"/>
          </a:xfrm>
          <a:prstGeom prst="roundRect">
            <a:avLst/>
          </a:prstGeom>
          <a:solidFill>
            <a:srgbClr val="FADBD8"/>
          </a:solidFill>
          <a:ln w="9525" cap="flat" cmpd="sng" algn="ctr">
            <a:solidFill>
              <a:srgbClr val="888888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400" b="1" strike="sngStrike">
                <a:solidFill>
                  <a:srgbClr val="922B21"/>
                </a:solidFill>
                <a:latin typeface="Consolas"/>
                <a:cs typeface="Consolas"/>
              </a:rPr>
              <a:t>s1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95A9D4D-4D97-A240-8592-214D817845EF}"/>
              </a:ext>
            </a:extLst>
          </p:cNvPr>
          <p:cNvSpPr txBox="1"/>
          <p:nvPr/>
        </p:nvSpPr>
        <p:spPr>
          <a:xfrm>
            <a:off x="1498600" y="4927600"/>
            <a:ext cx="304800" cy="4064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2200" b="1">
                <a:solidFill>
                  <a:srgbClr val="C0392B"/>
                </a:solidFill>
              </a:rPr>
              <a:t>✗</a:t>
            </a:r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26D06836-57EF-1D4C-AB04-86D81817F0CE}"/>
              </a:ext>
            </a:extLst>
          </p:cNvPr>
          <p:cNvSpPr/>
          <p:nvPr/>
        </p:nvSpPr>
        <p:spPr>
          <a:xfrm>
            <a:off x="1879600" y="4953000"/>
            <a:ext cx="1143000" cy="355600"/>
          </a:xfrm>
          <a:prstGeom prst="roundRect">
            <a:avLst/>
          </a:prstGeom>
          <a:solidFill>
            <a:srgbClr val="FFFFFF"/>
          </a:solidFill>
          <a:ln w="9525" cap="flat" cmpd="sng" algn="ctr">
            <a:solidFill>
              <a:srgbClr val="888888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400" b="1">
                <a:solidFill>
                  <a:srgbClr val="222222"/>
                </a:solidFill>
                <a:latin typeface="Consolas"/>
                <a:cs typeface="Consolas"/>
              </a:rPr>
              <a:t>"hi"</a:t>
            </a:r>
          </a:p>
        </p:txBody>
      </p:sp>
      <p:sp>
        <p:nvSpPr>
          <p:cNvPr id="16" name="Right Arrow 15">
            <a:extLst>
              <a:ext uri="{FF2B5EF4-FFF2-40B4-BE49-F238E27FC236}">
                <a16:creationId xmlns:a16="http://schemas.microsoft.com/office/drawing/2014/main" id="{7A75C242-FD91-9340-9041-49FD0E73EEBC}"/>
              </a:ext>
            </a:extLst>
          </p:cNvPr>
          <p:cNvSpPr/>
          <p:nvPr/>
        </p:nvSpPr>
        <p:spPr>
          <a:xfrm>
            <a:off x="3098800" y="5029200"/>
            <a:ext cx="381000" cy="203200"/>
          </a:xfrm>
          <a:prstGeom prst="rightArrow">
            <a:avLst/>
          </a:prstGeom>
          <a:solidFill>
            <a:srgbClr val="1E8449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7" name="Rounded Rectangle 16">
            <a:extLst>
              <a:ext uri="{FF2B5EF4-FFF2-40B4-BE49-F238E27FC236}">
                <a16:creationId xmlns:a16="http://schemas.microsoft.com/office/drawing/2014/main" id="{7176D663-C120-A545-9549-C9DC143045A3}"/>
              </a:ext>
            </a:extLst>
          </p:cNvPr>
          <p:cNvSpPr/>
          <p:nvPr/>
        </p:nvSpPr>
        <p:spPr>
          <a:xfrm>
            <a:off x="660400" y="5461000"/>
            <a:ext cx="762000" cy="355600"/>
          </a:xfrm>
          <a:prstGeom prst="roundRect">
            <a:avLst/>
          </a:prstGeom>
          <a:solidFill>
            <a:srgbClr val="D5F5E3"/>
          </a:solidFill>
          <a:ln w="9525" cap="flat" cmpd="sng" algn="ctr">
            <a:solidFill>
              <a:srgbClr val="888888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400" b="1">
                <a:solidFill>
                  <a:srgbClr val="0E5C2E"/>
                </a:solidFill>
                <a:latin typeface="Consolas"/>
                <a:cs typeface="Consolas"/>
              </a:rPr>
              <a:t>s2</a:t>
            </a:r>
          </a:p>
        </p:txBody>
      </p:sp>
      <p:sp>
        <p:nvSpPr>
          <p:cNvPr id="18" name="Right Arrow 17">
            <a:extLst>
              <a:ext uri="{FF2B5EF4-FFF2-40B4-BE49-F238E27FC236}">
                <a16:creationId xmlns:a16="http://schemas.microsoft.com/office/drawing/2014/main" id="{B5C94BD1-49F1-D44C-90F3-E7CFF879FE0E}"/>
              </a:ext>
            </a:extLst>
          </p:cNvPr>
          <p:cNvSpPr/>
          <p:nvPr/>
        </p:nvSpPr>
        <p:spPr>
          <a:xfrm>
            <a:off x="1498600" y="5537200"/>
            <a:ext cx="355600" cy="203200"/>
          </a:xfrm>
          <a:prstGeom prst="rightArrow">
            <a:avLst/>
          </a:prstGeom>
          <a:solidFill>
            <a:srgbClr val="1E8449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9" name="Rounded Rectangle 18">
            <a:extLst>
              <a:ext uri="{FF2B5EF4-FFF2-40B4-BE49-F238E27FC236}">
                <a16:creationId xmlns:a16="http://schemas.microsoft.com/office/drawing/2014/main" id="{6ECDDA54-7385-6243-BEC0-39A3094AFCBC}"/>
              </a:ext>
            </a:extLst>
          </p:cNvPr>
          <p:cNvSpPr/>
          <p:nvPr/>
        </p:nvSpPr>
        <p:spPr>
          <a:xfrm>
            <a:off x="4521200" y="5207000"/>
            <a:ext cx="635000" cy="355600"/>
          </a:xfrm>
          <a:prstGeom prst="roundRect">
            <a:avLst/>
          </a:prstGeom>
          <a:solidFill>
            <a:srgbClr val="D6EAF8"/>
          </a:solidFill>
          <a:ln w="9525" cap="flat" cmpd="sng" algn="ctr">
            <a:solidFill>
              <a:srgbClr val="888888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400" b="1">
                <a:solidFill>
                  <a:srgbClr val="1F618D"/>
                </a:solidFill>
                <a:latin typeface="Consolas"/>
                <a:cs typeface="Consolas"/>
              </a:rPr>
              <a:t>s</a:t>
            </a:r>
          </a:p>
        </p:txBody>
      </p:sp>
      <p:sp>
        <p:nvSpPr>
          <p:cNvPr id="20" name="Right Arrow 19">
            <a:extLst>
              <a:ext uri="{FF2B5EF4-FFF2-40B4-BE49-F238E27FC236}">
                <a16:creationId xmlns:a16="http://schemas.microsoft.com/office/drawing/2014/main" id="{7175804D-9D3B-D54E-A127-F1473E20D064}"/>
              </a:ext>
            </a:extLst>
          </p:cNvPr>
          <p:cNvSpPr/>
          <p:nvPr/>
        </p:nvSpPr>
        <p:spPr>
          <a:xfrm>
            <a:off x="5207000" y="5283200"/>
            <a:ext cx="355600" cy="203200"/>
          </a:xfrm>
          <a:prstGeom prst="rightArrow">
            <a:avLst/>
          </a:prstGeom>
          <a:solidFill>
            <a:srgbClr val="1F5F7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1" name="Rounded Rectangle 20">
            <a:extLst>
              <a:ext uri="{FF2B5EF4-FFF2-40B4-BE49-F238E27FC236}">
                <a16:creationId xmlns:a16="http://schemas.microsoft.com/office/drawing/2014/main" id="{4BB8536D-F54B-6441-B493-0518D633E24C}"/>
              </a:ext>
            </a:extLst>
          </p:cNvPr>
          <p:cNvSpPr/>
          <p:nvPr/>
        </p:nvSpPr>
        <p:spPr>
          <a:xfrm>
            <a:off x="5613400" y="5207000"/>
            <a:ext cx="1016000" cy="355600"/>
          </a:xfrm>
          <a:prstGeom prst="roundRect">
            <a:avLst/>
          </a:prstGeom>
          <a:solidFill>
            <a:srgbClr val="FFFFFF"/>
          </a:solidFill>
          <a:ln w="9525" cap="flat" cmpd="sng" algn="ctr">
            <a:solidFill>
              <a:srgbClr val="888888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400" b="1">
                <a:solidFill>
                  <a:srgbClr val="222222"/>
                </a:solidFill>
                <a:latin typeface="Consolas"/>
                <a:cs typeface="Consolas"/>
              </a:rPr>
              <a:t>"hi"</a:t>
            </a:r>
          </a:p>
        </p:txBody>
      </p:sp>
      <p:sp>
        <p:nvSpPr>
          <p:cNvPr id="22" name="Rounded Rectangle 21">
            <a:extLst>
              <a:ext uri="{FF2B5EF4-FFF2-40B4-BE49-F238E27FC236}">
                <a16:creationId xmlns:a16="http://schemas.microsoft.com/office/drawing/2014/main" id="{711CE1E5-E028-DA40-B33F-AB90823FB14D}"/>
              </a:ext>
            </a:extLst>
          </p:cNvPr>
          <p:cNvSpPr/>
          <p:nvPr/>
        </p:nvSpPr>
        <p:spPr>
          <a:xfrm>
            <a:off x="6985000" y="4902200"/>
            <a:ext cx="685800" cy="330200"/>
          </a:xfrm>
          <a:prstGeom prst="roundRect">
            <a:avLst/>
          </a:prstGeom>
          <a:solidFill>
            <a:srgbClr val="EAF6FB"/>
          </a:solidFill>
          <a:ln w="9525" cap="flat" cmpd="sng" algn="ctr">
            <a:solidFill>
              <a:srgbClr val="888888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400" b="1">
                <a:solidFill>
                  <a:srgbClr val="1F5F7A"/>
                </a:solidFill>
                <a:latin typeface="Consolas"/>
                <a:cs typeface="Consolas"/>
              </a:rPr>
              <a:t>&amp;r1</a:t>
            </a:r>
          </a:p>
        </p:txBody>
      </p:sp>
      <p:sp>
        <p:nvSpPr>
          <p:cNvPr id="23" name="Rounded Rectangle 22">
            <a:extLst>
              <a:ext uri="{FF2B5EF4-FFF2-40B4-BE49-F238E27FC236}">
                <a16:creationId xmlns:a16="http://schemas.microsoft.com/office/drawing/2014/main" id="{3601A814-F130-4C48-8350-29FC845F3E23}"/>
              </a:ext>
            </a:extLst>
          </p:cNvPr>
          <p:cNvSpPr/>
          <p:nvPr/>
        </p:nvSpPr>
        <p:spPr>
          <a:xfrm>
            <a:off x="6985000" y="5537200"/>
            <a:ext cx="685800" cy="330200"/>
          </a:xfrm>
          <a:prstGeom prst="roundRect">
            <a:avLst/>
          </a:prstGeom>
          <a:solidFill>
            <a:srgbClr val="EAF6FB"/>
          </a:solidFill>
          <a:ln w="9525" cap="flat" cmpd="sng" algn="ctr">
            <a:solidFill>
              <a:srgbClr val="888888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400" b="1">
                <a:solidFill>
                  <a:srgbClr val="1F5F7A"/>
                </a:solidFill>
                <a:latin typeface="Consolas"/>
                <a:cs typeface="Consolas"/>
              </a:rPr>
              <a:t>&amp;r2</a:t>
            </a:r>
          </a:p>
        </p:txBody>
      </p:sp>
      <p:sp>
        <p:nvSpPr>
          <p:cNvPr id="24" name="Left Arrow 23">
            <a:extLst>
              <a:ext uri="{FF2B5EF4-FFF2-40B4-BE49-F238E27FC236}">
                <a16:creationId xmlns:a16="http://schemas.microsoft.com/office/drawing/2014/main" id="{4370839E-D067-A543-B15A-DDF5AA558B9E}"/>
              </a:ext>
            </a:extLst>
          </p:cNvPr>
          <p:cNvSpPr/>
          <p:nvPr/>
        </p:nvSpPr>
        <p:spPr>
          <a:xfrm>
            <a:off x="6654800" y="4965700"/>
            <a:ext cx="330200" cy="203200"/>
          </a:xfrm>
          <a:prstGeom prst="leftArrow">
            <a:avLst/>
          </a:prstGeom>
          <a:solidFill>
            <a:srgbClr val="1F5F7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5" name="Left Arrow 24">
            <a:extLst>
              <a:ext uri="{FF2B5EF4-FFF2-40B4-BE49-F238E27FC236}">
                <a16:creationId xmlns:a16="http://schemas.microsoft.com/office/drawing/2014/main" id="{D3915D0B-09EB-EA4B-B7BC-79D5AC3A45DB}"/>
              </a:ext>
            </a:extLst>
          </p:cNvPr>
          <p:cNvSpPr/>
          <p:nvPr/>
        </p:nvSpPr>
        <p:spPr>
          <a:xfrm>
            <a:off x="6654800" y="5600700"/>
            <a:ext cx="330200" cy="203200"/>
          </a:xfrm>
          <a:prstGeom prst="leftArrow">
            <a:avLst/>
          </a:prstGeom>
          <a:solidFill>
            <a:srgbClr val="1F5F7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6" name="Rounded Rectangle 25">
            <a:extLst>
              <a:ext uri="{FF2B5EF4-FFF2-40B4-BE49-F238E27FC236}">
                <a16:creationId xmlns:a16="http://schemas.microsoft.com/office/drawing/2014/main" id="{EB2531BD-039D-5644-A20C-9D46BAFBCBBB}"/>
              </a:ext>
            </a:extLst>
          </p:cNvPr>
          <p:cNvSpPr/>
          <p:nvPr/>
        </p:nvSpPr>
        <p:spPr>
          <a:xfrm>
            <a:off x="8382000" y="5207000"/>
            <a:ext cx="635000" cy="355600"/>
          </a:xfrm>
          <a:prstGeom prst="roundRect">
            <a:avLst/>
          </a:prstGeom>
          <a:solidFill>
            <a:srgbClr val="D5F5E3"/>
          </a:solidFill>
          <a:ln w="9525" cap="flat" cmpd="sng" algn="ctr">
            <a:solidFill>
              <a:srgbClr val="888888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400" b="1">
                <a:solidFill>
                  <a:srgbClr val="117A3D"/>
                </a:solidFill>
                <a:latin typeface="Consolas"/>
                <a:cs typeface="Consolas"/>
              </a:rPr>
              <a:t>s</a:t>
            </a:r>
          </a:p>
        </p:txBody>
      </p:sp>
      <p:sp>
        <p:nvSpPr>
          <p:cNvPr id="27" name="Right Arrow 26">
            <a:extLst>
              <a:ext uri="{FF2B5EF4-FFF2-40B4-BE49-F238E27FC236}">
                <a16:creationId xmlns:a16="http://schemas.microsoft.com/office/drawing/2014/main" id="{13FC4F4B-48D8-5A41-9BD7-087AF0FA91CB}"/>
              </a:ext>
            </a:extLst>
          </p:cNvPr>
          <p:cNvSpPr/>
          <p:nvPr/>
        </p:nvSpPr>
        <p:spPr>
          <a:xfrm>
            <a:off x="9067800" y="5283200"/>
            <a:ext cx="355600" cy="203200"/>
          </a:xfrm>
          <a:prstGeom prst="rightArrow">
            <a:avLst/>
          </a:prstGeom>
          <a:solidFill>
            <a:srgbClr val="117A3D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8" name="Rounded Rectangle 27">
            <a:extLst>
              <a:ext uri="{FF2B5EF4-FFF2-40B4-BE49-F238E27FC236}">
                <a16:creationId xmlns:a16="http://schemas.microsoft.com/office/drawing/2014/main" id="{896C6DD2-52A3-1F4D-9CC6-3F90DE42043A}"/>
              </a:ext>
            </a:extLst>
          </p:cNvPr>
          <p:cNvSpPr/>
          <p:nvPr/>
        </p:nvSpPr>
        <p:spPr>
          <a:xfrm>
            <a:off x="9474200" y="5207000"/>
            <a:ext cx="1016000" cy="355600"/>
          </a:xfrm>
          <a:prstGeom prst="roundRect">
            <a:avLst/>
          </a:prstGeom>
          <a:solidFill>
            <a:srgbClr val="FFFFFF"/>
          </a:solidFill>
          <a:ln w="9525" cap="flat" cmpd="sng" algn="ctr">
            <a:solidFill>
              <a:srgbClr val="888888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400" b="1">
                <a:solidFill>
                  <a:srgbClr val="222222"/>
                </a:solidFill>
                <a:latin typeface="Consolas"/>
                <a:cs typeface="Consolas"/>
              </a:rPr>
              <a:t>"hi!"</a:t>
            </a:r>
          </a:p>
        </p:txBody>
      </p:sp>
      <p:sp>
        <p:nvSpPr>
          <p:cNvPr id="29" name="Rounded Rectangle 28">
            <a:extLst>
              <a:ext uri="{FF2B5EF4-FFF2-40B4-BE49-F238E27FC236}">
                <a16:creationId xmlns:a16="http://schemas.microsoft.com/office/drawing/2014/main" id="{693AAF55-A4E0-9344-B586-E8F8B147248F}"/>
              </a:ext>
            </a:extLst>
          </p:cNvPr>
          <p:cNvSpPr/>
          <p:nvPr/>
        </p:nvSpPr>
        <p:spPr>
          <a:xfrm>
            <a:off x="10845800" y="5207000"/>
            <a:ext cx="685800" cy="355600"/>
          </a:xfrm>
          <a:prstGeom prst="roundRect">
            <a:avLst/>
          </a:prstGeom>
          <a:solidFill>
            <a:srgbClr val="E8F5E9"/>
          </a:solidFill>
          <a:ln w="9525" cap="flat" cmpd="sng" algn="ctr">
            <a:solidFill>
              <a:srgbClr val="888888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400" b="1">
                <a:solidFill>
                  <a:srgbClr val="117A3D"/>
                </a:solidFill>
                <a:latin typeface="Consolas"/>
                <a:cs typeface="Consolas"/>
              </a:rPr>
              <a:t>&amp;mut r</a:t>
            </a:r>
          </a:p>
        </p:txBody>
      </p:sp>
      <p:sp>
        <p:nvSpPr>
          <p:cNvPr id="30" name="Left Arrow 29">
            <a:extLst>
              <a:ext uri="{FF2B5EF4-FFF2-40B4-BE49-F238E27FC236}">
                <a16:creationId xmlns:a16="http://schemas.microsoft.com/office/drawing/2014/main" id="{08D70F53-3D56-F848-8A5C-866653E00F75}"/>
              </a:ext>
            </a:extLst>
          </p:cNvPr>
          <p:cNvSpPr/>
          <p:nvPr/>
        </p:nvSpPr>
        <p:spPr>
          <a:xfrm>
            <a:off x="10515600" y="5283200"/>
            <a:ext cx="330200" cy="203200"/>
          </a:xfrm>
          <a:prstGeom prst="leftArrow">
            <a:avLst/>
          </a:prstGeom>
          <a:solidFill>
            <a:srgbClr val="117A3D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447B962D-50BE-2143-BB95-3E097BDC7075}"/>
              </a:ext>
            </a:extLst>
          </p:cNvPr>
          <p:cNvSpPr txBox="1"/>
          <p:nvPr/>
        </p:nvSpPr>
        <p:spPr>
          <a:xfrm>
            <a:off x="8382000" y="5715000"/>
            <a:ext cx="3149600" cy="2286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 i="1">
                <a:solidFill>
                  <a:srgbClr val="117A3D"/>
                </a:solidFill>
              </a:rPr>
              <a:t>exclusive — no other refs allowed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8D7C248C-EB32-CE41-8518-C42EEFD1D201}"/>
              </a:ext>
            </a:extLst>
          </p:cNvPr>
          <p:cNvSpPr txBox="1"/>
          <p:nvPr/>
        </p:nvSpPr>
        <p:spPr>
          <a:xfrm>
            <a:off x="609600" y="6286500"/>
            <a:ext cx="10972800" cy="3556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spAutoFit/>
          </a:bodyPr>
          <a:lstStyle/>
          <a:p>
            <a:pPr algn="l"/>
            <a:r>
              <a:rPr lang="en-US" sz="1400" b="1">
                <a:solidFill>
                  <a:srgbClr val="1E1E1E"/>
                </a:solidFill>
              </a:rPr>
              <a:t>The Rule: at any time, either ONE &amp;mut OR any number of &amp;  —  enforced at compile time</a:t>
            </a:r>
          </a:p>
        </p:txBody>
      </p:sp>
    </p:spTree>
    <p:extLst>
      <p:ext uri="{BB962C8B-B14F-4D97-AF65-F5344CB8AC3E}">
        <p14:creationId xmlns:p14="http://schemas.microsoft.com/office/powerpoint/2010/main" val="124300483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4FFEAB-9BBA-C185-487E-07F6CC4C44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Lifetime of references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291F928-2597-A042-86A1-E15485AD8D83}"/>
              </a:ext>
            </a:extLst>
          </p:cNvPr>
          <p:cNvSpPr/>
          <p:nvPr/>
        </p:nvSpPr>
        <p:spPr>
          <a:xfrm>
            <a:off x="457200" y="1905000"/>
            <a:ext cx="3556000" cy="381000"/>
          </a:xfrm>
          <a:prstGeom prst="rect">
            <a:avLst/>
          </a:prstGeom>
          <a:solidFill>
            <a:srgbClr val="8B4513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400" b="1">
                <a:solidFill>
                  <a:srgbClr val="FFFFFF"/>
                </a:solidFill>
              </a:rPr>
              <a:t>WHAT IS A LIFETIME?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299A8CA-DE7C-B643-A174-519A450520A7}"/>
              </a:ext>
            </a:extLst>
          </p:cNvPr>
          <p:cNvSpPr txBox="1"/>
          <p:nvPr/>
        </p:nvSpPr>
        <p:spPr>
          <a:xfrm>
            <a:off x="457200" y="2336800"/>
            <a:ext cx="3556000" cy="1397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 dirty="0">
                <a:solidFill>
                  <a:srgbClr val="2B2B2B"/>
                </a:solidFill>
              </a:rPr>
              <a:t>A lifetime is the scope during which a reference is valid.
Rust uses lifetimes to guarantee that references never outlive the data they point to — preventing dangling references at compile time.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53FD95C-F0B3-CF41-B261-1D86DAB04C79}"/>
              </a:ext>
            </a:extLst>
          </p:cNvPr>
          <p:cNvSpPr/>
          <p:nvPr/>
        </p:nvSpPr>
        <p:spPr>
          <a:xfrm>
            <a:off x="457200" y="3860800"/>
            <a:ext cx="3556000" cy="381000"/>
          </a:xfrm>
          <a:prstGeom prst="rect">
            <a:avLst/>
          </a:prstGeom>
          <a:solidFill>
            <a:srgbClr val="8B4513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400" b="1" dirty="0">
                <a:solidFill>
                  <a:srgbClr val="FFFFFF"/>
                </a:solidFill>
              </a:rPr>
              <a:t>SYNTAX: 'a  AND  'static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DE57C2F-E25B-194E-B17E-5078994CC451}"/>
              </a:ext>
            </a:extLst>
          </p:cNvPr>
          <p:cNvSpPr txBox="1"/>
          <p:nvPr/>
        </p:nvSpPr>
        <p:spPr>
          <a:xfrm>
            <a:off x="457200" y="4292600"/>
            <a:ext cx="3556000" cy="1815882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 dirty="0">
                <a:solidFill>
                  <a:srgbClr val="2B2B2B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'a  </a:t>
            </a:r>
            <a:r>
              <a:rPr lang="en-US" sz="1400" dirty="0">
                <a:solidFill>
                  <a:srgbClr val="2B2B2B"/>
                </a:solidFill>
              </a:rPr>
              <a:t>a generic lifetime parameter (read “tick a”).
     Names a scope so the compiler can relate references.
</a:t>
            </a:r>
            <a:r>
              <a:rPr lang="en-US" sz="1400" dirty="0">
                <a:solidFill>
                  <a:srgbClr val="2B2B2B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'static</a:t>
            </a:r>
            <a:r>
              <a:rPr lang="en-US" sz="1400" dirty="0">
                <a:solidFill>
                  <a:srgbClr val="2B2B2B"/>
                </a:solidFill>
              </a:rPr>
              <a:t>  lives for the entire program.
     String literals (&amp;'static str) are the classic case.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004BBA6-536B-F941-88B9-0F03C75EC38A}"/>
              </a:ext>
            </a:extLst>
          </p:cNvPr>
          <p:cNvSpPr/>
          <p:nvPr/>
        </p:nvSpPr>
        <p:spPr>
          <a:xfrm>
            <a:off x="4216400" y="1905000"/>
            <a:ext cx="3556000" cy="381000"/>
          </a:xfrm>
          <a:prstGeom prst="rect">
            <a:avLst/>
          </a:prstGeom>
          <a:solidFill>
            <a:srgbClr val="8B4513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400" b="1">
                <a:solidFill>
                  <a:srgbClr val="FFFFFF"/>
                </a:solidFill>
              </a:rPr>
              <a:t>VISUAL: SCOPES &amp; LIFETIMES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B60B1B98-4B6D-0A44-B2D3-B837E17694F8}"/>
              </a:ext>
            </a:extLst>
          </p:cNvPr>
          <p:cNvSpPr/>
          <p:nvPr/>
        </p:nvSpPr>
        <p:spPr>
          <a:xfrm>
            <a:off x="4216400" y="2387600"/>
            <a:ext cx="3556000" cy="3810000"/>
          </a:xfrm>
          <a:prstGeom prst="rect">
            <a:avLst/>
          </a:prstGeom>
          <a:solidFill>
            <a:srgbClr val="F5EFE6"/>
          </a:solidFill>
          <a:ln w="12700" cap="flat" cmpd="sng" algn="ctr">
            <a:solidFill>
              <a:srgbClr val="2B2B2B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B1058CD-3EC3-9B47-8E4B-92B58A8CF53D}"/>
              </a:ext>
            </a:extLst>
          </p:cNvPr>
          <p:cNvSpPr txBox="1"/>
          <p:nvPr/>
        </p:nvSpPr>
        <p:spPr>
          <a:xfrm>
            <a:off x="4343400" y="2463800"/>
            <a:ext cx="2540000" cy="2286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 b="1">
                <a:solidFill>
                  <a:srgbClr val="2B2B2B"/>
                </a:solidFill>
                <a:latin typeface="Consolas"/>
                <a:cs typeface="Consolas"/>
              </a:rPr>
              <a:t>fn main() {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D853E74-02BA-6E40-A816-0DC4EC6D4C6E}"/>
              </a:ext>
            </a:extLst>
          </p:cNvPr>
          <p:cNvSpPr/>
          <p:nvPr/>
        </p:nvSpPr>
        <p:spPr>
          <a:xfrm>
            <a:off x="4572000" y="2819400"/>
            <a:ext cx="152400" cy="2540000"/>
          </a:xfrm>
          <a:prstGeom prst="rect">
            <a:avLst/>
          </a:prstGeom>
          <a:solidFill>
            <a:srgbClr val="3E7B3E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622D900-9459-BB47-9488-0F41D4357513}"/>
              </a:ext>
            </a:extLst>
          </p:cNvPr>
          <p:cNvSpPr txBox="1"/>
          <p:nvPr/>
        </p:nvSpPr>
        <p:spPr>
          <a:xfrm>
            <a:off x="4216400" y="2819400"/>
            <a:ext cx="304800" cy="2286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 b="1" dirty="0">
                <a:solidFill>
                  <a:srgbClr val="3E7B3E"/>
                </a:solidFill>
                <a:latin typeface="Consolas"/>
                <a:cs typeface="Consolas"/>
              </a:rPr>
              <a:t>'a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05B03D4-3F50-3843-B475-E436612EF798}"/>
              </a:ext>
            </a:extLst>
          </p:cNvPr>
          <p:cNvSpPr txBox="1"/>
          <p:nvPr/>
        </p:nvSpPr>
        <p:spPr>
          <a:xfrm>
            <a:off x="4724400" y="2819400"/>
            <a:ext cx="2921000" cy="2286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200">
                <a:solidFill>
                  <a:srgbClr val="2B2B2B"/>
                </a:solidFill>
                <a:latin typeface="Consolas"/>
                <a:cs typeface="Consolas"/>
              </a:rPr>
              <a:t>let s = String::from("hi");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8DA639F3-75C5-2544-A458-D3860A8C61F8}"/>
              </a:ext>
            </a:extLst>
          </p:cNvPr>
          <p:cNvSpPr/>
          <p:nvPr/>
        </p:nvSpPr>
        <p:spPr>
          <a:xfrm>
            <a:off x="4724400" y="3200400"/>
            <a:ext cx="2921000" cy="1651000"/>
          </a:xfrm>
          <a:prstGeom prst="rect">
            <a:avLst/>
          </a:prstGeom>
          <a:solidFill>
            <a:srgbClr val="FFFFFF"/>
          </a:solidFill>
          <a:ln w="12700" cap="flat" cmpd="sng" algn="ctr">
            <a:solidFill>
              <a:srgbClr val="888888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AED7391-1711-7445-967B-6345117B187C}"/>
              </a:ext>
            </a:extLst>
          </p:cNvPr>
          <p:cNvSpPr txBox="1"/>
          <p:nvPr/>
        </p:nvSpPr>
        <p:spPr>
          <a:xfrm>
            <a:off x="4775200" y="3200400"/>
            <a:ext cx="254000" cy="2032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200">
                <a:solidFill>
                  <a:srgbClr val="2B2B2B"/>
                </a:solidFill>
                <a:latin typeface="Consolas"/>
                <a:cs typeface="Consolas"/>
              </a:rPr>
              <a:t>{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B31774CF-DC6E-7547-9E3E-40969A9DA970}"/>
              </a:ext>
            </a:extLst>
          </p:cNvPr>
          <p:cNvSpPr/>
          <p:nvPr/>
        </p:nvSpPr>
        <p:spPr>
          <a:xfrm>
            <a:off x="5029200" y="3581400"/>
            <a:ext cx="127000" cy="889000"/>
          </a:xfrm>
          <a:prstGeom prst="rect">
            <a:avLst/>
          </a:prstGeom>
          <a:solidFill>
            <a:srgbClr val="3D6FB8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8E57A1F-528C-6F45-BFFB-F7DB5B012408}"/>
              </a:ext>
            </a:extLst>
          </p:cNvPr>
          <p:cNvSpPr txBox="1"/>
          <p:nvPr/>
        </p:nvSpPr>
        <p:spPr>
          <a:xfrm>
            <a:off x="4724400" y="3581400"/>
            <a:ext cx="304800" cy="2032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200" b="1">
                <a:solidFill>
                  <a:srgbClr val="3D6FB8"/>
                </a:solidFill>
                <a:latin typeface="Consolas"/>
                <a:cs typeface="Consolas"/>
              </a:rPr>
              <a:t>'b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1CC5EADF-11DB-8540-8078-3B7F76733491}"/>
              </a:ext>
            </a:extLst>
          </p:cNvPr>
          <p:cNvSpPr txBox="1"/>
          <p:nvPr/>
        </p:nvSpPr>
        <p:spPr>
          <a:xfrm>
            <a:off x="5232400" y="3581400"/>
            <a:ext cx="2540000" cy="2032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200">
                <a:solidFill>
                  <a:srgbClr val="2B2B2B"/>
                </a:solidFill>
                <a:latin typeface="Consolas"/>
                <a:cs typeface="Consolas"/>
              </a:rPr>
              <a:t>let r: &amp;'b String = &amp;s;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771496C4-B2B7-3249-99B5-B10C6D904ED7}"/>
              </a:ext>
            </a:extLst>
          </p:cNvPr>
          <p:cNvSpPr txBox="1"/>
          <p:nvPr/>
        </p:nvSpPr>
        <p:spPr>
          <a:xfrm>
            <a:off x="5232400" y="4038600"/>
            <a:ext cx="2540000" cy="2032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200" dirty="0" err="1">
                <a:solidFill>
                  <a:srgbClr val="3E7B3E"/>
                </a:solidFill>
                <a:latin typeface="Consolas"/>
                <a:cs typeface="Consolas"/>
              </a:rPr>
              <a:t>println</a:t>
            </a:r>
            <a:r>
              <a:rPr lang="en-US" sz="1200" dirty="0">
                <a:solidFill>
                  <a:srgbClr val="3E7B3E"/>
                </a:solidFill>
                <a:latin typeface="Consolas"/>
                <a:cs typeface="Consolas"/>
              </a:rPr>
              <a:t>!("{r}");  // OK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F91EE34B-9ED1-3E41-81E1-F8CE16E8615D}"/>
              </a:ext>
            </a:extLst>
          </p:cNvPr>
          <p:cNvSpPr txBox="1"/>
          <p:nvPr/>
        </p:nvSpPr>
        <p:spPr>
          <a:xfrm>
            <a:off x="4800600" y="4546600"/>
            <a:ext cx="2540000" cy="2032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200">
                <a:solidFill>
                  <a:srgbClr val="666666"/>
                </a:solidFill>
                <a:latin typeface="Consolas"/>
                <a:cs typeface="Consolas"/>
              </a:rPr>
              <a:t>}  // 'b ends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49164A6C-A49F-5E43-B937-B1AA13B15EA3}"/>
              </a:ext>
            </a:extLst>
          </p:cNvPr>
          <p:cNvSpPr txBox="1"/>
          <p:nvPr/>
        </p:nvSpPr>
        <p:spPr>
          <a:xfrm>
            <a:off x="4343400" y="5842000"/>
            <a:ext cx="3302000" cy="2286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 b="1">
                <a:solidFill>
                  <a:srgbClr val="2B2B2B"/>
                </a:solidFill>
                <a:latin typeface="Consolas"/>
                <a:cs typeface="Consolas"/>
              </a:rPr>
              <a:t>}  // 'a ends, s dropped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48C546CB-6F9D-9240-A8C9-EB3889AD57A1}"/>
              </a:ext>
            </a:extLst>
          </p:cNvPr>
          <p:cNvSpPr txBox="1"/>
          <p:nvPr/>
        </p:nvSpPr>
        <p:spPr>
          <a:xfrm>
            <a:off x="4343400" y="5486400"/>
            <a:ext cx="3302000" cy="2794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200" i="1">
                <a:solidFill>
                  <a:srgbClr val="2B2B2B"/>
                </a:solidFill>
              </a:rPr>
              <a:t>Rule: 'b ⊆ 'a  →  reference cannot outlive its owner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19D1011C-1540-AD4A-9692-7F873FE1A4DB}"/>
              </a:ext>
            </a:extLst>
          </p:cNvPr>
          <p:cNvSpPr/>
          <p:nvPr/>
        </p:nvSpPr>
        <p:spPr>
          <a:xfrm>
            <a:off x="7975600" y="1905000"/>
            <a:ext cx="3759200" cy="381000"/>
          </a:xfrm>
          <a:prstGeom prst="rect">
            <a:avLst/>
          </a:prstGeom>
          <a:solidFill>
            <a:srgbClr val="8B4513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400" b="1">
                <a:solidFill>
                  <a:srgbClr val="FFFFFF"/>
                </a:solidFill>
              </a:rPr>
              <a:t>CODE SAMPLE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D4569985-6F2B-304E-957E-F64B8856C8DC}"/>
              </a:ext>
            </a:extLst>
          </p:cNvPr>
          <p:cNvSpPr/>
          <p:nvPr/>
        </p:nvSpPr>
        <p:spPr>
          <a:xfrm>
            <a:off x="7975600" y="2336800"/>
            <a:ext cx="3759200" cy="3860800"/>
          </a:xfrm>
          <a:prstGeom prst="rect">
            <a:avLst/>
          </a:prstGeom>
          <a:solidFill>
            <a:srgbClr val="1E1E1E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081D2C8-2A1F-7348-88D5-0E63BBC5BC04}"/>
              </a:ext>
            </a:extLst>
          </p:cNvPr>
          <p:cNvSpPr txBox="1"/>
          <p:nvPr/>
        </p:nvSpPr>
        <p:spPr>
          <a:xfrm>
            <a:off x="8077200" y="2413000"/>
            <a:ext cx="3606800" cy="37084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100">
                <a:solidFill>
                  <a:srgbClr val="E8E8E8"/>
                </a:solidFill>
                <a:latin typeface="Consolas"/>
                <a:cs typeface="Consolas"/>
              </a:rPr>
              <a:t>// 'a ties input &amp; output lifetimes:
// returned ref lives at least as
// long as BOTH inputs.
fn longest&lt;'a&gt;(x: &amp;'a str,
              y: &amp;'a str) -&gt; &amp;'a str {
    if x.len() &gt; y.len() { x } else { y }
}
fn main() {
    let s1 = String::from("hello");
    let result;
    {
        let s2 = String::from("world!");
        result = longest(&amp;s1, &amp;s2);
        println!("{}", result);  // OK
    } // s2 dropped
    // println!("{}", result);
    // ✗ won't compile: s2 is gone
}
// 'static — lives whole program:
let motto: &amp;'static str = "Rust!";</a:t>
            </a:r>
          </a:p>
        </p:txBody>
      </p:sp>
    </p:spTree>
    <p:extLst>
      <p:ext uri="{BB962C8B-B14F-4D97-AF65-F5344CB8AC3E}">
        <p14:creationId xmlns:p14="http://schemas.microsoft.com/office/powerpoint/2010/main" val="111820024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9AEE3BB-69D6-8949-8C1A-9B2A4E71A641}"/>
              </a:ext>
            </a:extLst>
          </p:cNvPr>
          <p:cNvSpPr txBox="1"/>
          <p:nvPr/>
        </p:nvSpPr>
        <p:spPr>
          <a:xfrm>
            <a:off x="838200" y="368300"/>
            <a:ext cx="10515600" cy="762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3200" b="1">
                <a:solidFill>
                  <a:srgbClr val="1E1E1E"/>
                </a:solidFill>
              </a:rPr>
              <a:t>Rust's Take on OOP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C4A4AF15-4F2A-EF45-AEF4-8D10680F9D01}"/>
              </a:ext>
            </a:extLst>
          </p:cNvPr>
          <p:cNvSpPr/>
          <p:nvPr/>
        </p:nvSpPr>
        <p:spPr>
          <a:xfrm>
            <a:off x="838200" y="1206500"/>
            <a:ext cx="762000" cy="50800"/>
          </a:xfrm>
          <a:prstGeom prst="rect">
            <a:avLst/>
          </a:prstGeom>
          <a:solidFill>
            <a:srgbClr val="CE422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945CDFA-D946-DD4F-B42F-9983BE85EE21}"/>
              </a:ext>
            </a:extLst>
          </p:cNvPr>
          <p:cNvSpPr txBox="1"/>
          <p:nvPr/>
        </p:nvSpPr>
        <p:spPr>
          <a:xfrm>
            <a:off x="838200" y="1397000"/>
            <a:ext cx="10515600" cy="355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600" i="1">
                <a:solidFill>
                  <a:srgbClr val="666666"/>
                </a:solidFill>
              </a:rPr>
              <a:t>Rust is not class-based — it composes OOP from three primitives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FDBDABC-4F68-A04B-AB24-B375057E6844}"/>
              </a:ext>
            </a:extLst>
          </p:cNvPr>
          <p:cNvSpPr/>
          <p:nvPr/>
        </p:nvSpPr>
        <p:spPr>
          <a:xfrm>
            <a:off x="838200" y="2032000"/>
            <a:ext cx="3302000" cy="3556000"/>
          </a:xfrm>
          <a:prstGeom prst="rect">
            <a:avLst/>
          </a:prstGeom>
          <a:solidFill>
            <a:srgbClr val="1E1E1E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A5081A2-69CF-364F-9C11-537DE6F01408}"/>
              </a:ext>
            </a:extLst>
          </p:cNvPr>
          <p:cNvSpPr/>
          <p:nvPr/>
        </p:nvSpPr>
        <p:spPr>
          <a:xfrm>
            <a:off x="838200" y="2032000"/>
            <a:ext cx="3302000" cy="76200"/>
          </a:xfrm>
          <a:prstGeom prst="rect">
            <a:avLst/>
          </a:prstGeom>
          <a:solidFill>
            <a:srgbClr val="CE422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1509864-B959-134B-8368-E94118FBA06E}"/>
              </a:ext>
            </a:extLst>
          </p:cNvPr>
          <p:cNvSpPr txBox="1"/>
          <p:nvPr/>
        </p:nvSpPr>
        <p:spPr>
          <a:xfrm>
            <a:off x="1092200" y="2286000"/>
            <a:ext cx="762000" cy="635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3200" b="1">
                <a:solidFill>
                  <a:srgbClr val="CE422B"/>
                </a:solidFill>
              </a:rPr>
              <a:t>▢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E3809D0-6BB8-EE4B-95E0-6B8AA923067E}"/>
              </a:ext>
            </a:extLst>
          </p:cNvPr>
          <p:cNvSpPr txBox="1"/>
          <p:nvPr/>
        </p:nvSpPr>
        <p:spPr>
          <a:xfrm>
            <a:off x="1092200" y="2984500"/>
            <a:ext cx="2794000" cy="457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2600" b="1">
                <a:solidFill>
                  <a:srgbClr val="A8E6A1"/>
                </a:solidFill>
                <a:latin typeface="Consolas"/>
                <a:cs typeface="Consolas"/>
              </a:rPr>
              <a:t>struct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6794F79-52A7-C140-ABE7-7D30CBD83178}"/>
              </a:ext>
            </a:extLst>
          </p:cNvPr>
          <p:cNvSpPr txBox="1"/>
          <p:nvPr/>
        </p:nvSpPr>
        <p:spPr>
          <a:xfrm>
            <a:off x="1092200" y="3479800"/>
            <a:ext cx="2794000" cy="304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 b="1">
                <a:solidFill>
                  <a:srgbClr val="FFFFFF"/>
                </a:solidFill>
              </a:rPr>
              <a:t>Data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16A7613-5FA9-5945-A207-7EFCB7820179}"/>
              </a:ext>
            </a:extLst>
          </p:cNvPr>
          <p:cNvSpPr txBox="1"/>
          <p:nvPr/>
        </p:nvSpPr>
        <p:spPr>
          <a:xfrm>
            <a:off x="1092200" y="3873500"/>
            <a:ext cx="2794000" cy="1524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>
                <a:solidFill>
                  <a:srgbClr val="F5F5F5"/>
                </a:solidFill>
              </a:rPr>
              <a:t>Holds fields. No methods inside.
Pure state container.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644F52C3-F94E-8D46-9DA4-86239DED472D}"/>
              </a:ext>
            </a:extLst>
          </p:cNvPr>
          <p:cNvSpPr/>
          <p:nvPr/>
        </p:nvSpPr>
        <p:spPr>
          <a:xfrm>
            <a:off x="4445000" y="2032000"/>
            <a:ext cx="3302000" cy="3556000"/>
          </a:xfrm>
          <a:prstGeom prst="rect">
            <a:avLst/>
          </a:prstGeom>
          <a:solidFill>
            <a:srgbClr val="1E1E1E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339FDCAB-F555-A14C-A0DF-FAA890266B2F}"/>
              </a:ext>
            </a:extLst>
          </p:cNvPr>
          <p:cNvSpPr/>
          <p:nvPr/>
        </p:nvSpPr>
        <p:spPr>
          <a:xfrm>
            <a:off x="4445000" y="2032000"/>
            <a:ext cx="3302000" cy="76200"/>
          </a:xfrm>
          <a:prstGeom prst="rect">
            <a:avLst/>
          </a:prstGeom>
          <a:solidFill>
            <a:srgbClr val="CE422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3BCA12B-6876-B646-8092-6A86E66B0DC5}"/>
              </a:ext>
            </a:extLst>
          </p:cNvPr>
          <p:cNvSpPr txBox="1"/>
          <p:nvPr/>
        </p:nvSpPr>
        <p:spPr>
          <a:xfrm>
            <a:off x="4699000" y="2286000"/>
            <a:ext cx="762000" cy="635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3200" b="1">
                <a:solidFill>
                  <a:srgbClr val="CE422B"/>
                </a:solidFill>
              </a:rPr>
              <a:t>⚙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3942C94-855D-254C-BF66-BA87A45BA445}"/>
              </a:ext>
            </a:extLst>
          </p:cNvPr>
          <p:cNvSpPr txBox="1"/>
          <p:nvPr/>
        </p:nvSpPr>
        <p:spPr>
          <a:xfrm>
            <a:off x="4699000" y="2984500"/>
            <a:ext cx="2794000" cy="457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2600" b="1">
                <a:solidFill>
                  <a:srgbClr val="A8E6A1"/>
                </a:solidFill>
                <a:latin typeface="Consolas"/>
                <a:cs typeface="Consolas"/>
              </a:rPr>
              <a:t>impl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61B0039-AD67-CB49-927D-6DF6E51022F5}"/>
              </a:ext>
            </a:extLst>
          </p:cNvPr>
          <p:cNvSpPr txBox="1"/>
          <p:nvPr/>
        </p:nvSpPr>
        <p:spPr>
          <a:xfrm>
            <a:off x="4699000" y="3479800"/>
            <a:ext cx="2794000" cy="304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 b="1">
                <a:solidFill>
                  <a:srgbClr val="FFFFFF"/>
                </a:solidFill>
              </a:rPr>
              <a:t>Behavior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DBF9019-3975-2E44-BBC2-EF13CBECF6C6}"/>
              </a:ext>
            </a:extLst>
          </p:cNvPr>
          <p:cNvSpPr txBox="1"/>
          <p:nvPr/>
        </p:nvSpPr>
        <p:spPr>
          <a:xfrm>
            <a:off x="4699000" y="3873500"/>
            <a:ext cx="2794000" cy="1524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>
                <a:solidFill>
                  <a:srgbClr val="F5F5F5"/>
                </a:solidFill>
              </a:rPr>
              <a:t>Attaches methods to a struct.
Defined separately from data.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BFDD11A1-EDA2-C84C-9C3C-513BD1AF93DA}"/>
              </a:ext>
            </a:extLst>
          </p:cNvPr>
          <p:cNvSpPr/>
          <p:nvPr/>
        </p:nvSpPr>
        <p:spPr>
          <a:xfrm>
            <a:off x="8051800" y="2032000"/>
            <a:ext cx="3302000" cy="3556000"/>
          </a:xfrm>
          <a:prstGeom prst="rect">
            <a:avLst/>
          </a:prstGeom>
          <a:solidFill>
            <a:srgbClr val="1E1E1E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CF0FAB43-FFEC-5646-9DC8-19C86F506D3A}"/>
              </a:ext>
            </a:extLst>
          </p:cNvPr>
          <p:cNvSpPr/>
          <p:nvPr/>
        </p:nvSpPr>
        <p:spPr>
          <a:xfrm>
            <a:off x="8051800" y="2032000"/>
            <a:ext cx="3302000" cy="76200"/>
          </a:xfrm>
          <a:prstGeom prst="rect">
            <a:avLst/>
          </a:prstGeom>
          <a:solidFill>
            <a:srgbClr val="CE422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995A0B6-5814-0D48-BDA3-8097EE8EE37F}"/>
              </a:ext>
            </a:extLst>
          </p:cNvPr>
          <p:cNvSpPr txBox="1"/>
          <p:nvPr/>
        </p:nvSpPr>
        <p:spPr>
          <a:xfrm>
            <a:off x="8305800" y="2286000"/>
            <a:ext cx="762000" cy="635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3200" b="1">
                <a:solidFill>
                  <a:srgbClr val="CE422B"/>
                </a:solidFill>
              </a:rPr>
              <a:t>◇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6F99EC09-3C7D-7D47-88B8-85CB59D88AEF}"/>
              </a:ext>
            </a:extLst>
          </p:cNvPr>
          <p:cNvSpPr txBox="1"/>
          <p:nvPr/>
        </p:nvSpPr>
        <p:spPr>
          <a:xfrm>
            <a:off x="8305800" y="2984500"/>
            <a:ext cx="2794000" cy="457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2600" b="1">
                <a:solidFill>
                  <a:srgbClr val="A8E6A1"/>
                </a:solidFill>
                <a:latin typeface="Consolas"/>
                <a:cs typeface="Consolas"/>
              </a:rPr>
              <a:t>trait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D71C7BEA-462C-564A-82B9-0393F80114B4}"/>
              </a:ext>
            </a:extLst>
          </p:cNvPr>
          <p:cNvSpPr txBox="1"/>
          <p:nvPr/>
        </p:nvSpPr>
        <p:spPr>
          <a:xfrm>
            <a:off x="8305800" y="3479800"/>
            <a:ext cx="2794000" cy="304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 b="1">
                <a:solidFill>
                  <a:srgbClr val="FFFFFF"/>
                </a:solidFill>
              </a:rPr>
              <a:t>Polymorphism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4EBE0832-456A-B64F-AC92-A20D9D3E65E5}"/>
              </a:ext>
            </a:extLst>
          </p:cNvPr>
          <p:cNvSpPr txBox="1"/>
          <p:nvPr/>
        </p:nvSpPr>
        <p:spPr>
          <a:xfrm>
            <a:off x="8305800" y="3873500"/>
            <a:ext cx="2794000" cy="1524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>
                <a:solidFill>
                  <a:srgbClr val="F5F5F5"/>
                </a:solidFill>
              </a:rPr>
              <a:t>Shared interface across types.
Like Python ABCs / C++ concepts.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7E834D5D-5181-AE40-9476-3E2667866E45}"/>
              </a:ext>
            </a:extLst>
          </p:cNvPr>
          <p:cNvSpPr/>
          <p:nvPr/>
        </p:nvSpPr>
        <p:spPr>
          <a:xfrm>
            <a:off x="838200" y="5842000"/>
            <a:ext cx="10515600" cy="635000"/>
          </a:xfrm>
          <a:prstGeom prst="rect">
            <a:avLst/>
          </a:prstGeom>
          <a:solidFill>
            <a:srgbClr val="FFF4F0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6CA7E855-4983-F346-96AD-36F95C566412}"/>
              </a:ext>
            </a:extLst>
          </p:cNvPr>
          <p:cNvSpPr txBox="1"/>
          <p:nvPr/>
        </p:nvSpPr>
        <p:spPr>
          <a:xfrm>
            <a:off x="1016000" y="5994400"/>
            <a:ext cx="10160000" cy="381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600" b="1">
                <a:solidFill>
                  <a:srgbClr val="CE422B"/>
                </a:solidFill>
              </a:rPr>
              <a:t>⚡  No classes, no inheritance — composition over inheritance, enforced by the language.</a:t>
            </a:r>
          </a:p>
        </p:txBody>
      </p:sp>
    </p:spTree>
    <p:extLst>
      <p:ext uri="{BB962C8B-B14F-4D97-AF65-F5344CB8AC3E}">
        <p14:creationId xmlns:p14="http://schemas.microsoft.com/office/powerpoint/2010/main" val="201325186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96AF03D-4A87-1749-9C2D-ECCFBB83D023}"/>
              </a:ext>
            </a:extLst>
          </p:cNvPr>
          <p:cNvSpPr txBox="1"/>
          <p:nvPr/>
        </p:nvSpPr>
        <p:spPr>
          <a:xfrm>
            <a:off x="838200" y="368300"/>
            <a:ext cx="10515600" cy="635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3200" b="1">
                <a:solidFill>
                  <a:srgbClr val="1E1E1E"/>
                </a:solidFill>
              </a:rPr>
              <a:t>Same Idea, Three Languages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DA78947-0349-F84C-B3DA-2B68FC097B3C}"/>
              </a:ext>
            </a:extLst>
          </p:cNvPr>
          <p:cNvSpPr/>
          <p:nvPr/>
        </p:nvSpPr>
        <p:spPr>
          <a:xfrm>
            <a:off x="838200" y="1079500"/>
            <a:ext cx="762000" cy="50800"/>
          </a:xfrm>
          <a:prstGeom prst="rect">
            <a:avLst/>
          </a:prstGeom>
          <a:solidFill>
            <a:srgbClr val="CE422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2B32252-3BDC-4B40-A3BC-D299AB411574}"/>
              </a:ext>
            </a:extLst>
          </p:cNvPr>
          <p:cNvSpPr txBox="1"/>
          <p:nvPr/>
        </p:nvSpPr>
        <p:spPr>
          <a:xfrm>
            <a:off x="838200" y="1270000"/>
            <a:ext cx="10515600" cy="304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 i="1">
                <a:solidFill>
                  <a:srgbClr val="666666"/>
                </a:solidFill>
              </a:rPr>
              <a:t>A simple Animal type with a method speak() — implemented in each language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A6BE36D-9DB8-BA4E-9FDF-766224DC8C03}"/>
              </a:ext>
            </a:extLst>
          </p:cNvPr>
          <p:cNvSpPr/>
          <p:nvPr/>
        </p:nvSpPr>
        <p:spPr>
          <a:xfrm>
            <a:off x="381000" y="1752600"/>
            <a:ext cx="3683000" cy="381000"/>
          </a:xfrm>
          <a:prstGeom prst="rect">
            <a:avLst/>
          </a:prstGeom>
          <a:solidFill>
            <a:srgbClr val="3776A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ctr" anchorCtr="0">
            <a:noAutofit/>
          </a:bodyPr>
          <a:lstStyle/>
          <a:p>
            <a:pPr algn="l"/>
            <a:r>
              <a:rPr lang="en-US" sz="1600" b="1">
                <a:solidFill>
                  <a:srgbClr val="FFFFFF"/>
                </a:solidFill>
              </a:rPr>
              <a:t>Python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203512E-6C22-3E47-9B9C-C3A48BE815AE}"/>
              </a:ext>
            </a:extLst>
          </p:cNvPr>
          <p:cNvSpPr/>
          <p:nvPr/>
        </p:nvSpPr>
        <p:spPr>
          <a:xfrm>
            <a:off x="381000" y="2133600"/>
            <a:ext cx="3683000" cy="4064000"/>
          </a:xfrm>
          <a:prstGeom prst="rect">
            <a:avLst/>
          </a:prstGeom>
          <a:solidFill>
            <a:srgbClr val="1E1E1E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6B6EE3F-761E-5C49-837C-04B78528BF8B}"/>
              </a:ext>
            </a:extLst>
          </p:cNvPr>
          <p:cNvSpPr txBox="1"/>
          <p:nvPr/>
        </p:nvSpPr>
        <p:spPr>
          <a:xfrm>
            <a:off x="533400" y="2286000"/>
            <a:ext cx="3429000" cy="3810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>
                <a:solidFill>
                  <a:srgbClr val="F5F5F5"/>
                </a:solidFill>
                <a:latin typeface="Consolas"/>
                <a:cs typeface="Consolas"/>
              </a:rPr>
              <a:t>class Animal:
    def __init__(self, name):
        self.name = name
    def speak(self):
        print(f"{self.name} says hi")
a = Animal("Rex")
a.speak()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BDA934B-F523-8C4F-89E3-7D80F51C55A4}"/>
              </a:ext>
            </a:extLst>
          </p:cNvPr>
          <p:cNvSpPr/>
          <p:nvPr/>
        </p:nvSpPr>
        <p:spPr>
          <a:xfrm>
            <a:off x="4254500" y="1752600"/>
            <a:ext cx="3683000" cy="381000"/>
          </a:xfrm>
          <a:prstGeom prst="rect">
            <a:avLst/>
          </a:prstGeom>
          <a:solidFill>
            <a:srgbClr val="00599C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ctr" anchorCtr="0">
            <a:noAutofit/>
          </a:bodyPr>
          <a:lstStyle/>
          <a:p>
            <a:pPr algn="l"/>
            <a:r>
              <a:rPr lang="en-US" sz="1600" b="1">
                <a:solidFill>
                  <a:srgbClr val="FFFFFF"/>
                </a:solidFill>
              </a:rPr>
              <a:t>C++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27A1ADBB-09DB-8243-B3D4-CA51C49D809B}"/>
              </a:ext>
            </a:extLst>
          </p:cNvPr>
          <p:cNvSpPr/>
          <p:nvPr/>
        </p:nvSpPr>
        <p:spPr>
          <a:xfrm>
            <a:off x="4254500" y="2133600"/>
            <a:ext cx="3683000" cy="4064000"/>
          </a:xfrm>
          <a:prstGeom prst="rect">
            <a:avLst/>
          </a:prstGeom>
          <a:solidFill>
            <a:srgbClr val="1E1E1E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C182977-71A7-9F40-9C18-08C2C56D27E1}"/>
              </a:ext>
            </a:extLst>
          </p:cNvPr>
          <p:cNvSpPr txBox="1"/>
          <p:nvPr/>
        </p:nvSpPr>
        <p:spPr>
          <a:xfrm>
            <a:off x="4406900" y="2286000"/>
            <a:ext cx="3429000" cy="3810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>
                <a:solidFill>
                  <a:srgbClr val="F5F5F5"/>
                </a:solidFill>
                <a:latin typeface="Consolas"/>
                <a:cs typeface="Consolas"/>
              </a:rPr>
              <a:t>class Animal {
  std::string name;
public:
  Animal(std::string n)
    : name(n) {}
  void speak() {
    std::cout &lt;&lt; name
      &lt;&lt; " says hi\n";
  }
};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626E1758-0203-2548-8C13-D4030FE96ADB}"/>
              </a:ext>
            </a:extLst>
          </p:cNvPr>
          <p:cNvSpPr/>
          <p:nvPr/>
        </p:nvSpPr>
        <p:spPr>
          <a:xfrm>
            <a:off x="8128000" y="1752600"/>
            <a:ext cx="3683000" cy="381000"/>
          </a:xfrm>
          <a:prstGeom prst="rect">
            <a:avLst/>
          </a:prstGeom>
          <a:solidFill>
            <a:srgbClr val="CE422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ctr" anchorCtr="0">
            <a:noAutofit/>
          </a:bodyPr>
          <a:lstStyle/>
          <a:p>
            <a:pPr algn="l"/>
            <a:r>
              <a:rPr lang="en-US" sz="1600" b="1">
                <a:solidFill>
                  <a:srgbClr val="FFFFFF"/>
                </a:solidFill>
              </a:rPr>
              <a:t>Rust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D6718A7B-9671-014B-BCA7-330F95D14803}"/>
              </a:ext>
            </a:extLst>
          </p:cNvPr>
          <p:cNvSpPr/>
          <p:nvPr/>
        </p:nvSpPr>
        <p:spPr>
          <a:xfrm>
            <a:off x="8128000" y="2133600"/>
            <a:ext cx="3683000" cy="4064000"/>
          </a:xfrm>
          <a:prstGeom prst="rect">
            <a:avLst/>
          </a:prstGeom>
          <a:solidFill>
            <a:srgbClr val="1E1E1E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A4ACD28-7D77-CE41-9548-C8B8ABB50C43}"/>
              </a:ext>
            </a:extLst>
          </p:cNvPr>
          <p:cNvSpPr txBox="1"/>
          <p:nvPr/>
        </p:nvSpPr>
        <p:spPr>
          <a:xfrm>
            <a:off x="8280400" y="2286000"/>
            <a:ext cx="3429000" cy="3810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>
                <a:solidFill>
                  <a:srgbClr val="F5F5F5"/>
                </a:solidFill>
                <a:latin typeface="Consolas"/>
                <a:cs typeface="Consolas"/>
              </a:rPr>
              <a:t>struct Animal {
    name: String,
}
impl Animal {
    fn speak(&amp;self) {
        println!(
          "{} says hi",
          self.name);
    }
}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6515C93-3144-5C4C-B33F-EC531B358A06}"/>
              </a:ext>
            </a:extLst>
          </p:cNvPr>
          <p:cNvSpPr txBox="1"/>
          <p:nvPr/>
        </p:nvSpPr>
        <p:spPr>
          <a:xfrm>
            <a:off x="381000" y="6324600"/>
            <a:ext cx="11430000" cy="330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300" i="1">
                <a:solidFill>
                  <a:srgbClr val="444444"/>
                </a:solidFill>
              </a:rPr>
              <a:t>Python &amp; C++ bind data + methods inside one class block.  Rust splits them: struct = data, impl = methods.</a:t>
            </a:r>
          </a:p>
        </p:txBody>
      </p:sp>
    </p:spTree>
    <p:extLst>
      <p:ext uri="{BB962C8B-B14F-4D97-AF65-F5344CB8AC3E}">
        <p14:creationId xmlns:p14="http://schemas.microsoft.com/office/powerpoint/2010/main" val="85896322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98057618-9171-DA43-A4AD-A81D947A368D}"/>
              </a:ext>
            </a:extLst>
          </p:cNvPr>
          <p:cNvSpPr txBox="1"/>
          <p:nvPr/>
        </p:nvSpPr>
        <p:spPr>
          <a:xfrm>
            <a:off x="838200" y="368300"/>
            <a:ext cx="10515600" cy="635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3200" b="1">
                <a:solidFill>
                  <a:srgbClr val="1E1E1E"/>
                </a:solidFill>
              </a:rPr>
              <a:t>OOP Feature Comparison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EE156B47-57BF-0E4F-8380-08C93F2CAA22}"/>
              </a:ext>
            </a:extLst>
          </p:cNvPr>
          <p:cNvSpPr/>
          <p:nvPr/>
        </p:nvSpPr>
        <p:spPr>
          <a:xfrm>
            <a:off x="838200" y="1079500"/>
            <a:ext cx="762000" cy="50800"/>
          </a:xfrm>
          <a:prstGeom prst="rect">
            <a:avLst/>
          </a:prstGeom>
          <a:solidFill>
            <a:srgbClr val="CE422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74D5B8A0-C0CE-FD4E-ACEA-ABEBC8AE1F0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85942963"/>
              </p:ext>
            </p:extLst>
          </p:nvPr>
        </p:nvGraphicFramePr>
        <p:xfrm>
          <a:off x="635000" y="1460500"/>
          <a:ext cx="10922000" cy="3683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>
                  <a:extLst>
                    <a:ext uri="{9D8B030D-6E8A-4147-A177-3AD203B41FA5}">
                      <a16:colId xmlns:a16="http://schemas.microsoft.com/office/drawing/2014/main" val="666407606"/>
                    </a:ext>
                  </a:extLst>
                </a:gridCol>
                <a:gridCol w="2730500">
                  <a:extLst>
                    <a:ext uri="{9D8B030D-6E8A-4147-A177-3AD203B41FA5}">
                      <a16:colId xmlns:a16="http://schemas.microsoft.com/office/drawing/2014/main" val="2366321237"/>
                    </a:ext>
                  </a:extLst>
                </a:gridCol>
                <a:gridCol w="2730500">
                  <a:extLst>
                    <a:ext uri="{9D8B030D-6E8A-4147-A177-3AD203B41FA5}">
                      <a16:colId xmlns:a16="http://schemas.microsoft.com/office/drawing/2014/main" val="2660906759"/>
                    </a:ext>
                  </a:extLst>
                </a:gridCol>
                <a:gridCol w="3175000">
                  <a:extLst>
                    <a:ext uri="{9D8B030D-6E8A-4147-A177-3AD203B41FA5}">
                      <a16:colId xmlns:a16="http://schemas.microsoft.com/office/drawing/2014/main" val="1677073558"/>
                    </a:ext>
                  </a:extLst>
                </a:gridCol>
              </a:tblGrid>
              <a:tr h="508000">
                <a:tc>
                  <a:txBody>
                    <a:bodyPr/>
                    <a:lstStyle/>
                    <a:p>
                      <a:pPr algn="ctr"/>
                      <a:r>
                        <a:rPr lang="en-US" sz="1600" b="1">
                          <a:solidFill>
                            <a:srgbClr val="FFFFFF"/>
                          </a:solidFill>
                        </a:rPr>
                        <a:t>Feature</a:t>
                      </a:r>
                    </a:p>
                  </a:txBody>
                  <a:tcPr anchor="ctr">
                    <a:solidFill>
                      <a:srgbClr val="1E1E1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1">
                          <a:solidFill>
                            <a:srgbClr val="FFFFFF"/>
                          </a:solidFill>
                        </a:rPr>
                        <a:t>Python</a:t>
                      </a:r>
                    </a:p>
                  </a:txBody>
                  <a:tcPr anchor="ctr">
                    <a:solidFill>
                      <a:srgbClr val="3776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1">
                          <a:solidFill>
                            <a:srgbClr val="FFFFFF"/>
                          </a:solidFill>
                        </a:rPr>
                        <a:t>C++</a:t>
                      </a:r>
                    </a:p>
                  </a:txBody>
                  <a:tcPr anchor="ctr">
                    <a:solidFill>
                      <a:srgbClr val="00599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1">
                          <a:solidFill>
                            <a:srgbClr val="FFFFFF"/>
                          </a:solidFill>
                        </a:rPr>
                        <a:t>Rust</a:t>
                      </a:r>
                    </a:p>
                  </a:txBody>
                  <a:tcPr anchor="ctr">
                    <a:solidFill>
                      <a:srgbClr val="CE422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7607191"/>
                  </a:ext>
                </a:extLst>
              </a:tr>
              <a:tr h="635000">
                <a:tc>
                  <a:txBody>
                    <a:bodyPr/>
                    <a:lstStyle/>
                    <a:p>
                      <a:r>
                        <a:rPr lang="en-US" sz="1400" b="1">
                          <a:solidFill>
                            <a:srgbClr val="1E1E1E"/>
                          </a:solidFill>
                        </a:rPr>
                        <a:t>Classes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>
                          <a:solidFill>
                            <a:srgbClr val="333333"/>
                          </a:solidFill>
                        </a:rPr>
                        <a:t>Yes — class keyword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>
                          <a:solidFill>
                            <a:srgbClr val="333333"/>
                          </a:solidFill>
                        </a:rPr>
                        <a:t>Yes — class / struct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>
                          <a:solidFill>
                            <a:srgbClr val="333333"/>
                          </a:solidFill>
                        </a:rPr>
                        <a:t>No — struct + impl + trait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91135351"/>
                  </a:ext>
                </a:extLst>
              </a:tr>
              <a:tr h="635000">
                <a:tc>
                  <a:txBody>
                    <a:bodyPr/>
                    <a:lstStyle/>
                    <a:p>
                      <a:r>
                        <a:rPr lang="en-US" sz="1400" b="1">
                          <a:solidFill>
                            <a:srgbClr val="1E1E1E"/>
                          </a:solidFill>
                        </a:rPr>
                        <a:t>Inheritance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>
                          <a:solidFill>
                            <a:srgbClr val="333333"/>
                          </a:solidFill>
                        </a:rPr>
                        <a:t>Multiple, dynamic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>
                          <a:solidFill>
                            <a:srgbClr val="333333"/>
                          </a:solidFill>
                        </a:rPr>
                        <a:t>Multiple, with virtual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>
                          <a:solidFill>
                            <a:srgbClr val="333333"/>
                          </a:solidFill>
                        </a:rPr>
                        <a:t>None — uses traits + composition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8383651"/>
                  </a:ext>
                </a:extLst>
              </a:tr>
              <a:tr h="635000">
                <a:tc>
                  <a:txBody>
                    <a:bodyPr/>
                    <a:lstStyle/>
                    <a:p>
                      <a:r>
                        <a:rPr lang="en-US" sz="1400" b="1">
                          <a:solidFill>
                            <a:srgbClr val="1E1E1E"/>
                          </a:solidFill>
                        </a:rPr>
                        <a:t>Polymorphism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>
                          <a:solidFill>
                            <a:srgbClr val="333333"/>
                          </a:solidFill>
                        </a:rPr>
                        <a:t>Duck typing at runtime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>
                          <a:solidFill>
                            <a:srgbClr val="333333"/>
                          </a:solidFill>
                        </a:rPr>
                        <a:t>Virtual functions (vtable)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>
                          <a:solidFill>
                            <a:srgbClr val="333333"/>
                          </a:solidFill>
                        </a:rPr>
                        <a:t>Trait objects (dyn) or generics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15230751"/>
                  </a:ext>
                </a:extLst>
              </a:tr>
              <a:tr h="635000">
                <a:tc>
                  <a:txBody>
                    <a:bodyPr/>
                    <a:lstStyle/>
                    <a:p>
                      <a:r>
                        <a:rPr lang="en-US" sz="1400" b="1">
                          <a:solidFill>
                            <a:srgbClr val="1E1E1E"/>
                          </a:solidFill>
                        </a:rPr>
                        <a:t>Encapsulation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>
                          <a:solidFill>
                            <a:srgbClr val="333333"/>
                          </a:solidFill>
                        </a:rPr>
                        <a:t>Convention (_private)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>
                          <a:solidFill>
                            <a:srgbClr val="333333"/>
                          </a:solidFill>
                        </a:rPr>
                        <a:t>public / private / protected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>
                          <a:solidFill>
                            <a:srgbClr val="333333"/>
                          </a:solidFill>
                        </a:rPr>
                        <a:t>pub keyword, private by default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64932484"/>
                  </a:ext>
                </a:extLst>
              </a:tr>
              <a:tr h="635000">
                <a:tc>
                  <a:txBody>
                    <a:bodyPr/>
                    <a:lstStyle/>
                    <a:p>
                      <a:r>
                        <a:rPr lang="en-US" sz="1400" b="1">
                          <a:solidFill>
                            <a:srgbClr val="1E1E1E"/>
                          </a:solidFill>
                        </a:rPr>
                        <a:t>Memory model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>
                          <a:solidFill>
                            <a:srgbClr val="333333"/>
                          </a:solidFill>
                        </a:rPr>
                        <a:t>GC-managed, runtime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>
                          <a:solidFill>
                            <a:srgbClr val="333333"/>
                          </a:solidFill>
                        </a:rPr>
                        <a:t>Manual / RAII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>
                          <a:solidFill>
                            <a:srgbClr val="333333"/>
                          </a:solidFill>
                        </a:rPr>
                        <a:t>Ownership + borrow checker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53190810"/>
                  </a:ext>
                </a:extLst>
              </a:tr>
            </a:tbl>
          </a:graphicData>
        </a:graphic>
      </p:graphicFrame>
      <p:sp>
        <p:nvSpPr>
          <p:cNvPr id="6" name="Rectangle 5">
            <a:extLst>
              <a:ext uri="{FF2B5EF4-FFF2-40B4-BE49-F238E27FC236}">
                <a16:creationId xmlns:a16="http://schemas.microsoft.com/office/drawing/2014/main" id="{44B4B430-9675-7E4E-A297-CFE27EBC8707}"/>
              </a:ext>
            </a:extLst>
          </p:cNvPr>
          <p:cNvSpPr/>
          <p:nvPr/>
        </p:nvSpPr>
        <p:spPr>
          <a:xfrm>
            <a:off x="635000" y="5842000"/>
            <a:ext cx="10922000" cy="635000"/>
          </a:xfrm>
          <a:prstGeom prst="rect">
            <a:avLst/>
          </a:prstGeom>
          <a:solidFill>
            <a:srgbClr val="FFF4F0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D20D5CE-3E7C-CB4C-8216-68BA49FEA2B5}"/>
              </a:ext>
            </a:extLst>
          </p:cNvPr>
          <p:cNvSpPr txBox="1"/>
          <p:nvPr/>
        </p:nvSpPr>
        <p:spPr>
          <a:xfrm>
            <a:off x="762000" y="5994400"/>
            <a:ext cx="10668000" cy="381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500" b="1">
                <a:solidFill>
                  <a:srgbClr val="CE422B"/>
                </a:solidFill>
              </a:rPr>
              <a:t>Rust trades classes for traits + ownership: less inheritance, more compile-time guarantees.</a:t>
            </a:r>
          </a:p>
        </p:txBody>
      </p:sp>
    </p:spTree>
    <p:extLst>
      <p:ext uri="{BB962C8B-B14F-4D97-AF65-F5344CB8AC3E}">
        <p14:creationId xmlns:p14="http://schemas.microsoft.com/office/powerpoint/2010/main" val="387242637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5D7F1EE-94F3-544B-BCF6-F40765EF5D4A}"/>
              </a:ext>
            </a:extLst>
          </p:cNvPr>
          <p:cNvSpPr txBox="1"/>
          <p:nvPr/>
        </p:nvSpPr>
        <p:spPr>
          <a:xfrm>
            <a:off x="838200" y="368300"/>
            <a:ext cx="10515600" cy="635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3200" b="1">
                <a:solidFill>
                  <a:srgbClr val="1E1E1E"/>
                </a:solidFill>
              </a:rPr>
              <a:t>What is a Trait?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E895DF2D-BEC0-F349-8520-5368E6905474}"/>
              </a:ext>
            </a:extLst>
          </p:cNvPr>
          <p:cNvSpPr/>
          <p:nvPr/>
        </p:nvSpPr>
        <p:spPr>
          <a:xfrm>
            <a:off x="838200" y="1079500"/>
            <a:ext cx="762000" cy="50800"/>
          </a:xfrm>
          <a:prstGeom prst="rect">
            <a:avLst/>
          </a:prstGeom>
          <a:solidFill>
            <a:srgbClr val="CE422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5132C6C-8508-9A4E-AFA1-ADB46093396A}"/>
              </a:ext>
            </a:extLst>
          </p:cNvPr>
          <p:cNvSpPr txBox="1"/>
          <p:nvPr/>
        </p:nvSpPr>
        <p:spPr>
          <a:xfrm>
            <a:off x="838200" y="1270000"/>
            <a:ext cx="10515600" cy="304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 i="1">
                <a:solidFill>
                  <a:srgbClr val="666666"/>
                </a:solidFill>
              </a:rPr>
              <a:t>A shared set of method signatures that any type can opt into — Rust's answer to interfaces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B0AA852-5F48-7D48-8560-3210F06D045F}"/>
              </a:ext>
            </a:extLst>
          </p:cNvPr>
          <p:cNvSpPr/>
          <p:nvPr/>
        </p:nvSpPr>
        <p:spPr>
          <a:xfrm>
            <a:off x="635000" y="1778000"/>
            <a:ext cx="5461000" cy="355600"/>
          </a:xfrm>
          <a:prstGeom prst="rect">
            <a:avLst/>
          </a:prstGeom>
          <a:solidFill>
            <a:srgbClr val="CE422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ctr" anchorCtr="0">
            <a:noAutofit/>
          </a:bodyPr>
          <a:lstStyle/>
          <a:p>
            <a:pPr algn="l"/>
            <a:r>
              <a:rPr lang="en-US" sz="1400" b="1">
                <a:solidFill>
                  <a:srgbClr val="FFFFFF"/>
                </a:solidFill>
              </a:rPr>
              <a:t>Anatomy of a trait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A51816C-E4CB-C645-87AE-ABF03948FE54}"/>
              </a:ext>
            </a:extLst>
          </p:cNvPr>
          <p:cNvSpPr/>
          <p:nvPr/>
        </p:nvSpPr>
        <p:spPr>
          <a:xfrm>
            <a:off x="635000" y="2133600"/>
            <a:ext cx="5461000" cy="4064000"/>
          </a:xfrm>
          <a:prstGeom prst="rect">
            <a:avLst/>
          </a:prstGeom>
          <a:solidFill>
            <a:srgbClr val="1E1E1E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C612B1E-B5FF-7249-925C-299B0E664748}"/>
              </a:ext>
            </a:extLst>
          </p:cNvPr>
          <p:cNvSpPr txBox="1"/>
          <p:nvPr/>
        </p:nvSpPr>
        <p:spPr>
          <a:xfrm>
            <a:off x="787400" y="2260600"/>
            <a:ext cx="5207000" cy="38735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300">
                <a:solidFill>
                  <a:srgbClr val="F5F5F5"/>
                </a:solidFill>
                <a:latin typeface="Consolas"/>
                <a:cs typeface="Consolas"/>
              </a:rPr>
              <a:t>// 1. Define a trait — the contract
trait Greet {
    fn hello(&amp;self) -&gt; String;
    // default method (optional)
    fn shout(&amp;self) -&gt; String {
        self.hello().to_uppercase()
    }
}
// 2. Implement for a type
struct Dog { name: String }
impl Greet for Dog {
    fn hello(&amp;self) -&gt; String {
        format!("Woof, I'm {}", self.name)
    }
}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194AE2B-DE7F-4942-AAA3-5F1317F12393}"/>
              </a:ext>
            </a:extLst>
          </p:cNvPr>
          <p:cNvSpPr/>
          <p:nvPr/>
        </p:nvSpPr>
        <p:spPr>
          <a:xfrm>
            <a:off x="6350000" y="1778000"/>
            <a:ext cx="5207000" cy="355600"/>
          </a:xfrm>
          <a:prstGeom prst="rect">
            <a:avLst/>
          </a:prstGeom>
          <a:solidFill>
            <a:srgbClr val="1E1E1E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ctr" anchorCtr="0">
            <a:noAutofit/>
          </a:bodyPr>
          <a:lstStyle/>
          <a:p>
            <a:pPr algn="l"/>
            <a:r>
              <a:rPr lang="en-US" sz="1400" b="1">
                <a:solidFill>
                  <a:srgbClr val="A8E6A1"/>
                </a:solidFill>
              </a:rPr>
              <a:t>Key ideas</a:t>
            </a: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7D94E6E5-7E39-6848-B3D0-7D3C17F0A1FF}"/>
              </a:ext>
            </a:extLst>
          </p:cNvPr>
          <p:cNvSpPr/>
          <p:nvPr/>
        </p:nvSpPr>
        <p:spPr>
          <a:xfrm>
            <a:off x="6477000" y="2311400"/>
            <a:ext cx="127000" cy="127000"/>
          </a:xfrm>
          <a:prstGeom prst="ellipse">
            <a:avLst/>
          </a:prstGeom>
          <a:solidFill>
            <a:srgbClr val="CE422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1C45C82-7D60-FF4B-9C49-4A3FEE50C7EB}"/>
              </a:ext>
            </a:extLst>
          </p:cNvPr>
          <p:cNvSpPr txBox="1"/>
          <p:nvPr/>
        </p:nvSpPr>
        <p:spPr>
          <a:xfrm>
            <a:off x="6705600" y="2260600"/>
            <a:ext cx="4826000" cy="254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 b="1">
                <a:solidFill>
                  <a:srgbClr val="1E1E1E"/>
                </a:solidFill>
              </a:rPr>
              <a:t>Contract, not data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A132401-F7CE-FE4A-B71E-1148ADB851FE}"/>
              </a:ext>
            </a:extLst>
          </p:cNvPr>
          <p:cNvSpPr txBox="1"/>
          <p:nvPr/>
        </p:nvSpPr>
        <p:spPr>
          <a:xfrm>
            <a:off x="6705600" y="2514600"/>
            <a:ext cx="4826000" cy="635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300">
                <a:solidFill>
                  <a:srgbClr val="444444"/>
                </a:solidFill>
              </a:rPr>
              <a:t>Traits define what methods exist — never fields. Data lives on structs.</a:t>
            </a: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27D32181-2A82-EF46-B108-8397F30BD870}"/>
              </a:ext>
            </a:extLst>
          </p:cNvPr>
          <p:cNvSpPr/>
          <p:nvPr/>
        </p:nvSpPr>
        <p:spPr>
          <a:xfrm>
            <a:off x="6477000" y="3302000"/>
            <a:ext cx="127000" cy="127000"/>
          </a:xfrm>
          <a:prstGeom prst="ellipse">
            <a:avLst/>
          </a:prstGeom>
          <a:solidFill>
            <a:srgbClr val="CE422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F745A5D-9CEC-DD4B-AFCF-CB348F038305}"/>
              </a:ext>
            </a:extLst>
          </p:cNvPr>
          <p:cNvSpPr txBox="1"/>
          <p:nvPr/>
        </p:nvSpPr>
        <p:spPr>
          <a:xfrm>
            <a:off x="6705600" y="3251200"/>
            <a:ext cx="4826000" cy="254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 b="1">
                <a:solidFill>
                  <a:srgbClr val="1E1E1E"/>
                </a:solidFill>
              </a:rPr>
              <a:t>Default methods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DD992C9-D1F5-AD46-8522-4DD59AFAFA65}"/>
              </a:ext>
            </a:extLst>
          </p:cNvPr>
          <p:cNvSpPr txBox="1"/>
          <p:nvPr/>
        </p:nvSpPr>
        <p:spPr>
          <a:xfrm>
            <a:off x="6705600" y="3505200"/>
            <a:ext cx="4826000" cy="635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300">
                <a:solidFill>
                  <a:srgbClr val="444444"/>
                </a:solidFill>
              </a:rPr>
              <a:t>Traits can ship default implementations. Implementors override only what they need.</a:t>
            </a:r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9223C334-B953-6348-9366-7F734E4E59ED}"/>
              </a:ext>
            </a:extLst>
          </p:cNvPr>
          <p:cNvSpPr/>
          <p:nvPr/>
        </p:nvSpPr>
        <p:spPr>
          <a:xfrm>
            <a:off x="6477000" y="4292600"/>
            <a:ext cx="127000" cy="127000"/>
          </a:xfrm>
          <a:prstGeom prst="ellipse">
            <a:avLst/>
          </a:prstGeom>
          <a:solidFill>
            <a:srgbClr val="CE422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DC92924-79AE-B045-9638-AA246021B074}"/>
              </a:ext>
            </a:extLst>
          </p:cNvPr>
          <p:cNvSpPr txBox="1"/>
          <p:nvPr/>
        </p:nvSpPr>
        <p:spPr>
          <a:xfrm>
            <a:off x="6705600" y="4241800"/>
            <a:ext cx="4826000" cy="254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 b="1">
                <a:solidFill>
                  <a:srgbClr val="1E1E1E"/>
                </a:solidFill>
              </a:rPr>
              <a:t>Multiple per type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B84812CD-C4E4-6649-A960-E6EE0881F859}"/>
              </a:ext>
            </a:extLst>
          </p:cNvPr>
          <p:cNvSpPr txBox="1"/>
          <p:nvPr/>
        </p:nvSpPr>
        <p:spPr>
          <a:xfrm>
            <a:off x="6705600" y="4495800"/>
            <a:ext cx="4826000" cy="635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300">
                <a:solidFill>
                  <a:srgbClr val="444444"/>
                </a:solidFill>
              </a:rPr>
              <a:t>One struct can implement many traits. No diamond problem because there's no inheritance.</a:t>
            </a:r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1952DC4A-8290-A34C-BF34-0D682EAEBC04}"/>
              </a:ext>
            </a:extLst>
          </p:cNvPr>
          <p:cNvSpPr/>
          <p:nvPr/>
        </p:nvSpPr>
        <p:spPr>
          <a:xfrm>
            <a:off x="6477000" y="5283200"/>
            <a:ext cx="127000" cy="127000"/>
          </a:xfrm>
          <a:prstGeom prst="ellipse">
            <a:avLst/>
          </a:prstGeom>
          <a:solidFill>
            <a:srgbClr val="CE422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2E0D0958-8CA7-5948-8676-B126D2BEF0AE}"/>
              </a:ext>
            </a:extLst>
          </p:cNvPr>
          <p:cNvSpPr txBox="1"/>
          <p:nvPr/>
        </p:nvSpPr>
        <p:spPr>
          <a:xfrm>
            <a:off x="6705600" y="5232400"/>
            <a:ext cx="4826000" cy="254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 b="1">
                <a:solidFill>
                  <a:srgbClr val="1E1E1E"/>
                </a:solidFill>
              </a:rPr>
              <a:t>Coherence rule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F13D7E91-CCCB-7841-8F70-5B644843797F}"/>
              </a:ext>
            </a:extLst>
          </p:cNvPr>
          <p:cNvSpPr txBox="1"/>
          <p:nvPr/>
        </p:nvSpPr>
        <p:spPr>
          <a:xfrm>
            <a:off x="6705600" y="5486400"/>
            <a:ext cx="4826000" cy="635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300">
                <a:solidFill>
                  <a:srgbClr val="444444"/>
                </a:solidFill>
              </a:rPr>
              <a:t>You can implement a trait for a type only if you own the trait OR the type — prevents conflicts.</a:t>
            </a:r>
          </a:p>
        </p:txBody>
      </p:sp>
    </p:spTree>
    <p:extLst>
      <p:ext uri="{BB962C8B-B14F-4D97-AF65-F5344CB8AC3E}">
        <p14:creationId xmlns:p14="http://schemas.microsoft.com/office/powerpoint/2010/main" val="339128616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0037864-3B13-5A43-AAA8-2E2307623E26}"/>
              </a:ext>
            </a:extLst>
          </p:cNvPr>
          <p:cNvSpPr txBox="1"/>
          <p:nvPr/>
        </p:nvSpPr>
        <p:spPr>
          <a:xfrm>
            <a:off x="838200" y="368300"/>
            <a:ext cx="10515600" cy="584775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3200" b="1" dirty="0">
                <a:solidFill>
                  <a:srgbClr val="1E1E1E"/>
                </a:solidFill>
              </a:rPr>
              <a:t>Traits vs C++ Abstract Classes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AAE03B7-0F4D-364A-AA59-1037661240D4}"/>
              </a:ext>
            </a:extLst>
          </p:cNvPr>
          <p:cNvSpPr/>
          <p:nvPr/>
        </p:nvSpPr>
        <p:spPr>
          <a:xfrm>
            <a:off x="838200" y="1079500"/>
            <a:ext cx="762000" cy="50800"/>
          </a:xfrm>
          <a:prstGeom prst="rect">
            <a:avLst/>
          </a:prstGeom>
          <a:solidFill>
            <a:srgbClr val="CE422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864B31F-1C73-9148-8A60-6BF6D3E229C9}"/>
              </a:ext>
            </a:extLst>
          </p:cNvPr>
          <p:cNvSpPr txBox="1"/>
          <p:nvPr/>
        </p:nvSpPr>
        <p:spPr>
          <a:xfrm>
            <a:off x="838200" y="1270000"/>
            <a:ext cx="10515600" cy="304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 i="1">
                <a:solidFill>
                  <a:srgbClr val="666666"/>
                </a:solidFill>
              </a:rPr>
              <a:t>Same goal — shared behavior across types — but very different mechanics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5771561-0206-E24C-82EB-E90AE85B60BD}"/>
              </a:ext>
            </a:extLst>
          </p:cNvPr>
          <p:cNvSpPr/>
          <p:nvPr/>
        </p:nvSpPr>
        <p:spPr>
          <a:xfrm>
            <a:off x="635000" y="1752600"/>
            <a:ext cx="5334000" cy="355600"/>
          </a:xfrm>
          <a:prstGeom prst="rect">
            <a:avLst/>
          </a:prstGeom>
          <a:solidFill>
            <a:srgbClr val="00599C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ctr" anchorCtr="0">
            <a:noAutofit/>
          </a:bodyPr>
          <a:lstStyle/>
          <a:p>
            <a:pPr algn="l"/>
            <a:r>
              <a:rPr lang="en-US" sz="1400" b="1">
                <a:solidFill>
                  <a:srgbClr val="FFFFFF"/>
                </a:solidFill>
              </a:rPr>
              <a:t>C++ — abstract class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6FCC55A-C698-D144-9106-1B6F0A59A924}"/>
              </a:ext>
            </a:extLst>
          </p:cNvPr>
          <p:cNvSpPr/>
          <p:nvPr/>
        </p:nvSpPr>
        <p:spPr>
          <a:xfrm>
            <a:off x="635000" y="2108200"/>
            <a:ext cx="5334000" cy="3048000"/>
          </a:xfrm>
          <a:prstGeom prst="rect">
            <a:avLst/>
          </a:prstGeom>
          <a:solidFill>
            <a:srgbClr val="1E1E1E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EBED77D-775D-924B-B827-1360B49D82E7}"/>
              </a:ext>
            </a:extLst>
          </p:cNvPr>
          <p:cNvSpPr txBox="1"/>
          <p:nvPr/>
        </p:nvSpPr>
        <p:spPr>
          <a:xfrm>
            <a:off x="787400" y="2235200"/>
            <a:ext cx="5080000" cy="28575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300">
                <a:solidFill>
                  <a:srgbClr val="F5F5F5"/>
                </a:solidFill>
                <a:latin typeface="Consolas"/>
                <a:cs typeface="Consolas"/>
              </a:rPr>
              <a:t>class IGreet {
public:
  virtual ~IGreet() = default;
  virtual std::string
    hello() const = 0;
};
class Dog : public IGreet {
  std::string name;
public:
  Dog(std::string n) : name(n) {}
  std::string hello() const
    override {
    return "Woof, " + name;
  }
};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2D526F78-CF78-524C-AC5A-2E2C5F119A9C}"/>
              </a:ext>
            </a:extLst>
          </p:cNvPr>
          <p:cNvSpPr/>
          <p:nvPr/>
        </p:nvSpPr>
        <p:spPr>
          <a:xfrm>
            <a:off x="6223000" y="1752600"/>
            <a:ext cx="5334000" cy="355600"/>
          </a:xfrm>
          <a:prstGeom prst="rect">
            <a:avLst/>
          </a:prstGeom>
          <a:solidFill>
            <a:srgbClr val="CE422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ctr" anchorCtr="0">
            <a:noAutofit/>
          </a:bodyPr>
          <a:lstStyle/>
          <a:p>
            <a:pPr algn="l"/>
            <a:r>
              <a:rPr lang="en-US" sz="1400" b="1">
                <a:solidFill>
                  <a:srgbClr val="FFFFFF"/>
                </a:solidFill>
              </a:rPr>
              <a:t>Rust — trait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C837C1F-295C-6B46-A2A3-75CF0CF6E6F8}"/>
              </a:ext>
            </a:extLst>
          </p:cNvPr>
          <p:cNvSpPr/>
          <p:nvPr/>
        </p:nvSpPr>
        <p:spPr>
          <a:xfrm>
            <a:off x="6223000" y="2108200"/>
            <a:ext cx="5334000" cy="3048000"/>
          </a:xfrm>
          <a:prstGeom prst="rect">
            <a:avLst/>
          </a:prstGeom>
          <a:solidFill>
            <a:srgbClr val="1E1E1E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3224485-A46E-1E40-9EED-B01F6BD7C031}"/>
              </a:ext>
            </a:extLst>
          </p:cNvPr>
          <p:cNvSpPr txBox="1"/>
          <p:nvPr/>
        </p:nvSpPr>
        <p:spPr>
          <a:xfrm>
            <a:off x="6375400" y="2235200"/>
            <a:ext cx="5080000" cy="28575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300">
                <a:solidFill>
                  <a:srgbClr val="F5F5F5"/>
                </a:solidFill>
                <a:latin typeface="Consolas"/>
                <a:cs typeface="Consolas"/>
              </a:rPr>
              <a:t>trait Greet {
    fn hello(&amp;self) -&gt; String;
}
struct Dog {
    name: String,
}
impl Greet for Dog {
    fn hello(&amp;self) -&gt; String {
        format!("Woof, {}",
                self.name)
    }
}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BDE0D27-3AC6-C14A-AB62-5ADAB0A41F7E}"/>
              </a:ext>
            </a:extLst>
          </p:cNvPr>
          <p:cNvSpPr txBox="1"/>
          <p:nvPr/>
        </p:nvSpPr>
        <p:spPr>
          <a:xfrm>
            <a:off x="635000" y="5270500"/>
            <a:ext cx="2032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200" b="1">
                <a:solidFill>
                  <a:srgbClr val="1E1E1E"/>
                </a:solidFill>
              </a:rPr>
              <a:t>Implementation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326BECB-09D1-E045-BD88-D94617FEC159}"/>
              </a:ext>
            </a:extLst>
          </p:cNvPr>
          <p:cNvSpPr txBox="1"/>
          <p:nvPr/>
        </p:nvSpPr>
        <p:spPr>
          <a:xfrm>
            <a:off x="2730500" y="5270500"/>
            <a:ext cx="4318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200">
                <a:solidFill>
                  <a:srgbClr val="00599C"/>
                </a:solidFill>
              </a:rPr>
              <a:t>Inheritance — class Dog : public IGreet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E5FE16D-6F67-114F-923D-452011518E7F}"/>
              </a:ext>
            </a:extLst>
          </p:cNvPr>
          <p:cNvSpPr txBox="1"/>
          <p:nvPr/>
        </p:nvSpPr>
        <p:spPr>
          <a:xfrm>
            <a:off x="7175500" y="5270500"/>
            <a:ext cx="4445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200">
                <a:solidFill>
                  <a:srgbClr val="CE422B"/>
                </a:solidFill>
              </a:rPr>
              <a:t>Separate impl block — no inheritance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FAD8C43-56E7-6242-AFA7-7E5247BC1AF3}"/>
              </a:ext>
            </a:extLst>
          </p:cNvPr>
          <p:cNvSpPr txBox="1"/>
          <p:nvPr/>
        </p:nvSpPr>
        <p:spPr>
          <a:xfrm>
            <a:off x="635000" y="5651500"/>
            <a:ext cx="2032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200" b="1">
                <a:solidFill>
                  <a:srgbClr val="1E1E1E"/>
                </a:solidFill>
              </a:rPr>
              <a:t>Dispatch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7A84A0D9-AA77-384E-AA2C-DDE0F132DBB8}"/>
              </a:ext>
            </a:extLst>
          </p:cNvPr>
          <p:cNvSpPr txBox="1"/>
          <p:nvPr/>
        </p:nvSpPr>
        <p:spPr>
          <a:xfrm>
            <a:off x="2730500" y="5651500"/>
            <a:ext cx="4318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200">
                <a:solidFill>
                  <a:srgbClr val="00599C"/>
                </a:solidFill>
              </a:rPr>
              <a:t>Always virtual (vtable, runtime)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DE63BC7-14CF-6E4A-9182-D145211AD10E}"/>
              </a:ext>
            </a:extLst>
          </p:cNvPr>
          <p:cNvSpPr txBox="1"/>
          <p:nvPr/>
        </p:nvSpPr>
        <p:spPr>
          <a:xfrm>
            <a:off x="7175500" y="5651500"/>
            <a:ext cx="4445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200">
                <a:solidFill>
                  <a:srgbClr val="CE422B"/>
                </a:solidFill>
              </a:rPr>
              <a:t>Static by default, dyn opts into vtable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1664318-80A8-FF4D-955B-7618EC2D02D0}"/>
              </a:ext>
            </a:extLst>
          </p:cNvPr>
          <p:cNvSpPr txBox="1"/>
          <p:nvPr/>
        </p:nvSpPr>
        <p:spPr>
          <a:xfrm>
            <a:off x="635000" y="6032500"/>
            <a:ext cx="2032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200" b="1">
                <a:solidFill>
                  <a:srgbClr val="1E1E1E"/>
                </a:solidFill>
              </a:rPr>
              <a:t>Adding to a type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524B6F38-AAC8-DA42-89AD-43DDD79EC1AE}"/>
              </a:ext>
            </a:extLst>
          </p:cNvPr>
          <p:cNvSpPr txBox="1"/>
          <p:nvPr/>
        </p:nvSpPr>
        <p:spPr>
          <a:xfrm>
            <a:off x="2730500" y="6032500"/>
            <a:ext cx="4318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200">
                <a:solidFill>
                  <a:srgbClr val="00599C"/>
                </a:solidFill>
              </a:rPr>
              <a:t>Must modify the class definition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2C8EFDF6-78A0-4348-A70E-D51D5DE3747B}"/>
              </a:ext>
            </a:extLst>
          </p:cNvPr>
          <p:cNvSpPr txBox="1"/>
          <p:nvPr/>
        </p:nvSpPr>
        <p:spPr>
          <a:xfrm>
            <a:off x="7175500" y="6032500"/>
            <a:ext cx="4445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200">
                <a:solidFill>
                  <a:srgbClr val="CE422B"/>
                </a:solidFill>
              </a:rPr>
              <a:t>Add impl from anywhere (orphan rule applies)</a:t>
            </a:r>
          </a:p>
        </p:txBody>
      </p:sp>
    </p:spTree>
    <p:extLst>
      <p:ext uri="{BB962C8B-B14F-4D97-AF65-F5344CB8AC3E}">
        <p14:creationId xmlns:p14="http://schemas.microsoft.com/office/powerpoint/2010/main" val="351975707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71FC51F-3965-C04F-B79B-D4A5B82D1DFD}"/>
              </a:ext>
            </a:extLst>
          </p:cNvPr>
          <p:cNvSpPr txBox="1"/>
          <p:nvPr/>
        </p:nvSpPr>
        <p:spPr>
          <a:xfrm>
            <a:off x="838200" y="368300"/>
            <a:ext cx="10515600" cy="635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3200" b="1">
                <a:solidFill>
                  <a:srgbClr val="1E1E1E"/>
                </a:solidFill>
              </a:rPr>
              <a:t>Static vs Dynamic Dispatch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E84DFA6-C399-F345-B2EA-0FCF9C359680}"/>
              </a:ext>
            </a:extLst>
          </p:cNvPr>
          <p:cNvSpPr/>
          <p:nvPr/>
        </p:nvSpPr>
        <p:spPr>
          <a:xfrm>
            <a:off x="838200" y="1079500"/>
            <a:ext cx="762000" cy="50800"/>
          </a:xfrm>
          <a:prstGeom prst="rect">
            <a:avLst/>
          </a:prstGeom>
          <a:solidFill>
            <a:srgbClr val="CE422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6EBCDD5-8BF4-BD48-B6E0-209A7DB54F89}"/>
              </a:ext>
            </a:extLst>
          </p:cNvPr>
          <p:cNvSpPr txBox="1"/>
          <p:nvPr/>
        </p:nvSpPr>
        <p:spPr>
          <a:xfrm>
            <a:off x="838200" y="1270000"/>
            <a:ext cx="10515600" cy="304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 i="1">
                <a:solidFill>
                  <a:srgbClr val="666666"/>
                </a:solidFill>
              </a:rPr>
              <a:t>Rust lets you choose: monomorphized at compile time, or dispatched through a vtable at runtime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B34FDE8-0F99-F842-9EC6-6E3354B15AA1}"/>
              </a:ext>
            </a:extLst>
          </p:cNvPr>
          <p:cNvSpPr/>
          <p:nvPr/>
        </p:nvSpPr>
        <p:spPr>
          <a:xfrm>
            <a:off x="635000" y="1752600"/>
            <a:ext cx="5334000" cy="381000"/>
          </a:xfrm>
          <a:prstGeom prst="rect">
            <a:avLst/>
          </a:prstGeom>
          <a:solidFill>
            <a:srgbClr val="1E1E1E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ctr" anchorCtr="0">
            <a:noAutofit/>
          </a:bodyPr>
          <a:lstStyle/>
          <a:p>
            <a:pPr algn="l"/>
            <a:r>
              <a:rPr lang="en-US" sz="1600" b="1">
                <a:solidFill>
                  <a:srgbClr val="A8E6A1"/>
                </a:solidFill>
              </a:rPr>
              <a:t>Static — generics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6E9342D-C734-9E48-9CBA-DF16FEAF6179}"/>
              </a:ext>
            </a:extLst>
          </p:cNvPr>
          <p:cNvSpPr/>
          <p:nvPr/>
        </p:nvSpPr>
        <p:spPr>
          <a:xfrm>
            <a:off x="635000" y="2133600"/>
            <a:ext cx="5334000" cy="1651000"/>
          </a:xfrm>
          <a:prstGeom prst="rect">
            <a:avLst/>
          </a:prstGeom>
          <a:solidFill>
            <a:srgbClr val="1E1E1E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EA972F5-8B8B-F240-8D57-CDBC7D3426FD}"/>
              </a:ext>
            </a:extLst>
          </p:cNvPr>
          <p:cNvSpPr txBox="1"/>
          <p:nvPr/>
        </p:nvSpPr>
        <p:spPr>
          <a:xfrm>
            <a:off x="787400" y="2235200"/>
            <a:ext cx="5080000" cy="149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300">
                <a:solidFill>
                  <a:srgbClr val="F5F5F5"/>
                </a:solidFill>
                <a:latin typeface="Consolas"/>
                <a:cs typeface="Consolas"/>
              </a:rPr>
              <a:t>fn greet&lt;T: Greet&gt;(g: &amp;T) {
    println!("{}", g.hello());
}
// Compiler generates one
// specialized version per
// concrete type used.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6C4203C-7240-3242-A1C7-298E7FB6E7A7}"/>
              </a:ext>
            </a:extLst>
          </p:cNvPr>
          <p:cNvSpPr txBox="1"/>
          <p:nvPr/>
        </p:nvSpPr>
        <p:spPr>
          <a:xfrm>
            <a:off x="635000" y="3911600"/>
            <a:ext cx="5334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300" b="1">
                <a:solidFill>
                  <a:srgbClr val="2E7D32"/>
                </a:solidFill>
              </a:rPr>
              <a:t>✓ Pros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DE787A3-EE79-EA4B-B612-9A2B2142A51B}"/>
              </a:ext>
            </a:extLst>
          </p:cNvPr>
          <p:cNvSpPr txBox="1"/>
          <p:nvPr/>
        </p:nvSpPr>
        <p:spPr>
          <a:xfrm>
            <a:off x="685800" y="4191000"/>
            <a:ext cx="5283200" cy="254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300">
                <a:solidFill>
                  <a:srgbClr val="1E1E1E"/>
                </a:solidFill>
              </a:rPr>
              <a:t>•  Zero runtime cost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197501E-A5E2-CC47-8498-DF6F55850716}"/>
              </a:ext>
            </a:extLst>
          </p:cNvPr>
          <p:cNvSpPr txBox="1"/>
          <p:nvPr/>
        </p:nvSpPr>
        <p:spPr>
          <a:xfrm>
            <a:off x="685800" y="4470400"/>
            <a:ext cx="5283200" cy="254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300">
                <a:solidFill>
                  <a:srgbClr val="1E1E1E"/>
                </a:solidFill>
              </a:rPr>
              <a:t>•  Inlinable, fully optimized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D850381-9829-3E4A-AAAA-B9DB4A5A09D6}"/>
              </a:ext>
            </a:extLst>
          </p:cNvPr>
          <p:cNvSpPr txBox="1"/>
          <p:nvPr/>
        </p:nvSpPr>
        <p:spPr>
          <a:xfrm>
            <a:off x="685800" y="4749800"/>
            <a:ext cx="5283200" cy="254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300">
                <a:solidFill>
                  <a:srgbClr val="1E1E1E"/>
                </a:solidFill>
              </a:rPr>
              <a:t>•  Errors caught at compile time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DC131A2-A8E2-AF49-ABE1-B41C4FAD6CAC}"/>
              </a:ext>
            </a:extLst>
          </p:cNvPr>
          <p:cNvSpPr txBox="1"/>
          <p:nvPr/>
        </p:nvSpPr>
        <p:spPr>
          <a:xfrm>
            <a:off x="635000" y="5105400"/>
            <a:ext cx="5334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300" b="1">
                <a:solidFill>
                  <a:srgbClr val="C62828"/>
                </a:solidFill>
              </a:rPr>
              <a:t>✗ Cons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5DFF809-C3C9-7543-98FE-F181E67605A4}"/>
              </a:ext>
            </a:extLst>
          </p:cNvPr>
          <p:cNvSpPr txBox="1"/>
          <p:nvPr/>
        </p:nvSpPr>
        <p:spPr>
          <a:xfrm>
            <a:off x="685800" y="5384800"/>
            <a:ext cx="5283200" cy="254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300">
                <a:solidFill>
                  <a:srgbClr val="1E1E1E"/>
                </a:solidFill>
              </a:rPr>
              <a:t>•  Larger binary (code bloat)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78E2BB3-5C3D-2E40-879B-2E4E5D4F2910}"/>
              </a:ext>
            </a:extLst>
          </p:cNvPr>
          <p:cNvSpPr txBox="1"/>
          <p:nvPr/>
        </p:nvSpPr>
        <p:spPr>
          <a:xfrm>
            <a:off x="685800" y="5664200"/>
            <a:ext cx="5283200" cy="254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300">
                <a:solidFill>
                  <a:srgbClr val="1E1E1E"/>
                </a:solidFill>
              </a:rPr>
              <a:t>•  All types known at compile time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413B3A0E-FF1F-2245-867F-160B9048403B}"/>
              </a:ext>
            </a:extLst>
          </p:cNvPr>
          <p:cNvSpPr/>
          <p:nvPr/>
        </p:nvSpPr>
        <p:spPr>
          <a:xfrm>
            <a:off x="6223000" y="1752600"/>
            <a:ext cx="5334000" cy="381000"/>
          </a:xfrm>
          <a:prstGeom prst="rect">
            <a:avLst/>
          </a:prstGeom>
          <a:solidFill>
            <a:srgbClr val="1E1E1E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ctr" anchorCtr="0">
            <a:noAutofit/>
          </a:bodyPr>
          <a:lstStyle/>
          <a:p>
            <a:pPr algn="l"/>
            <a:r>
              <a:rPr lang="en-US" sz="1600" b="1">
                <a:solidFill>
                  <a:srgbClr val="FFB37A"/>
                </a:solidFill>
              </a:rPr>
              <a:t>Dynamic — dyn Trait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3EC3764A-02FE-3945-83EB-6FB8689BD700}"/>
              </a:ext>
            </a:extLst>
          </p:cNvPr>
          <p:cNvSpPr/>
          <p:nvPr/>
        </p:nvSpPr>
        <p:spPr>
          <a:xfrm>
            <a:off x="6223000" y="2133600"/>
            <a:ext cx="5334000" cy="1651000"/>
          </a:xfrm>
          <a:prstGeom prst="rect">
            <a:avLst/>
          </a:prstGeom>
          <a:solidFill>
            <a:srgbClr val="1E1E1E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0EC803B7-B35E-DF47-A5FC-83B6EE107385}"/>
              </a:ext>
            </a:extLst>
          </p:cNvPr>
          <p:cNvSpPr txBox="1"/>
          <p:nvPr/>
        </p:nvSpPr>
        <p:spPr>
          <a:xfrm>
            <a:off x="6375400" y="2235200"/>
            <a:ext cx="5080000" cy="149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300">
                <a:solidFill>
                  <a:srgbClr val="F5F5F5"/>
                </a:solidFill>
                <a:latin typeface="Consolas"/>
                <a:cs typeface="Consolas"/>
              </a:rPr>
              <a:t>fn greet(g: &amp;dyn Greet) {
    println!("{}", g.hello());
}
// One function, vtable lookup
// resolves the call at runtime
// — like a C++ virtual call.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422E297E-7B48-CD49-B460-58846496C336}"/>
              </a:ext>
            </a:extLst>
          </p:cNvPr>
          <p:cNvSpPr txBox="1"/>
          <p:nvPr/>
        </p:nvSpPr>
        <p:spPr>
          <a:xfrm>
            <a:off x="6223000" y="3911600"/>
            <a:ext cx="5334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300" b="1">
                <a:solidFill>
                  <a:srgbClr val="2E7D32"/>
                </a:solidFill>
              </a:rPr>
              <a:t>✓ Pros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075B04C5-1893-9A49-97D3-B6D9C804E24F}"/>
              </a:ext>
            </a:extLst>
          </p:cNvPr>
          <p:cNvSpPr txBox="1"/>
          <p:nvPr/>
        </p:nvSpPr>
        <p:spPr>
          <a:xfrm>
            <a:off x="6273800" y="4191000"/>
            <a:ext cx="5283200" cy="254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300">
                <a:solidFill>
                  <a:srgbClr val="1E1E1E"/>
                </a:solidFill>
              </a:rPr>
              <a:t>•  Smaller binary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77CDDE51-6FC9-A94A-A894-EC716126D969}"/>
              </a:ext>
            </a:extLst>
          </p:cNvPr>
          <p:cNvSpPr txBox="1"/>
          <p:nvPr/>
        </p:nvSpPr>
        <p:spPr>
          <a:xfrm>
            <a:off x="6273800" y="4470400"/>
            <a:ext cx="5283200" cy="254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300">
                <a:solidFill>
                  <a:srgbClr val="1E1E1E"/>
                </a:solidFill>
              </a:rPr>
              <a:t>•  Heterogeneous Vec&lt;Box&lt;dyn T&gt;&gt;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D5D3DB32-2AB7-B24E-886D-49288EF5CF71}"/>
              </a:ext>
            </a:extLst>
          </p:cNvPr>
          <p:cNvSpPr txBox="1"/>
          <p:nvPr/>
        </p:nvSpPr>
        <p:spPr>
          <a:xfrm>
            <a:off x="6273800" y="4749800"/>
            <a:ext cx="5283200" cy="254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300">
                <a:solidFill>
                  <a:srgbClr val="1E1E1E"/>
                </a:solidFill>
              </a:rPr>
              <a:t>•  Plugin-style polymorphism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ED487A20-631B-3248-8082-71FEDB0B91C7}"/>
              </a:ext>
            </a:extLst>
          </p:cNvPr>
          <p:cNvSpPr txBox="1"/>
          <p:nvPr/>
        </p:nvSpPr>
        <p:spPr>
          <a:xfrm>
            <a:off x="6223000" y="5105400"/>
            <a:ext cx="5334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300" b="1">
                <a:solidFill>
                  <a:srgbClr val="C62828"/>
                </a:solidFill>
              </a:rPr>
              <a:t>✗ Cons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55064897-E879-6342-8901-1C72F779F610}"/>
              </a:ext>
            </a:extLst>
          </p:cNvPr>
          <p:cNvSpPr txBox="1"/>
          <p:nvPr/>
        </p:nvSpPr>
        <p:spPr>
          <a:xfrm>
            <a:off x="6273800" y="5384800"/>
            <a:ext cx="5283200" cy="254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300">
                <a:solidFill>
                  <a:srgbClr val="1E1E1E"/>
                </a:solidFill>
              </a:rPr>
              <a:t>•  Indirect call (no inlining)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753A972B-F0C7-4A47-B5EB-22C431CFDE52}"/>
              </a:ext>
            </a:extLst>
          </p:cNvPr>
          <p:cNvSpPr txBox="1"/>
          <p:nvPr/>
        </p:nvSpPr>
        <p:spPr>
          <a:xfrm>
            <a:off x="6273800" y="5664200"/>
            <a:ext cx="5283200" cy="254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300">
                <a:solidFill>
                  <a:srgbClr val="1E1E1E"/>
                </a:solidFill>
              </a:rPr>
              <a:t>•  Trait must be 'object safe'</a:t>
            </a:r>
          </a:p>
        </p:txBody>
      </p:sp>
    </p:spTree>
    <p:extLst>
      <p:ext uri="{BB962C8B-B14F-4D97-AF65-F5344CB8AC3E}">
        <p14:creationId xmlns:p14="http://schemas.microsoft.com/office/powerpoint/2010/main" val="245168166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TextBox 31">
            <a:extLst>
              <a:ext uri="{FF2B5EF4-FFF2-40B4-BE49-F238E27FC236}">
                <a16:creationId xmlns:a16="http://schemas.microsoft.com/office/drawing/2014/main" id="{28C95FDA-5EB1-D440-AE97-60C11682628C}"/>
              </a:ext>
            </a:extLst>
          </p:cNvPr>
          <p:cNvSpPr txBox="1"/>
          <p:nvPr/>
        </p:nvSpPr>
        <p:spPr>
          <a:xfrm>
            <a:off x="838200" y="317500"/>
            <a:ext cx="10515600" cy="558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3000" b="1">
                <a:solidFill>
                  <a:srgbClr val="1E1E1E"/>
                </a:solidFill>
              </a:rPr>
              <a:t>Utility Traits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70F97252-290E-D442-9367-A7B994F13A05}"/>
              </a:ext>
            </a:extLst>
          </p:cNvPr>
          <p:cNvSpPr/>
          <p:nvPr/>
        </p:nvSpPr>
        <p:spPr>
          <a:xfrm>
            <a:off x="838200" y="914400"/>
            <a:ext cx="762000" cy="50800"/>
          </a:xfrm>
          <a:prstGeom prst="rect">
            <a:avLst/>
          </a:prstGeom>
          <a:solidFill>
            <a:srgbClr val="CE422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63D00EF3-0D17-284E-A068-6884B4E5D822}"/>
              </a:ext>
            </a:extLst>
          </p:cNvPr>
          <p:cNvSpPr txBox="1"/>
          <p:nvPr/>
        </p:nvSpPr>
        <p:spPr>
          <a:xfrm>
            <a:off x="838200" y="1066800"/>
            <a:ext cx="10515600" cy="457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300" i="1">
                <a:solidFill>
                  <a:srgbClr val="666666"/>
                </a:solidFill>
              </a:rPr>
              <a:t>Standard library traits that let your types plug into Rust's core: memory management, conversions, formatting, and pointer behavior.</a:t>
            </a: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20CC2B00-A64A-314E-AE5E-D0AEDF923929}"/>
              </a:ext>
            </a:extLst>
          </p:cNvPr>
          <p:cNvSpPr/>
          <p:nvPr/>
        </p:nvSpPr>
        <p:spPr>
          <a:xfrm>
            <a:off x="635000" y="1651000"/>
            <a:ext cx="2667000" cy="2133600"/>
          </a:xfrm>
          <a:prstGeom prst="rect">
            <a:avLst/>
          </a:prstGeom>
          <a:solidFill>
            <a:srgbClr val="1E1E1E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6464525A-12B6-1F4A-89F0-CA4AE2B65E83}"/>
              </a:ext>
            </a:extLst>
          </p:cNvPr>
          <p:cNvSpPr/>
          <p:nvPr/>
        </p:nvSpPr>
        <p:spPr>
          <a:xfrm>
            <a:off x="635000" y="1651000"/>
            <a:ext cx="2667000" cy="50800"/>
          </a:xfrm>
          <a:prstGeom prst="rect">
            <a:avLst/>
          </a:prstGeom>
          <a:solidFill>
            <a:srgbClr val="8E44AD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990FE0A5-0A93-A941-B09D-214E7CC04EA1}"/>
              </a:ext>
            </a:extLst>
          </p:cNvPr>
          <p:cNvSpPr txBox="1"/>
          <p:nvPr/>
        </p:nvSpPr>
        <p:spPr>
          <a:xfrm>
            <a:off x="787400" y="1778000"/>
            <a:ext cx="2362200" cy="203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000" b="1">
                <a:solidFill>
                  <a:srgbClr val="8E44AD"/>
                </a:solidFill>
              </a:rPr>
              <a:t>LIFECYCLE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48049ABE-99D3-474D-BF6F-501894C85BAA}"/>
              </a:ext>
            </a:extLst>
          </p:cNvPr>
          <p:cNvSpPr txBox="1"/>
          <p:nvPr/>
        </p:nvSpPr>
        <p:spPr>
          <a:xfrm>
            <a:off x="787400" y="2006600"/>
            <a:ext cx="2362200" cy="355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700" b="1">
                <a:solidFill>
                  <a:srgbClr val="A8E6A1"/>
                </a:solidFill>
                <a:latin typeface="Consolas"/>
                <a:cs typeface="Consolas"/>
              </a:rPr>
              <a:t>Drop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18EDC353-2B39-6247-A6EA-B79162B7E785}"/>
              </a:ext>
            </a:extLst>
          </p:cNvPr>
          <p:cNvSpPr txBox="1"/>
          <p:nvPr/>
        </p:nvSpPr>
        <p:spPr>
          <a:xfrm>
            <a:off x="787400" y="2362200"/>
            <a:ext cx="23622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100">
                <a:solidFill>
                  <a:srgbClr val="888888"/>
                </a:solidFill>
                <a:latin typeface="Consolas"/>
                <a:cs typeface="Consolas"/>
              </a:rPr>
              <a:t>std::ops::Drop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AA158EC5-D1CE-834A-B64B-CC1886CD7CEF}"/>
              </a:ext>
            </a:extLst>
          </p:cNvPr>
          <p:cNvSpPr txBox="1"/>
          <p:nvPr/>
        </p:nvSpPr>
        <p:spPr>
          <a:xfrm>
            <a:off x="787400" y="2641600"/>
            <a:ext cx="2362200" cy="1041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200">
                <a:solidFill>
                  <a:srgbClr val="F5F5F5"/>
                </a:solidFill>
              </a:rPr>
              <a:t>Custom cleanup logic that runs when a value goes out of scope.</a:t>
            </a: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F00D4420-F317-B042-AE3D-6032B8CEAAE5}"/>
              </a:ext>
            </a:extLst>
          </p:cNvPr>
          <p:cNvSpPr/>
          <p:nvPr/>
        </p:nvSpPr>
        <p:spPr>
          <a:xfrm>
            <a:off x="3454400" y="1651000"/>
            <a:ext cx="2667000" cy="2133600"/>
          </a:xfrm>
          <a:prstGeom prst="rect">
            <a:avLst/>
          </a:prstGeom>
          <a:solidFill>
            <a:srgbClr val="1E1E1E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61FDEF4A-9710-9145-936F-4125BC5FB597}"/>
              </a:ext>
            </a:extLst>
          </p:cNvPr>
          <p:cNvSpPr/>
          <p:nvPr/>
        </p:nvSpPr>
        <p:spPr>
          <a:xfrm>
            <a:off x="3454400" y="1651000"/>
            <a:ext cx="2667000" cy="50800"/>
          </a:xfrm>
          <a:prstGeom prst="rect">
            <a:avLst/>
          </a:prstGeom>
          <a:solidFill>
            <a:srgbClr val="666666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695A5F6E-53A3-F542-A624-FE1E60C38414}"/>
              </a:ext>
            </a:extLst>
          </p:cNvPr>
          <p:cNvSpPr txBox="1"/>
          <p:nvPr/>
        </p:nvSpPr>
        <p:spPr>
          <a:xfrm>
            <a:off x="3606800" y="1778000"/>
            <a:ext cx="2362200" cy="203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000" b="1">
                <a:solidFill>
                  <a:srgbClr val="666666"/>
                </a:solidFill>
              </a:rPr>
              <a:t>MARKER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A50A3746-FEA7-C946-884C-5E2EFBB63F17}"/>
              </a:ext>
            </a:extLst>
          </p:cNvPr>
          <p:cNvSpPr txBox="1"/>
          <p:nvPr/>
        </p:nvSpPr>
        <p:spPr>
          <a:xfrm>
            <a:off x="3606800" y="2006600"/>
            <a:ext cx="2362200" cy="355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700" b="1">
                <a:solidFill>
                  <a:srgbClr val="A8E6A1"/>
                </a:solidFill>
                <a:latin typeface="Consolas"/>
                <a:cs typeface="Consolas"/>
              </a:rPr>
              <a:t>Sized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76630C67-F413-B340-8BA5-3A2ADBB4C0A7}"/>
              </a:ext>
            </a:extLst>
          </p:cNvPr>
          <p:cNvSpPr txBox="1"/>
          <p:nvPr/>
        </p:nvSpPr>
        <p:spPr>
          <a:xfrm>
            <a:off x="3606800" y="2362200"/>
            <a:ext cx="23622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100">
                <a:solidFill>
                  <a:srgbClr val="888888"/>
                </a:solidFill>
                <a:latin typeface="Consolas"/>
                <a:cs typeface="Consolas"/>
              </a:rPr>
              <a:t>std::marker::Sized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834CDEE5-63DF-6048-981C-9D3A49BED070}"/>
              </a:ext>
            </a:extLst>
          </p:cNvPr>
          <p:cNvSpPr txBox="1"/>
          <p:nvPr/>
        </p:nvSpPr>
        <p:spPr>
          <a:xfrm>
            <a:off x="3606800" y="2641600"/>
            <a:ext cx="2362200" cy="1041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200">
                <a:solidFill>
                  <a:srgbClr val="F5F5F5"/>
                </a:solidFill>
              </a:rPr>
              <a:t>Marker for types whose size is known at compile time.</a:t>
            </a:r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163D1506-D865-D641-8FF9-388304D6663E}"/>
              </a:ext>
            </a:extLst>
          </p:cNvPr>
          <p:cNvSpPr/>
          <p:nvPr/>
        </p:nvSpPr>
        <p:spPr>
          <a:xfrm>
            <a:off x="6273800" y="1651000"/>
            <a:ext cx="2667000" cy="2133600"/>
          </a:xfrm>
          <a:prstGeom prst="rect">
            <a:avLst/>
          </a:prstGeom>
          <a:solidFill>
            <a:srgbClr val="1E1E1E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D12951E8-8214-6343-8F12-7AFD3AFDC500}"/>
              </a:ext>
            </a:extLst>
          </p:cNvPr>
          <p:cNvSpPr/>
          <p:nvPr/>
        </p:nvSpPr>
        <p:spPr>
          <a:xfrm>
            <a:off x="6273800" y="1651000"/>
            <a:ext cx="2667000" cy="50800"/>
          </a:xfrm>
          <a:prstGeom prst="rect">
            <a:avLst/>
          </a:prstGeom>
          <a:solidFill>
            <a:srgbClr val="1976D2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B4ADF088-95D1-7749-9A44-BB8BA233C39B}"/>
              </a:ext>
            </a:extLst>
          </p:cNvPr>
          <p:cNvSpPr txBox="1"/>
          <p:nvPr/>
        </p:nvSpPr>
        <p:spPr>
          <a:xfrm>
            <a:off x="6426200" y="1778000"/>
            <a:ext cx="2362200" cy="203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000" b="1">
                <a:solidFill>
                  <a:srgbClr val="1976D2"/>
                </a:solidFill>
              </a:rPr>
              <a:t>POINTER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51FB626F-FF1E-0A49-9A47-5AFA95CA2F1F}"/>
              </a:ext>
            </a:extLst>
          </p:cNvPr>
          <p:cNvSpPr txBox="1"/>
          <p:nvPr/>
        </p:nvSpPr>
        <p:spPr>
          <a:xfrm>
            <a:off x="6426200" y="2006600"/>
            <a:ext cx="2362200" cy="355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700" b="1">
                <a:solidFill>
                  <a:srgbClr val="A8E6A1"/>
                </a:solidFill>
                <a:latin typeface="Consolas"/>
                <a:cs typeface="Consolas"/>
              </a:rPr>
              <a:t>Deref / DerefMut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1DFAD2AC-A743-F04E-AF33-90835F73FF91}"/>
              </a:ext>
            </a:extLst>
          </p:cNvPr>
          <p:cNvSpPr txBox="1"/>
          <p:nvPr/>
        </p:nvSpPr>
        <p:spPr>
          <a:xfrm>
            <a:off x="6426200" y="2362200"/>
            <a:ext cx="23622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100">
                <a:solidFill>
                  <a:srgbClr val="888888"/>
                </a:solidFill>
                <a:latin typeface="Consolas"/>
                <a:cs typeface="Consolas"/>
              </a:rPr>
              <a:t>std::ops::Deref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E1306A95-BFE8-2E41-991E-F8143268B3D8}"/>
              </a:ext>
            </a:extLst>
          </p:cNvPr>
          <p:cNvSpPr txBox="1"/>
          <p:nvPr/>
        </p:nvSpPr>
        <p:spPr>
          <a:xfrm>
            <a:off x="6426200" y="2641600"/>
            <a:ext cx="2362200" cy="1041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200">
                <a:solidFill>
                  <a:srgbClr val="F5F5F5"/>
                </a:solidFill>
              </a:rPr>
              <a:t>Lets your type act like a pointer (*v) — powers Box, Vec, smart pointers.</a:t>
            </a:r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5A3E3A0A-E72F-D641-9FBE-86C15D416BDA}"/>
              </a:ext>
            </a:extLst>
          </p:cNvPr>
          <p:cNvSpPr/>
          <p:nvPr/>
        </p:nvSpPr>
        <p:spPr>
          <a:xfrm>
            <a:off x="9093200" y="1651000"/>
            <a:ext cx="2667000" cy="2133600"/>
          </a:xfrm>
          <a:prstGeom prst="rect">
            <a:avLst/>
          </a:prstGeom>
          <a:solidFill>
            <a:srgbClr val="1E1E1E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B0A95F45-C3CE-644B-992A-1909EE875D60}"/>
              </a:ext>
            </a:extLst>
          </p:cNvPr>
          <p:cNvSpPr/>
          <p:nvPr/>
        </p:nvSpPr>
        <p:spPr>
          <a:xfrm>
            <a:off x="9093200" y="1651000"/>
            <a:ext cx="2667000" cy="50800"/>
          </a:xfrm>
          <a:prstGeom prst="rect">
            <a:avLst/>
          </a:prstGeom>
          <a:solidFill>
            <a:srgbClr val="00897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4FEAB4F4-951E-9344-92D3-ED8E37F8DCF2}"/>
              </a:ext>
            </a:extLst>
          </p:cNvPr>
          <p:cNvSpPr txBox="1"/>
          <p:nvPr/>
        </p:nvSpPr>
        <p:spPr>
          <a:xfrm>
            <a:off x="9245600" y="1778000"/>
            <a:ext cx="2362200" cy="203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000" b="1">
                <a:solidFill>
                  <a:srgbClr val="00897B"/>
                </a:solidFill>
              </a:rPr>
              <a:t>CONVERSION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B086BE87-C27B-7C46-807B-C12B4BEB359A}"/>
              </a:ext>
            </a:extLst>
          </p:cNvPr>
          <p:cNvSpPr txBox="1"/>
          <p:nvPr/>
        </p:nvSpPr>
        <p:spPr>
          <a:xfrm>
            <a:off x="9245600" y="2006600"/>
            <a:ext cx="2362200" cy="355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700" b="1">
                <a:solidFill>
                  <a:srgbClr val="A8E6A1"/>
                </a:solidFill>
                <a:latin typeface="Consolas"/>
                <a:cs typeface="Consolas"/>
              </a:rPr>
              <a:t>AsRef / AsMut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F5CFBD95-9179-094D-B733-B3C99298766F}"/>
              </a:ext>
            </a:extLst>
          </p:cNvPr>
          <p:cNvSpPr txBox="1"/>
          <p:nvPr/>
        </p:nvSpPr>
        <p:spPr>
          <a:xfrm>
            <a:off x="9245600" y="2362200"/>
            <a:ext cx="23622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100">
                <a:solidFill>
                  <a:srgbClr val="888888"/>
                </a:solidFill>
                <a:latin typeface="Consolas"/>
                <a:cs typeface="Consolas"/>
              </a:rPr>
              <a:t>std::convert::AsRef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900B8002-0FB8-7E45-89B2-EDCD77D38B07}"/>
              </a:ext>
            </a:extLst>
          </p:cNvPr>
          <p:cNvSpPr txBox="1"/>
          <p:nvPr/>
        </p:nvSpPr>
        <p:spPr>
          <a:xfrm>
            <a:off x="9245600" y="2641600"/>
            <a:ext cx="2362200" cy="1041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200">
                <a:solidFill>
                  <a:srgbClr val="F5F5F5"/>
                </a:solidFill>
              </a:rPr>
              <a:t>Cheap reference-to-reference conversion — APIs that accept &amp;str or String.</a:t>
            </a:r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DCEAC189-3FBB-184D-8101-DA86E8912CC6}"/>
              </a:ext>
            </a:extLst>
          </p:cNvPr>
          <p:cNvSpPr/>
          <p:nvPr/>
        </p:nvSpPr>
        <p:spPr>
          <a:xfrm>
            <a:off x="635000" y="3937000"/>
            <a:ext cx="2667000" cy="2133600"/>
          </a:xfrm>
          <a:prstGeom prst="rect">
            <a:avLst/>
          </a:prstGeom>
          <a:solidFill>
            <a:srgbClr val="1E1E1E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8689666D-73F9-3D4B-AE03-FA5CA5C0E089}"/>
              </a:ext>
            </a:extLst>
          </p:cNvPr>
          <p:cNvSpPr/>
          <p:nvPr/>
        </p:nvSpPr>
        <p:spPr>
          <a:xfrm>
            <a:off x="635000" y="3937000"/>
            <a:ext cx="2667000" cy="50800"/>
          </a:xfrm>
          <a:prstGeom prst="rect">
            <a:avLst/>
          </a:prstGeom>
          <a:solidFill>
            <a:srgbClr val="00897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A96DA21D-8A50-B341-A251-024BEF72F54A}"/>
              </a:ext>
            </a:extLst>
          </p:cNvPr>
          <p:cNvSpPr txBox="1"/>
          <p:nvPr/>
        </p:nvSpPr>
        <p:spPr>
          <a:xfrm>
            <a:off x="787400" y="4064000"/>
            <a:ext cx="2362200" cy="203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000" b="1">
                <a:solidFill>
                  <a:srgbClr val="00897B"/>
                </a:solidFill>
              </a:rPr>
              <a:t>CONVERSION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92AD6F29-7149-BB48-B2CB-2EC37553A265}"/>
              </a:ext>
            </a:extLst>
          </p:cNvPr>
          <p:cNvSpPr txBox="1"/>
          <p:nvPr/>
        </p:nvSpPr>
        <p:spPr>
          <a:xfrm>
            <a:off x="787400" y="4292600"/>
            <a:ext cx="2362200" cy="355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700" b="1">
                <a:solidFill>
                  <a:srgbClr val="A8E6A1"/>
                </a:solidFill>
                <a:latin typeface="Consolas"/>
                <a:cs typeface="Consolas"/>
              </a:rPr>
              <a:t>From / Into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9D00BAAF-6A3A-4747-A962-75FC9D80A7F1}"/>
              </a:ext>
            </a:extLst>
          </p:cNvPr>
          <p:cNvSpPr txBox="1"/>
          <p:nvPr/>
        </p:nvSpPr>
        <p:spPr>
          <a:xfrm>
            <a:off x="787400" y="4648200"/>
            <a:ext cx="23622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100">
                <a:solidFill>
                  <a:srgbClr val="888888"/>
                </a:solidFill>
                <a:latin typeface="Consolas"/>
                <a:cs typeface="Consolas"/>
              </a:rPr>
              <a:t>std::convert::From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BAFC1EC6-F2C6-DE4D-8B33-0B76712241AF}"/>
              </a:ext>
            </a:extLst>
          </p:cNvPr>
          <p:cNvSpPr txBox="1"/>
          <p:nvPr/>
        </p:nvSpPr>
        <p:spPr>
          <a:xfrm>
            <a:off x="787400" y="4927600"/>
            <a:ext cx="2362200" cy="1041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200">
                <a:solidFill>
                  <a:srgbClr val="F5F5F5"/>
                </a:solidFill>
              </a:rPr>
              <a:t>Owned conversions: consume one type, produce another. Implement From, get Into free.</a:t>
            </a:r>
          </a:p>
        </p:txBody>
      </p:sp>
      <p:sp>
        <p:nvSpPr>
          <p:cNvPr id="65" name="Rectangle 64">
            <a:extLst>
              <a:ext uri="{FF2B5EF4-FFF2-40B4-BE49-F238E27FC236}">
                <a16:creationId xmlns:a16="http://schemas.microsoft.com/office/drawing/2014/main" id="{C99D46B2-81DD-2543-A935-F7ED5EB2B4CA}"/>
              </a:ext>
            </a:extLst>
          </p:cNvPr>
          <p:cNvSpPr/>
          <p:nvPr/>
        </p:nvSpPr>
        <p:spPr>
          <a:xfrm>
            <a:off x="3454400" y="3937000"/>
            <a:ext cx="2667000" cy="2133600"/>
          </a:xfrm>
          <a:prstGeom prst="rect">
            <a:avLst/>
          </a:prstGeom>
          <a:solidFill>
            <a:srgbClr val="1E1E1E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B14C9CB0-D40D-AC40-B28A-B613797795D1}"/>
              </a:ext>
            </a:extLst>
          </p:cNvPr>
          <p:cNvSpPr/>
          <p:nvPr/>
        </p:nvSpPr>
        <p:spPr>
          <a:xfrm>
            <a:off x="3454400" y="3937000"/>
            <a:ext cx="2667000" cy="50800"/>
          </a:xfrm>
          <a:prstGeom prst="rect">
            <a:avLst/>
          </a:prstGeom>
          <a:solidFill>
            <a:srgbClr val="CE422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CEA60475-3B8E-944E-8F2D-64626BF6A3BD}"/>
              </a:ext>
            </a:extLst>
          </p:cNvPr>
          <p:cNvSpPr txBox="1"/>
          <p:nvPr/>
        </p:nvSpPr>
        <p:spPr>
          <a:xfrm>
            <a:off x="3606800" y="4064000"/>
            <a:ext cx="2362200" cy="203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000" b="1">
                <a:solidFill>
                  <a:srgbClr val="CE422B"/>
                </a:solidFill>
              </a:rPr>
              <a:t>CONSTRUCTION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C80ADAE7-1137-D04C-87D3-E86243CB7736}"/>
              </a:ext>
            </a:extLst>
          </p:cNvPr>
          <p:cNvSpPr txBox="1"/>
          <p:nvPr/>
        </p:nvSpPr>
        <p:spPr>
          <a:xfrm>
            <a:off x="3606800" y="4292600"/>
            <a:ext cx="2362200" cy="355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700" b="1">
                <a:solidFill>
                  <a:srgbClr val="A8E6A1"/>
                </a:solidFill>
                <a:latin typeface="Consolas"/>
                <a:cs typeface="Consolas"/>
              </a:rPr>
              <a:t>Default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3D45648D-016A-3D4C-B6C9-05797AD26FAD}"/>
              </a:ext>
            </a:extLst>
          </p:cNvPr>
          <p:cNvSpPr txBox="1"/>
          <p:nvPr/>
        </p:nvSpPr>
        <p:spPr>
          <a:xfrm>
            <a:off x="3606800" y="4648200"/>
            <a:ext cx="23622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100">
                <a:solidFill>
                  <a:srgbClr val="888888"/>
                </a:solidFill>
                <a:latin typeface="Consolas"/>
                <a:cs typeface="Consolas"/>
              </a:rPr>
              <a:t>std::default::Default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245E4B4A-914A-D646-A78B-1FFCE6854050}"/>
              </a:ext>
            </a:extLst>
          </p:cNvPr>
          <p:cNvSpPr txBox="1"/>
          <p:nvPr/>
        </p:nvSpPr>
        <p:spPr>
          <a:xfrm>
            <a:off x="3606800" y="4927600"/>
            <a:ext cx="2362200" cy="1041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200">
                <a:solidFill>
                  <a:srgbClr val="F5F5F5"/>
                </a:solidFill>
              </a:rPr>
              <a:t>Provides T::default() — sensible zero/empty values for any type.</a:t>
            </a:r>
          </a:p>
        </p:txBody>
      </p:sp>
      <p:sp>
        <p:nvSpPr>
          <p:cNvPr id="71" name="Rectangle 70">
            <a:extLst>
              <a:ext uri="{FF2B5EF4-FFF2-40B4-BE49-F238E27FC236}">
                <a16:creationId xmlns:a16="http://schemas.microsoft.com/office/drawing/2014/main" id="{AC8720BC-1D98-B645-A8BB-ED3249ED62AF}"/>
              </a:ext>
            </a:extLst>
          </p:cNvPr>
          <p:cNvSpPr/>
          <p:nvPr/>
        </p:nvSpPr>
        <p:spPr>
          <a:xfrm>
            <a:off x="6273800" y="3937000"/>
            <a:ext cx="2667000" cy="2133600"/>
          </a:xfrm>
          <a:prstGeom prst="rect">
            <a:avLst/>
          </a:prstGeom>
          <a:solidFill>
            <a:srgbClr val="1E1E1E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72" name="Rectangle 71">
            <a:extLst>
              <a:ext uri="{FF2B5EF4-FFF2-40B4-BE49-F238E27FC236}">
                <a16:creationId xmlns:a16="http://schemas.microsoft.com/office/drawing/2014/main" id="{1F01FA95-E448-904B-A8FD-E9D84695D4F5}"/>
              </a:ext>
            </a:extLst>
          </p:cNvPr>
          <p:cNvSpPr/>
          <p:nvPr/>
        </p:nvSpPr>
        <p:spPr>
          <a:xfrm>
            <a:off x="6273800" y="3937000"/>
            <a:ext cx="2667000" cy="50800"/>
          </a:xfrm>
          <a:prstGeom prst="rect">
            <a:avLst/>
          </a:prstGeom>
          <a:solidFill>
            <a:srgbClr val="CE422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EA6A3F95-87F3-904D-92DF-5E3B9F319255}"/>
              </a:ext>
            </a:extLst>
          </p:cNvPr>
          <p:cNvSpPr txBox="1"/>
          <p:nvPr/>
        </p:nvSpPr>
        <p:spPr>
          <a:xfrm>
            <a:off x="6426200" y="4064000"/>
            <a:ext cx="2362200" cy="203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000" b="1">
                <a:solidFill>
                  <a:srgbClr val="CE422B"/>
                </a:solidFill>
              </a:rPr>
              <a:t>DUPLICATION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A4C0A869-3266-5246-BDF0-40C9D864B511}"/>
              </a:ext>
            </a:extLst>
          </p:cNvPr>
          <p:cNvSpPr txBox="1"/>
          <p:nvPr/>
        </p:nvSpPr>
        <p:spPr>
          <a:xfrm>
            <a:off x="6426200" y="4292600"/>
            <a:ext cx="2362200" cy="355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700" b="1">
                <a:solidFill>
                  <a:srgbClr val="A8E6A1"/>
                </a:solidFill>
                <a:latin typeface="Consolas"/>
                <a:cs typeface="Consolas"/>
              </a:rPr>
              <a:t>Clone / Copy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977FB42A-F510-EA41-BDCD-C0DCA686CA32}"/>
              </a:ext>
            </a:extLst>
          </p:cNvPr>
          <p:cNvSpPr txBox="1"/>
          <p:nvPr/>
        </p:nvSpPr>
        <p:spPr>
          <a:xfrm>
            <a:off x="6426200" y="4648200"/>
            <a:ext cx="23622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100">
                <a:solidFill>
                  <a:srgbClr val="888888"/>
                </a:solidFill>
                <a:latin typeface="Consolas"/>
                <a:cs typeface="Consolas"/>
              </a:rPr>
              <a:t>std::clone::Clone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3EF36A8B-0CDB-A243-8F33-6E8854D9F23D}"/>
              </a:ext>
            </a:extLst>
          </p:cNvPr>
          <p:cNvSpPr txBox="1"/>
          <p:nvPr/>
        </p:nvSpPr>
        <p:spPr>
          <a:xfrm>
            <a:off x="6426200" y="4927600"/>
            <a:ext cx="2362200" cy="1041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200">
                <a:solidFill>
                  <a:srgbClr val="F5F5F5"/>
                </a:solidFill>
              </a:rPr>
              <a:t>Clone = explicit deep copy. Copy = implicit bitwise copy for trivial types.</a:t>
            </a:r>
          </a:p>
        </p:txBody>
      </p:sp>
      <p:sp>
        <p:nvSpPr>
          <p:cNvPr id="77" name="Rectangle 76">
            <a:extLst>
              <a:ext uri="{FF2B5EF4-FFF2-40B4-BE49-F238E27FC236}">
                <a16:creationId xmlns:a16="http://schemas.microsoft.com/office/drawing/2014/main" id="{E0E2C867-3E80-1644-89BA-1106F262C2B5}"/>
              </a:ext>
            </a:extLst>
          </p:cNvPr>
          <p:cNvSpPr/>
          <p:nvPr/>
        </p:nvSpPr>
        <p:spPr>
          <a:xfrm>
            <a:off x="9093200" y="3937000"/>
            <a:ext cx="2667000" cy="2133600"/>
          </a:xfrm>
          <a:prstGeom prst="rect">
            <a:avLst/>
          </a:prstGeom>
          <a:solidFill>
            <a:srgbClr val="1E1E1E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78" name="Rectangle 77">
            <a:extLst>
              <a:ext uri="{FF2B5EF4-FFF2-40B4-BE49-F238E27FC236}">
                <a16:creationId xmlns:a16="http://schemas.microsoft.com/office/drawing/2014/main" id="{69C64705-6FB6-4942-85F5-8D6804E5C0B5}"/>
              </a:ext>
            </a:extLst>
          </p:cNvPr>
          <p:cNvSpPr/>
          <p:nvPr/>
        </p:nvSpPr>
        <p:spPr>
          <a:xfrm>
            <a:off x="9093200" y="3937000"/>
            <a:ext cx="2667000" cy="50800"/>
          </a:xfrm>
          <a:prstGeom prst="rect">
            <a:avLst/>
          </a:prstGeom>
          <a:solidFill>
            <a:srgbClr val="F57C00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D50D4AEE-2F1D-D140-ADD3-1A3E4F4613B3}"/>
              </a:ext>
            </a:extLst>
          </p:cNvPr>
          <p:cNvSpPr txBox="1"/>
          <p:nvPr/>
        </p:nvSpPr>
        <p:spPr>
          <a:xfrm>
            <a:off x="9245600" y="4064000"/>
            <a:ext cx="2362200" cy="203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000" b="1">
                <a:solidFill>
                  <a:srgbClr val="F57C00"/>
                </a:solidFill>
              </a:rPr>
              <a:t>FORMATTING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0B1CFD7C-E1D9-0F48-8038-0FF9F46E18F4}"/>
              </a:ext>
            </a:extLst>
          </p:cNvPr>
          <p:cNvSpPr txBox="1"/>
          <p:nvPr/>
        </p:nvSpPr>
        <p:spPr>
          <a:xfrm>
            <a:off x="9245600" y="4292600"/>
            <a:ext cx="2362200" cy="355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700" b="1">
                <a:solidFill>
                  <a:srgbClr val="A8E6A1"/>
                </a:solidFill>
                <a:latin typeface="Consolas"/>
                <a:cs typeface="Consolas"/>
              </a:rPr>
              <a:t>Debug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C4D73B12-8172-BA47-9498-2FB58CA9F38C}"/>
              </a:ext>
            </a:extLst>
          </p:cNvPr>
          <p:cNvSpPr txBox="1"/>
          <p:nvPr/>
        </p:nvSpPr>
        <p:spPr>
          <a:xfrm>
            <a:off x="9245600" y="4648200"/>
            <a:ext cx="23622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100">
                <a:solidFill>
                  <a:srgbClr val="888888"/>
                </a:solidFill>
                <a:latin typeface="Consolas"/>
                <a:cs typeface="Consolas"/>
              </a:rPr>
              <a:t>std::fmt::Debug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26E8EB3E-253C-A64D-B433-1AB96DDBD5CD}"/>
              </a:ext>
            </a:extLst>
          </p:cNvPr>
          <p:cNvSpPr txBox="1"/>
          <p:nvPr/>
        </p:nvSpPr>
        <p:spPr>
          <a:xfrm>
            <a:off x="9245600" y="4927600"/>
            <a:ext cx="2362200" cy="1041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200">
                <a:solidFill>
                  <a:srgbClr val="F5F5F5"/>
                </a:solidFill>
              </a:rPr>
              <a:t>Programmer-facing formatter for {:?} — auto-derivable with #[derive(Debug)].</a:t>
            </a:r>
          </a:p>
        </p:txBody>
      </p:sp>
    </p:spTree>
    <p:extLst>
      <p:ext uri="{BB962C8B-B14F-4D97-AF65-F5344CB8AC3E}">
        <p14:creationId xmlns:p14="http://schemas.microsoft.com/office/powerpoint/2010/main" val="119597173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B12FE20E-4D6D-4446-A452-E0D1C89DC947}"/>
              </a:ext>
            </a:extLst>
          </p:cNvPr>
          <p:cNvSpPr txBox="1"/>
          <p:nvPr/>
        </p:nvSpPr>
        <p:spPr>
          <a:xfrm>
            <a:off x="838200" y="317500"/>
            <a:ext cx="10515600" cy="558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3000" b="1">
                <a:solidFill>
                  <a:srgbClr val="1E1E1E"/>
                </a:solidFill>
              </a:rPr>
              <a:t>Utility Traits — In Practice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66EBE02-9649-CB43-A564-57F082F1200A}"/>
              </a:ext>
            </a:extLst>
          </p:cNvPr>
          <p:cNvSpPr/>
          <p:nvPr/>
        </p:nvSpPr>
        <p:spPr>
          <a:xfrm>
            <a:off x="838200" y="914400"/>
            <a:ext cx="762000" cy="50800"/>
          </a:xfrm>
          <a:prstGeom prst="rect">
            <a:avLst/>
          </a:prstGeom>
          <a:solidFill>
            <a:srgbClr val="CE422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65D3BFB-A480-BB43-BA99-B24E2DF2381C}"/>
              </a:ext>
            </a:extLst>
          </p:cNvPr>
          <p:cNvSpPr txBox="1"/>
          <p:nvPr/>
        </p:nvSpPr>
        <p:spPr>
          <a:xfrm>
            <a:off x="838200" y="1066800"/>
            <a:ext cx="105156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300" i="1">
                <a:solidFill>
                  <a:srgbClr val="666666"/>
                </a:solidFill>
              </a:rPr>
              <a:t>Each trait shown with a minimal, idiomatic example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5EB6D8E-71A3-4E46-B541-1AA7521BA48E}"/>
              </a:ext>
            </a:extLst>
          </p:cNvPr>
          <p:cNvSpPr/>
          <p:nvPr/>
        </p:nvSpPr>
        <p:spPr>
          <a:xfrm>
            <a:off x="635000" y="1498600"/>
            <a:ext cx="5461000" cy="330200"/>
          </a:xfrm>
          <a:prstGeom prst="rect">
            <a:avLst/>
          </a:prstGeom>
          <a:solidFill>
            <a:srgbClr val="8E44AD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300" b="1">
                <a:solidFill>
                  <a:srgbClr val="FFFFFF"/>
                </a:solidFill>
                <a:latin typeface="Consolas"/>
                <a:cs typeface="Consolas"/>
              </a:rPr>
              <a:t>Drop  ·  Default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876D94C-F500-E94C-A6F0-D655906DE253}"/>
              </a:ext>
            </a:extLst>
          </p:cNvPr>
          <p:cNvSpPr/>
          <p:nvPr/>
        </p:nvSpPr>
        <p:spPr>
          <a:xfrm>
            <a:off x="635000" y="1828800"/>
            <a:ext cx="5461000" cy="2146300"/>
          </a:xfrm>
          <a:prstGeom prst="rect">
            <a:avLst/>
          </a:prstGeom>
          <a:solidFill>
            <a:srgbClr val="1E1E1E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07F3C01-1FC1-714B-86CB-EE9F6228EA15}"/>
              </a:ext>
            </a:extLst>
          </p:cNvPr>
          <p:cNvSpPr txBox="1"/>
          <p:nvPr/>
        </p:nvSpPr>
        <p:spPr>
          <a:xfrm>
            <a:off x="787400" y="1905000"/>
            <a:ext cx="5156200" cy="20701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200">
                <a:solidFill>
                  <a:srgbClr val="F5F5F5"/>
                </a:solidFill>
                <a:latin typeface="Consolas"/>
                <a:cs typeface="Consolas"/>
              </a:rPr>
              <a:t>// Drop — runs when value leaves scope
struct File { path: String }
impl Drop for File {
    fn drop(&amp;mut self) {
        println!("closing {}", self.path);
    }
}
// Default — sensible zero values
#[derive(Default)]
struct Config { retries: u32, debug: bool }
let cfg = Config::default();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A0CB4C5-326E-AF44-B339-297641A99802}"/>
              </a:ext>
            </a:extLst>
          </p:cNvPr>
          <p:cNvSpPr/>
          <p:nvPr/>
        </p:nvSpPr>
        <p:spPr>
          <a:xfrm>
            <a:off x="6223000" y="1498600"/>
            <a:ext cx="5461000" cy="330200"/>
          </a:xfrm>
          <a:prstGeom prst="rect">
            <a:avLst/>
          </a:prstGeom>
          <a:solidFill>
            <a:srgbClr val="00695C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300" b="1">
                <a:solidFill>
                  <a:srgbClr val="FFFFFF"/>
                </a:solidFill>
                <a:latin typeface="Consolas"/>
                <a:cs typeface="Consolas"/>
              </a:rPr>
              <a:t>From  ·  Into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440887F-BAD0-D54E-A771-9F703329E3D0}"/>
              </a:ext>
            </a:extLst>
          </p:cNvPr>
          <p:cNvSpPr/>
          <p:nvPr/>
        </p:nvSpPr>
        <p:spPr>
          <a:xfrm>
            <a:off x="6223000" y="1828800"/>
            <a:ext cx="5461000" cy="2146300"/>
          </a:xfrm>
          <a:prstGeom prst="rect">
            <a:avLst/>
          </a:prstGeom>
          <a:solidFill>
            <a:srgbClr val="1E1E1E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7D64B5B-10EF-3F40-973E-A70AFDA6738D}"/>
              </a:ext>
            </a:extLst>
          </p:cNvPr>
          <p:cNvSpPr txBox="1"/>
          <p:nvPr/>
        </p:nvSpPr>
        <p:spPr>
          <a:xfrm>
            <a:off x="6375400" y="1905000"/>
            <a:ext cx="5156200" cy="20701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200">
                <a:solidFill>
                  <a:srgbClr val="F5F5F5"/>
                </a:solidFill>
                <a:latin typeface="Consolas"/>
                <a:cs typeface="Consolas"/>
              </a:rPr>
              <a:t>struct Celsius(f64);
struct Fahrenheit(f64);
impl From&lt;Celsius&gt; for Fahrenheit {
    fn from(c: Celsius) -&gt; Self {
        Fahrenheit(c.0 * 9.0/5.0 + 32.0)
    }
}
let f: Fahrenheit = Celsius(20.0).into();
let f = Fahrenheit::from(Celsius(20.0));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393A6420-02BF-9640-AB71-AD963CD816E1}"/>
              </a:ext>
            </a:extLst>
          </p:cNvPr>
          <p:cNvSpPr/>
          <p:nvPr/>
        </p:nvSpPr>
        <p:spPr>
          <a:xfrm>
            <a:off x="635000" y="4089400"/>
            <a:ext cx="5461000" cy="330200"/>
          </a:xfrm>
          <a:prstGeom prst="rect">
            <a:avLst/>
          </a:prstGeom>
          <a:solidFill>
            <a:srgbClr val="1976D2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300" b="1">
                <a:solidFill>
                  <a:srgbClr val="FFFFFF"/>
                </a:solidFill>
                <a:latin typeface="Consolas"/>
                <a:cs typeface="Consolas"/>
              </a:rPr>
              <a:t>AsRef  ·  Deref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D21FBD2-9FB1-414D-906F-E0CB069AE0B8}"/>
              </a:ext>
            </a:extLst>
          </p:cNvPr>
          <p:cNvSpPr/>
          <p:nvPr/>
        </p:nvSpPr>
        <p:spPr>
          <a:xfrm>
            <a:off x="635000" y="4419600"/>
            <a:ext cx="5461000" cy="2146300"/>
          </a:xfrm>
          <a:prstGeom prst="rect">
            <a:avLst/>
          </a:prstGeom>
          <a:solidFill>
            <a:srgbClr val="1E1E1E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5C098F6-3E13-8C44-955F-36EDD55BD695}"/>
              </a:ext>
            </a:extLst>
          </p:cNvPr>
          <p:cNvSpPr txBox="1"/>
          <p:nvPr/>
        </p:nvSpPr>
        <p:spPr>
          <a:xfrm>
            <a:off x="787400" y="4495800"/>
            <a:ext cx="5156200" cy="20701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200">
                <a:solidFill>
                  <a:srgbClr val="F5F5F5"/>
                </a:solidFill>
                <a:latin typeface="Consolas"/>
                <a:cs typeface="Consolas"/>
              </a:rPr>
              <a:t>// AsRef — accept &amp;str OR String OR PathBuf
fn open&lt;P: AsRef&lt;Path&gt;&gt;(p: P) {
    let path: &amp;Path = p.as_ref();
}
open("a.txt");  open(String::from("b.txt"));
// Deref — make MyBox act like &amp;T
struct MyBox&lt;T&gt;(T);
impl&lt;T&gt; Deref for MyBox&lt;T&gt; {
    type Target = T;
    fn deref(&amp;self) -&gt; &amp;T { &amp;self.0 }
}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2C71788A-6BDD-BD43-ACDD-46DC1368D59F}"/>
              </a:ext>
            </a:extLst>
          </p:cNvPr>
          <p:cNvSpPr/>
          <p:nvPr/>
        </p:nvSpPr>
        <p:spPr>
          <a:xfrm>
            <a:off x="6223000" y="4089400"/>
            <a:ext cx="5461000" cy="330200"/>
          </a:xfrm>
          <a:prstGeom prst="rect">
            <a:avLst/>
          </a:prstGeom>
          <a:solidFill>
            <a:srgbClr val="CE422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300" b="1">
                <a:solidFill>
                  <a:srgbClr val="FFFFFF"/>
                </a:solidFill>
                <a:latin typeface="Consolas"/>
                <a:cs typeface="Consolas"/>
              </a:rPr>
              <a:t>Clone  ·  Copy  ·  Debug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42920B0F-813B-7D43-A42A-72B8181E0DC0}"/>
              </a:ext>
            </a:extLst>
          </p:cNvPr>
          <p:cNvSpPr/>
          <p:nvPr/>
        </p:nvSpPr>
        <p:spPr>
          <a:xfrm>
            <a:off x="6223000" y="4419600"/>
            <a:ext cx="5461000" cy="2146300"/>
          </a:xfrm>
          <a:prstGeom prst="rect">
            <a:avLst/>
          </a:prstGeom>
          <a:solidFill>
            <a:srgbClr val="1E1E1E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6708772-C16C-4542-9835-2BA841117537}"/>
              </a:ext>
            </a:extLst>
          </p:cNvPr>
          <p:cNvSpPr txBox="1"/>
          <p:nvPr/>
        </p:nvSpPr>
        <p:spPr>
          <a:xfrm>
            <a:off x="6375400" y="4495800"/>
            <a:ext cx="5156200" cy="20701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200">
                <a:solidFill>
                  <a:srgbClr val="F5F5F5"/>
                </a:solidFill>
                <a:latin typeface="Consolas"/>
                <a:cs typeface="Consolas"/>
              </a:rPr>
              <a:t>#[derive(Debug, Clone, Copy)]
struct Point { x: i32, y: i32 }
let p = Point { x: 1, y: 2 };
let q = p;          // Copy: implicit, p still valid
let r = p.clone();  // Clone: explicit duplicate
println!("{:?}", p);  // Debug → Point { x: 1, y: 2 }
// Sized is implicit on every generic T
// unless you write T: ?Sized</a:t>
            </a:r>
          </a:p>
        </p:txBody>
      </p:sp>
    </p:spTree>
    <p:extLst>
      <p:ext uri="{BB962C8B-B14F-4D97-AF65-F5344CB8AC3E}">
        <p14:creationId xmlns:p14="http://schemas.microsoft.com/office/powerpoint/2010/main" val="304640927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F271761D-5C5F-8B43-B125-666DFAF263CC}">
  <we:reference id="WA200010001" version="1.0.0.1" store="Omex" storeType="OMEX"/>
  <we:alternateReferences>
    <we:reference id="WA200010001" version="1.0.0.1" store="WA200010001" storeType="OMEX"/>
  </we:alternateReferences>
  <we:properties>
    <we:property name="claude.fileId" value="&quot;d60ebce2-3124-49ef-b581-241f7e537618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8749</TotalTime>
  <Words>3389</Words>
  <Application>Microsoft Macintosh PowerPoint</Application>
  <PresentationFormat>Widescreen</PresentationFormat>
  <Paragraphs>292</Paragraphs>
  <Slides>14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9" baseType="lpstr">
      <vt:lpstr>Aptos</vt:lpstr>
      <vt:lpstr>Aptos Display</vt:lpstr>
      <vt:lpstr>Arial</vt:lpstr>
      <vt:lpstr>Consolas</vt:lpstr>
      <vt:lpstr>Office Theme</vt:lpstr>
      <vt:lpstr>PowerPoint Presentation</vt:lpstr>
      <vt:lpstr>PowerPoint Presentation</vt:lpstr>
      <vt:lpstr>Hello, World! — Cargo, Compilation &amp; Syntax</vt:lpstr>
      <vt:lpstr>PowerPoint Presentation</vt:lpstr>
      <vt:lpstr>Rust Ownership: Move, Borrow, Mutable Borrow</vt:lpstr>
      <vt:lpstr>Lifetime of references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Rahim AHMADOV</dc:creator>
  <cp:lastModifiedBy>Rahim AHMADOV</cp:lastModifiedBy>
  <cp:revision>10</cp:revision>
  <dcterms:created xsi:type="dcterms:W3CDTF">2026-04-28T17:41:06Z</dcterms:created>
  <dcterms:modified xsi:type="dcterms:W3CDTF">2026-05-05T20:25:35Z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caaf4973-c537-4152-b5ae-4c85692069c8_Enabled">
    <vt:lpwstr>true</vt:lpwstr>
  </property>
  <property fmtid="{D5CDD505-2E9C-101B-9397-08002B2CF9AE}" pid="3" name="MSIP_Label_caaf4973-c537-4152-b5ae-4c85692069c8_SetDate">
    <vt:lpwstr>2026-04-29T18:35:55Z</vt:lpwstr>
  </property>
  <property fmtid="{D5CDD505-2E9C-101B-9397-08002B2CF9AE}" pid="4" name="MSIP_Label_caaf4973-c537-4152-b5ae-4c85692069c8_Method">
    <vt:lpwstr>Standard</vt:lpwstr>
  </property>
  <property fmtid="{D5CDD505-2E9C-101B-9397-08002B2CF9AE}" pid="5" name="MSIP_Label_caaf4973-c537-4152-b5ae-4c85692069c8_Name">
    <vt:lpwstr>Internal-Use</vt:lpwstr>
  </property>
  <property fmtid="{D5CDD505-2E9C-101B-9397-08002B2CF9AE}" pid="6" name="MSIP_Label_caaf4973-c537-4152-b5ae-4c85692069c8_SiteId">
    <vt:lpwstr>eb9ce242-ddc8-46b4-8167-93551652f4b8</vt:lpwstr>
  </property>
  <property fmtid="{D5CDD505-2E9C-101B-9397-08002B2CF9AE}" pid="7" name="MSIP_Label_caaf4973-c537-4152-b5ae-4c85692069c8_ActionId">
    <vt:lpwstr>792aaabf-b2f8-43ec-98bb-06bee020eac5</vt:lpwstr>
  </property>
  <property fmtid="{D5CDD505-2E9C-101B-9397-08002B2CF9AE}" pid="8" name="MSIP_Label_caaf4973-c537-4152-b5ae-4c85692069c8_ContentBits">
    <vt:lpwstr>2</vt:lpwstr>
  </property>
  <property fmtid="{D5CDD505-2E9C-101B-9397-08002B2CF9AE}" pid="9" name="MSIP_Label_caaf4973-c537-4152-b5ae-4c85692069c8_Tag">
    <vt:lpwstr>50, 3, 0, 1</vt:lpwstr>
  </property>
  <property fmtid="{D5CDD505-2E9C-101B-9397-08002B2CF9AE}" pid="10" name="ClassificationContentMarkingFooterLocations">
    <vt:lpwstr>Office Theme:8</vt:lpwstr>
  </property>
  <property fmtid="{D5CDD505-2E9C-101B-9397-08002B2CF9AE}" pid="11" name="ClassificationContentMarkingFooterText">
    <vt:lpwstr>Daxili İstifadə - Internal Use</vt:lpwstr>
  </property>
</Properties>
</file>